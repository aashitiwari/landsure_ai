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6" autoAdjust="0"/>
    <p:restoredTop sz="94610"/>
  </p:normalViewPr>
  <p:slideViewPr>
    <p:cSldViewPr snapToGrid="0" snapToObjects="1">
      <p:cViewPr>
        <p:scale>
          <a:sx n="79" d="100"/>
          <a:sy n="79" d="100"/>
        </p:scale>
        <p:origin x="29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1867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the proposed product vision. Emphasize that the dashboard is a pre-build mockup, not a claim that the system is already implemented.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pain point first. The assistant is meant to reduce time-to-information and improve trust, not simply add another chatbot.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functional scope of the proposed system. Clarify that the first version can be built with PDFs and a limited user/permission model, then expanded.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employee journey. The same product can serve different departments, but the first user story should be simple: an employee asks a question and gets a sourced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visual slide. Walk through it from left to right: recent conversations → ask question → answer → verify sources → see only authorized knowledge. Make clear that this is a proposed wireframe.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RAG explanation simple: retrieval happens before generation. This separation is important for enterprise grounding, updating knowledge, and citations.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document processing happens before the employee asks questions. The stored embeddings/index are the searchable knowledge base.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security flow to show that permissions are applied before answer generation. Mention citations as a trust feature, not a guarantee of correctness.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stack as a proposal, not a locked decision. The exact embedding model, vector database, LLM and frontend can be finalized after a quick feasibility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market. Similar products exist. Our value is to implement a transparent end-to-end prototype, evaluate it, and demonstrate enterprise controls within a college project scope.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concept to the college schedule. Week 2 produces the literature survey; Week 6 is where the core RAG loop should be working; Week 7 integrates security and tests; Week 8 prepares the final demo.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product story, not the technology list. The guide should be able to picture the final experience and understand the build sequence.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0F172A"/>
          </a:solidFill>
          <a:ln w="12700">
            <a:solidFill>
              <a:srgbClr val="0F172A"/>
            </a:solidFill>
            <a:prstDash val="solid"/>
          </a:ln>
        </p:spPr>
      </p:sp>
      <p:sp>
        <p:nvSpPr>
          <p:cNvPr id="3" name="Text 1"/>
          <p:cNvSpPr/>
          <p:nvPr/>
        </p:nvSpPr>
        <p:spPr>
          <a:xfrm>
            <a:off x="411480" y="6606540"/>
            <a:ext cx="5760720" cy="137160"/>
          </a:xfrm>
          <a:prstGeom prst="rect">
            <a:avLst/>
          </a:prstGeom>
          <a:noFill/>
          <a:ln/>
        </p:spPr>
        <p:txBody>
          <a:bodyPr wrap="square" lIns="0" tIns="0" rIns="0" bIns="0" rtlCol="0" anchor="ctr"/>
          <a:lstStyle/>
          <a:p>
            <a:pPr marL="0" indent="0">
              <a:buNone/>
            </a:pPr>
            <a:r>
              <a:rPr lang="en-US" sz="750" dirty="0">
                <a:solidFill>
                  <a:srgbClr val="E2E8F0"/>
                </a:solidFill>
                <a:latin typeface="Aptos" pitchFamily="34" charset="0"/>
                <a:ea typeface="Aptos" pitchFamily="34" charset="-122"/>
                <a:cs typeface="Aptos" pitchFamily="34" charset="-120"/>
              </a:rPr>
              <a:t>AI Enterprise Knowledge Assistant  •  Project Proposal</a:t>
            </a:r>
            <a:endParaRPr lang="en-US" sz="750" dirty="0"/>
          </a:p>
        </p:txBody>
      </p:sp>
      <p:sp>
        <p:nvSpPr>
          <p:cNvPr id="25"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proceedings.mlr.press/v119/guu20a.html" TargetMode="External"/><Relationship Id="rId2" Type="http://schemas.openxmlformats.org/officeDocument/2006/relationships/hyperlink" Target="https://arxiv.org/abs/2005.11401"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aclanthology.org/2024.tacl-1.9/" TargetMode="External"/><Relationship Id="rId2" Type="http://schemas.openxmlformats.org/officeDocument/2006/relationships/hyperlink" Target="https://arxiv.org/abs/2312.10997"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arxiv.org/abs/2401.15884" TargetMode="External"/><Relationship Id="rId2" Type="http://schemas.openxmlformats.org/officeDocument/2006/relationships/hyperlink" Target="https://arxiv.org/abs/2310.11511"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hyperlink" Target="https://aclanthology.org/2024.eacl-demo.16/"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docs.aws.amazon.com/amazonq/latest/qbusiness-ug/source-attribution-citations.html" TargetMode="External"/><Relationship Id="rId2" Type="http://schemas.openxmlformats.org/officeDocument/2006/relationships/hyperlink" Target="https://www.glean.com/enterprise-search" TargetMode="External"/><Relationship Id="rId1" Type="http://schemas.openxmlformats.org/officeDocument/2006/relationships/slideLayout" Target="../slideLayouts/slideLayout1.xml"/><Relationship Id="rId4" Type="http://schemas.openxmlformats.org/officeDocument/2006/relationships/hyperlink" Target="https://support.atlassian.com/rovo/docs/search/"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hyperlink" Target="https://aclanthology.org/2024.eacl-demo.16/" TargetMode="External"/><Relationship Id="rId3" Type="http://schemas.openxmlformats.org/officeDocument/2006/relationships/hyperlink" Target="https://proceedings.mlr.press/v119/guu20a.html" TargetMode="External"/><Relationship Id="rId7" Type="http://schemas.openxmlformats.org/officeDocument/2006/relationships/hyperlink" Target="https://arxiv.org/abs/2401.15884" TargetMode="External"/><Relationship Id="rId2" Type="http://schemas.openxmlformats.org/officeDocument/2006/relationships/hyperlink" Target="https://arxiv.org/abs/2005.11401" TargetMode="External"/><Relationship Id="rId1" Type="http://schemas.openxmlformats.org/officeDocument/2006/relationships/slideLayout" Target="../slideLayouts/slideLayout1.xml"/><Relationship Id="rId6" Type="http://schemas.openxmlformats.org/officeDocument/2006/relationships/hyperlink" Target="https://arxiv.org/abs/2310.11511" TargetMode="External"/><Relationship Id="rId11" Type="http://schemas.openxmlformats.org/officeDocument/2006/relationships/hyperlink" Target="https://support.atlassian.com/rovo/docs/search/" TargetMode="External"/><Relationship Id="rId5" Type="http://schemas.openxmlformats.org/officeDocument/2006/relationships/hyperlink" Target="https://aclanthology.org/2024.tacl-1.9/" TargetMode="External"/><Relationship Id="rId10" Type="http://schemas.openxmlformats.org/officeDocument/2006/relationships/hyperlink" Target="https://docs.aws.amazon.com/amazonq/latest/qbusiness-ug/source-attribution-citations.html" TargetMode="External"/><Relationship Id="rId4" Type="http://schemas.openxmlformats.org/officeDocument/2006/relationships/hyperlink" Target="https://arxiv.org/abs/2312.10997" TargetMode="External"/><Relationship Id="rId9" Type="http://schemas.openxmlformats.org/officeDocument/2006/relationships/hyperlink" Target="https://www.glean.com/enterprise-sear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66928" y="1005840"/>
            <a:ext cx="5394960" cy="1417320"/>
          </a:xfrm>
          <a:prstGeom prst="rect">
            <a:avLst/>
          </a:prstGeom>
          <a:noFill/>
          <a:ln/>
        </p:spPr>
        <p:txBody>
          <a:bodyPr wrap="square" lIns="0" tIns="0" rIns="0" bIns="0" rtlCol="0" anchor="ctr"/>
          <a:lstStyle/>
          <a:p>
            <a:pPr marL="0" indent="0">
              <a:buNone/>
            </a:pPr>
            <a:r>
              <a:rPr lang="en-US" sz="3100" b="1" dirty="0">
                <a:solidFill>
                  <a:srgbClr val="0F172A"/>
                </a:solidFill>
                <a:latin typeface="Aptos Display" pitchFamily="34" charset="0"/>
                <a:ea typeface="Aptos Display" pitchFamily="34" charset="-122"/>
                <a:cs typeface="Aptos Display" pitchFamily="34" charset="-120"/>
              </a:rPr>
              <a:t>AI Enterprise</a:t>
            </a:r>
            <a:endParaRPr lang="en-US" sz="3100" dirty="0"/>
          </a:p>
          <a:p>
            <a:pPr marL="0" indent="0">
              <a:buNone/>
            </a:pPr>
            <a:r>
              <a:rPr lang="en-US" sz="3100" b="1" dirty="0">
                <a:solidFill>
                  <a:srgbClr val="0F172A"/>
                </a:solidFill>
                <a:latin typeface="Aptos Display" pitchFamily="34" charset="0"/>
                <a:ea typeface="Aptos Display" pitchFamily="34" charset="-122"/>
                <a:cs typeface="Aptos Display" pitchFamily="34" charset="-120"/>
              </a:rPr>
              <a:t>Knowledge Assistant</a:t>
            </a:r>
            <a:endParaRPr lang="en-US" sz="3100" dirty="0"/>
          </a:p>
        </p:txBody>
      </p:sp>
      <p:sp>
        <p:nvSpPr>
          <p:cNvPr id="5" name="Text 3"/>
          <p:cNvSpPr/>
          <p:nvPr/>
        </p:nvSpPr>
        <p:spPr>
          <a:xfrm>
            <a:off x="603504" y="2624328"/>
            <a:ext cx="4983480" cy="822960"/>
          </a:xfrm>
          <a:prstGeom prst="rect">
            <a:avLst/>
          </a:prstGeom>
          <a:noFill/>
          <a:ln/>
        </p:spPr>
        <p:txBody>
          <a:bodyPr wrap="square" lIns="0" tIns="0" rIns="0" bIns="0" rtlCol="0" anchor="ctr"/>
          <a:lstStyle/>
          <a:p>
            <a:pPr marL="0" indent="0">
              <a:buNone/>
            </a:pPr>
            <a:r>
              <a:rPr lang="en-US" sz="1500" dirty="0">
                <a:solidFill>
                  <a:srgbClr val="64748B"/>
                </a:solidFill>
                <a:latin typeface="Aptos" pitchFamily="34" charset="0"/>
                <a:ea typeface="Aptos" pitchFamily="34" charset="-122"/>
                <a:cs typeface="Aptos" pitchFamily="34" charset="-120"/>
              </a:rPr>
              <a:t>A RAG-based assistant that lets authorized employees ask questions about company documents and receive grounded answers with citations.</a:t>
            </a:r>
            <a:endParaRPr lang="en-US" sz="1500" dirty="0"/>
          </a:p>
        </p:txBody>
      </p:sp>
      <p:sp>
        <p:nvSpPr>
          <p:cNvPr id="6" name="Shape 4"/>
          <p:cNvSpPr/>
          <p:nvPr/>
        </p:nvSpPr>
        <p:spPr>
          <a:xfrm>
            <a:off x="603504" y="3685032"/>
            <a:ext cx="658368" cy="301752"/>
          </a:xfrm>
          <a:prstGeom prst="roundRect">
            <a:avLst>
              <a:gd name="adj" fmla="val 48485"/>
            </a:avLst>
          </a:prstGeom>
          <a:solidFill>
            <a:srgbClr val="2563EB"/>
          </a:solidFill>
          <a:ln w="12700">
            <a:solidFill>
              <a:srgbClr val="2563EB"/>
            </a:solidFill>
            <a:prstDash val="solid"/>
          </a:ln>
        </p:spPr>
      </p:sp>
      <p:sp>
        <p:nvSpPr>
          <p:cNvPr id="7" name="Text 5"/>
          <p:cNvSpPr/>
          <p:nvPr/>
        </p:nvSpPr>
        <p:spPr>
          <a:xfrm>
            <a:off x="676656" y="3753612"/>
            <a:ext cx="512064" cy="137160"/>
          </a:xfrm>
          <a:prstGeom prst="rect">
            <a:avLst/>
          </a:prstGeom>
          <a:noFill/>
          <a:ln/>
        </p:spPr>
        <p:txBody>
          <a:bodyPr wrap="square" lIns="0" tIns="0" rIns="0" bIns="0" rtlCol="0" anchor="ctr"/>
          <a:lstStyle/>
          <a:p>
            <a:pPr marL="0" indent="0" algn="ctr">
              <a:buNone/>
            </a:pPr>
            <a:r>
              <a:rPr lang="en-US" sz="850" b="1" dirty="0">
                <a:solidFill>
                  <a:srgbClr val="FFFFFF"/>
                </a:solidFill>
              </a:rPr>
              <a:t>RAG</a:t>
            </a:r>
            <a:endParaRPr lang="en-US" sz="850" dirty="0"/>
          </a:p>
        </p:txBody>
      </p:sp>
      <p:sp>
        <p:nvSpPr>
          <p:cNvPr id="8" name="Shape 6"/>
          <p:cNvSpPr/>
          <p:nvPr/>
        </p:nvSpPr>
        <p:spPr>
          <a:xfrm>
            <a:off x="1353312" y="3685032"/>
            <a:ext cx="1353312" cy="301752"/>
          </a:xfrm>
          <a:prstGeom prst="roundRect">
            <a:avLst>
              <a:gd name="adj" fmla="val 48485"/>
            </a:avLst>
          </a:prstGeom>
          <a:solidFill>
            <a:srgbClr val="E8FBF7"/>
          </a:solidFill>
          <a:ln w="12700">
            <a:solidFill>
              <a:srgbClr val="E8FBF7"/>
            </a:solidFill>
            <a:prstDash val="solid"/>
          </a:ln>
        </p:spPr>
      </p:sp>
      <p:sp>
        <p:nvSpPr>
          <p:cNvPr id="9" name="Text 7"/>
          <p:cNvSpPr/>
          <p:nvPr/>
        </p:nvSpPr>
        <p:spPr>
          <a:xfrm>
            <a:off x="1426464" y="3753612"/>
            <a:ext cx="1207008" cy="137160"/>
          </a:xfrm>
          <a:prstGeom prst="rect">
            <a:avLst/>
          </a:prstGeom>
          <a:noFill/>
          <a:ln/>
        </p:spPr>
        <p:txBody>
          <a:bodyPr wrap="square" lIns="0" tIns="0" rIns="0" bIns="0" rtlCol="0" anchor="ctr"/>
          <a:lstStyle/>
          <a:p>
            <a:pPr marL="0" indent="0" algn="ctr">
              <a:buNone/>
            </a:pPr>
            <a:r>
              <a:rPr lang="en-US" sz="850" b="1" dirty="0">
                <a:solidFill>
                  <a:srgbClr val="0F9D8C"/>
                </a:solidFill>
              </a:rPr>
              <a:t>Semantic Search</a:t>
            </a:r>
            <a:endParaRPr lang="en-US" sz="850" dirty="0"/>
          </a:p>
        </p:txBody>
      </p:sp>
      <p:sp>
        <p:nvSpPr>
          <p:cNvPr id="10" name="Shape 8"/>
          <p:cNvSpPr/>
          <p:nvPr/>
        </p:nvSpPr>
        <p:spPr>
          <a:xfrm>
            <a:off x="2816352" y="3685032"/>
            <a:ext cx="932688" cy="301752"/>
          </a:xfrm>
          <a:prstGeom prst="roundRect">
            <a:avLst>
              <a:gd name="adj" fmla="val 48485"/>
            </a:avLst>
          </a:prstGeom>
          <a:solidFill>
            <a:srgbClr val="FFF5E6"/>
          </a:solidFill>
          <a:ln w="12700">
            <a:solidFill>
              <a:srgbClr val="FFF5E6"/>
            </a:solidFill>
            <a:prstDash val="solid"/>
          </a:ln>
        </p:spPr>
      </p:sp>
      <p:sp>
        <p:nvSpPr>
          <p:cNvPr id="11" name="Text 9"/>
          <p:cNvSpPr/>
          <p:nvPr/>
        </p:nvSpPr>
        <p:spPr>
          <a:xfrm>
            <a:off x="2889504" y="3753612"/>
            <a:ext cx="786384" cy="137160"/>
          </a:xfrm>
          <a:prstGeom prst="rect">
            <a:avLst/>
          </a:prstGeom>
          <a:noFill/>
          <a:ln/>
        </p:spPr>
        <p:txBody>
          <a:bodyPr wrap="square" lIns="0" tIns="0" rIns="0" bIns="0" rtlCol="0" anchor="ctr"/>
          <a:lstStyle/>
          <a:p>
            <a:pPr marL="0" indent="0" algn="ctr">
              <a:buNone/>
            </a:pPr>
            <a:r>
              <a:rPr lang="en-US" sz="850" b="1" dirty="0">
                <a:solidFill>
                  <a:srgbClr val="F59E0B"/>
                </a:solidFill>
              </a:rPr>
              <a:t>Citations</a:t>
            </a:r>
            <a:endParaRPr lang="en-US" sz="850" dirty="0"/>
          </a:p>
        </p:txBody>
      </p:sp>
      <p:sp>
        <p:nvSpPr>
          <p:cNvPr id="12" name="Shape 10"/>
          <p:cNvSpPr/>
          <p:nvPr/>
        </p:nvSpPr>
        <p:spPr>
          <a:xfrm>
            <a:off x="3886200" y="3685032"/>
            <a:ext cx="1170432" cy="301752"/>
          </a:xfrm>
          <a:prstGeom prst="roundRect">
            <a:avLst>
              <a:gd name="adj" fmla="val 48485"/>
            </a:avLst>
          </a:prstGeom>
          <a:solidFill>
            <a:srgbClr val="F2EBFF"/>
          </a:solidFill>
          <a:ln w="12700">
            <a:solidFill>
              <a:srgbClr val="F2EBFF"/>
            </a:solidFill>
            <a:prstDash val="solid"/>
          </a:ln>
        </p:spPr>
      </p:sp>
      <p:sp>
        <p:nvSpPr>
          <p:cNvPr id="13" name="Text 11"/>
          <p:cNvSpPr/>
          <p:nvPr/>
        </p:nvSpPr>
        <p:spPr>
          <a:xfrm>
            <a:off x="3959352" y="3753612"/>
            <a:ext cx="1024128" cy="137160"/>
          </a:xfrm>
          <a:prstGeom prst="rect">
            <a:avLst/>
          </a:prstGeom>
          <a:noFill/>
          <a:ln/>
        </p:spPr>
        <p:txBody>
          <a:bodyPr wrap="square" lIns="0" tIns="0" rIns="0" bIns="0" rtlCol="0" anchor="ctr"/>
          <a:lstStyle/>
          <a:p>
            <a:pPr marL="0" indent="0" algn="ctr">
              <a:buNone/>
            </a:pPr>
            <a:r>
              <a:rPr lang="en-US" sz="850" b="1" dirty="0">
                <a:solidFill>
                  <a:srgbClr val="7C3AED"/>
                </a:solidFill>
              </a:rPr>
              <a:t>Access Control</a:t>
            </a:r>
            <a:endParaRPr lang="en-US" sz="850" dirty="0"/>
          </a:p>
        </p:txBody>
      </p:sp>
      <p:sp>
        <p:nvSpPr>
          <p:cNvPr id="14" name="Text 12"/>
          <p:cNvSpPr/>
          <p:nvPr/>
        </p:nvSpPr>
        <p:spPr>
          <a:xfrm>
            <a:off x="603504" y="4224528"/>
            <a:ext cx="4983480" cy="411480"/>
          </a:xfrm>
          <a:prstGeom prst="rect">
            <a:avLst/>
          </a:prstGeom>
          <a:noFill/>
          <a:ln/>
        </p:spPr>
        <p:txBody>
          <a:bodyPr wrap="square" lIns="0" tIns="0" rIns="0" bIns="0" rtlCol="0" anchor="ctr"/>
          <a:lstStyle/>
          <a:p>
            <a:pPr marL="0" indent="0">
              <a:buNone/>
            </a:pPr>
            <a:r>
              <a:rPr lang="en-US" sz="1050" i="1" dirty="0">
                <a:solidFill>
                  <a:srgbClr val="64748B"/>
                </a:solidFill>
                <a:latin typeface="Aptos" pitchFamily="34" charset="0"/>
                <a:ea typeface="Aptos" pitchFamily="34" charset="-122"/>
                <a:cs typeface="Aptos" pitchFamily="34" charset="-120"/>
              </a:rPr>
              <a:t>Purpose of this deck: explain what we will develop before implementation begins.</a:t>
            </a:r>
            <a:endParaRPr lang="en-US" sz="1050" dirty="0"/>
          </a:p>
        </p:txBody>
      </p:sp>
      <p:sp>
        <p:nvSpPr>
          <p:cNvPr id="15" name="Shape 13"/>
          <p:cNvSpPr/>
          <p:nvPr/>
        </p:nvSpPr>
        <p:spPr>
          <a:xfrm>
            <a:off x="5879592" y="658368"/>
            <a:ext cx="5788152" cy="5257800"/>
          </a:xfrm>
          <a:prstGeom prst="roundRect">
            <a:avLst>
              <a:gd name="adj" fmla="val 3130"/>
            </a:avLst>
          </a:prstGeom>
          <a:solidFill>
            <a:srgbClr val="FFFFFF"/>
          </a:solidFill>
          <a:ln w="12700">
            <a:solidFill>
              <a:srgbClr val="CBD5E1"/>
            </a:solidFill>
            <a:prstDash val="solid"/>
          </a:ln>
        </p:spPr>
      </p:sp>
      <p:sp>
        <p:nvSpPr>
          <p:cNvPr id="16" name="Shape 14"/>
          <p:cNvSpPr/>
          <p:nvPr/>
        </p:nvSpPr>
        <p:spPr>
          <a:xfrm>
            <a:off x="6153912" y="932688"/>
            <a:ext cx="5239512" cy="4782312"/>
          </a:xfrm>
          <a:prstGeom prst="roundRect">
            <a:avLst>
              <a:gd name="adj" fmla="val 2885"/>
            </a:avLst>
          </a:prstGeom>
          <a:solidFill>
            <a:srgbClr val="0B1220"/>
          </a:solidFill>
          <a:ln w="12700">
            <a:solidFill>
              <a:srgbClr val="0B1220"/>
            </a:solidFill>
            <a:prstDash val="solid"/>
          </a:ln>
        </p:spPr>
      </p:sp>
      <p:sp>
        <p:nvSpPr>
          <p:cNvPr id="17" name="Shape 15"/>
          <p:cNvSpPr/>
          <p:nvPr/>
        </p:nvSpPr>
        <p:spPr>
          <a:xfrm>
            <a:off x="6153912" y="932688"/>
            <a:ext cx="5239512" cy="384048"/>
          </a:xfrm>
          <a:prstGeom prst="rect">
            <a:avLst/>
          </a:prstGeom>
          <a:solidFill>
            <a:srgbClr val="172033"/>
          </a:solidFill>
          <a:ln w="12700">
            <a:solidFill>
              <a:srgbClr val="172033"/>
            </a:solidFill>
            <a:prstDash val="solid"/>
          </a:ln>
        </p:spPr>
      </p:sp>
      <p:sp>
        <p:nvSpPr>
          <p:cNvPr id="18" name="Shape 16"/>
          <p:cNvSpPr/>
          <p:nvPr/>
        </p:nvSpPr>
        <p:spPr>
          <a:xfrm>
            <a:off x="6309360" y="1051560"/>
            <a:ext cx="82296" cy="82296"/>
          </a:xfrm>
          <a:prstGeom prst="ellipse">
            <a:avLst/>
          </a:prstGeom>
          <a:solidFill>
            <a:srgbClr val="EF4444"/>
          </a:solidFill>
          <a:ln w="12700">
            <a:solidFill>
              <a:srgbClr val="EF4444"/>
            </a:solidFill>
            <a:prstDash val="solid"/>
          </a:ln>
        </p:spPr>
      </p:sp>
      <p:sp>
        <p:nvSpPr>
          <p:cNvPr id="19" name="Text 17"/>
          <p:cNvSpPr/>
          <p:nvPr/>
        </p:nvSpPr>
        <p:spPr>
          <a:xfrm>
            <a:off x="6318504" y="1078992"/>
            <a:ext cx="64008" cy="27432"/>
          </a:xfrm>
          <a:prstGeom prst="rect">
            <a:avLst/>
          </a:prstGeom>
          <a:noFill/>
          <a:ln/>
        </p:spPr>
        <p:txBody>
          <a:bodyPr wrap="square" lIns="0" tIns="0" rIns="0" bIns="0" rtlCol="0" anchor="ctr"/>
          <a:lstStyle/>
          <a:p>
            <a:pPr marL="0" indent="0" algn="ctr">
              <a:buNone/>
            </a:pPr>
            <a:endParaRPr lang="en-US" sz="1300" dirty="0"/>
          </a:p>
        </p:txBody>
      </p:sp>
      <p:sp>
        <p:nvSpPr>
          <p:cNvPr id="20" name="Shape 18"/>
          <p:cNvSpPr/>
          <p:nvPr/>
        </p:nvSpPr>
        <p:spPr>
          <a:xfrm>
            <a:off x="6437376" y="1051560"/>
            <a:ext cx="82296" cy="82296"/>
          </a:xfrm>
          <a:prstGeom prst="ellipse">
            <a:avLst/>
          </a:prstGeom>
          <a:solidFill>
            <a:srgbClr val="F59E0B"/>
          </a:solidFill>
          <a:ln w="12700">
            <a:solidFill>
              <a:srgbClr val="F59E0B"/>
            </a:solidFill>
            <a:prstDash val="solid"/>
          </a:ln>
        </p:spPr>
      </p:sp>
      <p:sp>
        <p:nvSpPr>
          <p:cNvPr id="21" name="Text 19"/>
          <p:cNvSpPr/>
          <p:nvPr/>
        </p:nvSpPr>
        <p:spPr>
          <a:xfrm>
            <a:off x="6446520" y="1078992"/>
            <a:ext cx="64008" cy="27432"/>
          </a:xfrm>
          <a:prstGeom prst="rect">
            <a:avLst/>
          </a:prstGeom>
          <a:noFill/>
          <a:ln/>
        </p:spPr>
        <p:txBody>
          <a:bodyPr wrap="square" lIns="0" tIns="0" rIns="0" bIns="0" rtlCol="0" anchor="ctr"/>
          <a:lstStyle/>
          <a:p>
            <a:pPr marL="0" indent="0" algn="ctr">
              <a:buNone/>
            </a:pPr>
            <a:endParaRPr lang="en-US" sz="1300" dirty="0"/>
          </a:p>
        </p:txBody>
      </p:sp>
      <p:sp>
        <p:nvSpPr>
          <p:cNvPr id="22" name="Shape 20"/>
          <p:cNvSpPr/>
          <p:nvPr/>
        </p:nvSpPr>
        <p:spPr>
          <a:xfrm>
            <a:off x="6565392" y="1051560"/>
            <a:ext cx="82296" cy="82296"/>
          </a:xfrm>
          <a:prstGeom prst="ellipse">
            <a:avLst/>
          </a:prstGeom>
          <a:solidFill>
            <a:srgbClr val="22C55E"/>
          </a:solidFill>
          <a:ln w="12700">
            <a:solidFill>
              <a:srgbClr val="22C55E"/>
            </a:solidFill>
            <a:prstDash val="solid"/>
          </a:ln>
        </p:spPr>
      </p:sp>
      <p:sp>
        <p:nvSpPr>
          <p:cNvPr id="23" name="Text 21"/>
          <p:cNvSpPr/>
          <p:nvPr/>
        </p:nvSpPr>
        <p:spPr>
          <a:xfrm>
            <a:off x="6574536" y="1078992"/>
            <a:ext cx="64008" cy="27432"/>
          </a:xfrm>
          <a:prstGeom prst="rect">
            <a:avLst/>
          </a:prstGeom>
          <a:noFill/>
          <a:ln/>
        </p:spPr>
        <p:txBody>
          <a:bodyPr wrap="square" lIns="0" tIns="0" rIns="0" bIns="0" rtlCol="0" anchor="ctr"/>
          <a:lstStyle/>
          <a:p>
            <a:pPr marL="0" indent="0" algn="ctr">
              <a:buNone/>
            </a:pPr>
            <a:endParaRPr lang="en-US" sz="1300" dirty="0"/>
          </a:p>
        </p:txBody>
      </p:sp>
      <p:sp>
        <p:nvSpPr>
          <p:cNvPr id="24" name="Text 22"/>
          <p:cNvSpPr/>
          <p:nvPr/>
        </p:nvSpPr>
        <p:spPr>
          <a:xfrm>
            <a:off x="6903720" y="1033272"/>
            <a:ext cx="2377440" cy="137160"/>
          </a:xfrm>
          <a:prstGeom prst="rect">
            <a:avLst/>
          </a:prstGeom>
          <a:noFill/>
          <a:ln/>
        </p:spPr>
        <p:txBody>
          <a:bodyPr wrap="square" lIns="0" tIns="0" rIns="0" bIns="0" rtlCol="0" anchor="ctr"/>
          <a:lstStyle/>
          <a:p>
            <a:pPr marL="0" indent="0">
              <a:buNone/>
            </a:pPr>
            <a:r>
              <a:rPr lang="en-US" sz="780" dirty="0">
                <a:solidFill>
                  <a:srgbClr val="CBD5E1"/>
                </a:solidFill>
                <a:latin typeface="Aptos" pitchFamily="34" charset="0"/>
                <a:ea typeface="Aptos" pitchFamily="34" charset="-122"/>
                <a:cs typeface="Aptos" pitchFamily="34" charset="-120"/>
              </a:rPr>
              <a:t>knowledge.company.local</a:t>
            </a:r>
            <a:endParaRPr lang="en-US" sz="780" dirty="0"/>
          </a:p>
        </p:txBody>
      </p:sp>
      <p:sp>
        <p:nvSpPr>
          <p:cNvPr id="25" name="Shape 23"/>
          <p:cNvSpPr/>
          <p:nvPr/>
        </p:nvSpPr>
        <p:spPr>
          <a:xfrm>
            <a:off x="6153912" y="1316736"/>
            <a:ext cx="1389888" cy="4398264"/>
          </a:xfrm>
          <a:prstGeom prst="rect">
            <a:avLst/>
          </a:prstGeom>
          <a:solidFill>
            <a:srgbClr val="111827"/>
          </a:solidFill>
          <a:ln w="12700">
            <a:solidFill>
              <a:srgbClr val="111827"/>
            </a:solidFill>
            <a:prstDash val="solid"/>
          </a:ln>
        </p:spPr>
      </p:sp>
      <p:sp>
        <p:nvSpPr>
          <p:cNvPr id="26" name="Text 24"/>
          <p:cNvSpPr/>
          <p:nvPr/>
        </p:nvSpPr>
        <p:spPr>
          <a:xfrm>
            <a:off x="6345936" y="1536192"/>
            <a:ext cx="640080" cy="182880"/>
          </a:xfrm>
          <a:prstGeom prst="rect">
            <a:avLst/>
          </a:prstGeom>
          <a:noFill/>
          <a:ln/>
        </p:spPr>
        <p:txBody>
          <a:bodyPr wrap="square" lIns="0" tIns="0" rIns="0" bIns="0" rtlCol="0" anchor="ctr"/>
          <a:lstStyle/>
          <a:p>
            <a:pPr marL="0" indent="0">
              <a:buNone/>
            </a:pPr>
            <a:r>
              <a:rPr lang="en-US" sz="1200" b="1" dirty="0">
                <a:solidFill>
                  <a:srgbClr val="FFFFFF"/>
                </a:solidFill>
                <a:latin typeface="Aptos" pitchFamily="34" charset="0"/>
                <a:ea typeface="Aptos" pitchFamily="34" charset="-122"/>
                <a:cs typeface="Aptos" pitchFamily="34" charset="-120"/>
              </a:rPr>
              <a:t>EKA</a:t>
            </a:r>
            <a:endParaRPr lang="en-US" sz="1200" dirty="0"/>
          </a:p>
        </p:txBody>
      </p:sp>
      <p:sp>
        <p:nvSpPr>
          <p:cNvPr id="27" name="Shape 25"/>
          <p:cNvSpPr/>
          <p:nvPr/>
        </p:nvSpPr>
        <p:spPr>
          <a:xfrm>
            <a:off x="6327648" y="1874520"/>
            <a:ext cx="896112" cy="301752"/>
          </a:xfrm>
          <a:prstGeom prst="roundRect">
            <a:avLst>
              <a:gd name="adj" fmla="val 48485"/>
            </a:avLst>
          </a:prstGeom>
          <a:solidFill>
            <a:srgbClr val="2563EB"/>
          </a:solidFill>
          <a:ln w="12700">
            <a:solidFill>
              <a:srgbClr val="2563EB"/>
            </a:solidFill>
            <a:prstDash val="solid"/>
          </a:ln>
        </p:spPr>
      </p:sp>
      <p:sp>
        <p:nvSpPr>
          <p:cNvPr id="28" name="Text 26"/>
          <p:cNvSpPr/>
          <p:nvPr/>
        </p:nvSpPr>
        <p:spPr>
          <a:xfrm>
            <a:off x="6400800" y="1943100"/>
            <a:ext cx="749808" cy="137160"/>
          </a:xfrm>
          <a:prstGeom prst="rect">
            <a:avLst/>
          </a:prstGeom>
          <a:noFill/>
          <a:ln/>
        </p:spPr>
        <p:txBody>
          <a:bodyPr wrap="square" lIns="0" tIns="0" rIns="0" bIns="0" rtlCol="0" anchor="ctr"/>
          <a:lstStyle/>
          <a:p>
            <a:pPr marL="0" indent="0" algn="ctr">
              <a:buNone/>
            </a:pPr>
            <a:r>
              <a:rPr lang="en-US" sz="850" b="1" dirty="0">
                <a:solidFill>
                  <a:srgbClr val="FFFFFF"/>
                </a:solidFill>
              </a:rPr>
              <a:t>New chat</a:t>
            </a:r>
            <a:endParaRPr lang="en-US" sz="850" dirty="0"/>
          </a:p>
        </p:txBody>
      </p:sp>
      <p:sp>
        <p:nvSpPr>
          <p:cNvPr id="29" name="Text 27"/>
          <p:cNvSpPr/>
          <p:nvPr/>
        </p:nvSpPr>
        <p:spPr>
          <a:xfrm>
            <a:off x="6355080" y="2340864"/>
            <a:ext cx="640080" cy="164592"/>
          </a:xfrm>
          <a:prstGeom prst="rect">
            <a:avLst/>
          </a:prstGeom>
          <a:noFill/>
          <a:ln/>
        </p:spPr>
        <p:txBody>
          <a:bodyPr wrap="square" lIns="0" tIns="0" rIns="0" bIns="0" rtlCol="0" anchor="ctr"/>
          <a:lstStyle/>
          <a:p>
            <a:pPr marL="0" indent="0">
              <a:buNone/>
            </a:pPr>
            <a:r>
              <a:rPr lang="en-US" sz="720" b="1" dirty="0">
                <a:solidFill>
                  <a:srgbClr val="94A3B8"/>
                </a:solidFill>
                <a:latin typeface="Aptos" pitchFamily="34" charset="0"/>
                <a:ea typeface="Aptos" pitchFamily="34" charset="-122"/>
                <a:cs typeface="Aptos" pitchFamily="34" charset="-120"/>
              </a:rPr>
              <a:t>RECENT</a:t>
            </a:r>
            <a:endParaRPr lang="en-US" sz="720" dirty="0"/>
          </a:p>
        </p:txBody>
      </p:sp>
      <p:sp>
        <p:nvSpPr>
          <p:cNvPr id="30" name="Text 28"/>
          <p:cNvSpPr/>
          <p:nvPr/>
        </p:nvSpPr>
        <p:spPr>
          <a:xfrm>
            <a:off x="6355080" y="2633472"/>
            <a:ext cx="896112" cy="164592"/>
          </a:xfrm>
          <a:prstGeom prst="rect">
            <a:avLst/>
          </a:prstGeom>
          <a:noFill/>
          <a:ln/>
        </p:spPr>
        <p:txBody>
          <a:bodyPr wrap="square" lIns="0" tIns="0" rIns="0" bIns="0" rtlCol="0" anchor="ctr"/>
          <a:lstStyle/>
          <a:p>
            <a:pPr marL="0" indent="0">
              <a:buNone/>
            </a:pPr>
            <a:r>
              <a:rPr lang="en-US" sz="820" dirty="0">
                <a:solidFill>
                  <a:srgbClr val="E2E8F0"/>
                </a:solidFill>
                <a:latin typeface="Aptos" pitchFamily="34" charset="0"/>
                <a:ea typeface="Aptos" pitchFamily="34" charset="-122"/>
                <a:cs typeface="Aptos" pitchFamily="34" charset="-120"/>
              </a:rPr>
              <a:t>Leave policy</a:t>
            </a:r>
            <a:endParaRPr lang="en-US" sz="820" dirty="0"/>
          </a:p>
        </p:txBody>
      </p:sp>
      <p:sp>
        <p:nvSpPr>
          <p:cNvPr id="31" name="Text 29"/>
          <p:cNvSpPr/>
          <p:nvPr/>
        </p:nvSpPr>
        <p:spPr>
          <a:xfrm>
            <a:off x="6355080" y="2907792"/>
            <a:ext cx="896112" cy="164592"/>
          </a:xfrm>
          <a:prstGeom prst="rect">
            <a:avLst/>
          </a:prstGeom>
          <a:noFill/>
          <a:ln/>
        </p:spPr>
        <p:txBody>
          <a:bodyPr wrap="square" lIns="0" tIns="0" rIns="0" bIns="0" rtlCol="0" anchor="ctr"/>
          <a:lstStyle/>
          <a:p>
            <a:pPr marL="0" indent="0">
              <a:buNone/>
            </a:pPr>
            <a:r>
              <a:rPr lang="en-US" sz="820" dirty="0">
                <a:solidFill>
                  <a:srgbClr val="E2E8F0"/>
                </a:solidFill>
                <a:latin typeface="Aptos" pitchFamily="34" charset="0"/>
                <a:ea typeface="Aptos" pitchFamily="34" charset="-122"/>
                <a:cs typeface="Aptos" pitchFamily="34" charset="-120"/>
              </a:rPr>
              <a:t>Security SOP</a:t>
            </a:r>
            <a:endParaRPr lang="en-US" sz="820" dirty="0"/>
          </a:p>
        </p:txBody>
      </p:sp>
      <p:sp>
        <p:nvSpPr>
          <p:cNvPr id="32" name="Text 30"/>
          <p:cNvSpPr/>
          <p:nvPr/>
        </p:nvSpPr>
        <p:spPr>
          <a:xfrm>
            <a:off x="6355080" y="3182112"/>
            <a:ext cx="896112" cy="164592"/>
          </a:xfrm>
          <a:prstGeom prst="rect">
            <a:avLst/>
          </a:prstGeom>
          <a:noFill/>
          <a:ln/>
        </p:spPr>
        <p:txBody>
          <a:bodyPr wrap="square" lIns="0" tIns="0" rIns="0" bIns="0" rtlCol="0" anchor="ctr"/>
          <a:lstStyle/>
          <a:p>
            <a:pPr marL="0" indent="0">
              <a:buNone/>
            </a:pPr>
            <a:r>
              <a:rPr lang="en-US" sz="820" dirty="0">
                <a:solidFill>
                  <a:srgbClr val="E2E8F0"/>
                </a:solidFill>
                <a:latin typeface="Aptos" pitchFamily="34" charset="0"/>
                <a:ea typeface="Aptos" pitchFamily="34" charset="-122"/>
                <a:cs typeface="Aptos" pitchFamily="34" charset="-120"/>
              </a:rPr>
              <a:t>Onboarding</a:t>
            </a:r>
            <a:endParaRPr lang="en-US" sz="820" dirty="0"/>
          </a:p>
        </p:txBody>
      </p:sp>
      <p:sp>
        <p:nvSpPr>
          <p:cNvPr id="33" name="Shape 31"/>
          <p:cNvSpPr/>
          <p:nvPr/>
        </p:nvSpPr>
        <p:spPr>
          <a:xfrm>
            <a:off x="6327648" y="5074920"/>
            <a:ext cx="896112" cy="301752"/>
          </a:xfrm>
          <a:prstGeom prst="roundRect">
            <a:avLst>
              <a:gd name="adj" fmla="val 48485"/>
            </a:avLst>
          </a:prstGeom>
          <a:solidFill>
            <a:srgbClr val="1E293B"/>
          </a:solidFill>
          <a:ln w="12700">
            <a:solidFill>
              <a:srgbClr val="1E293B"/>
            </a:solidFill>
            <a:prstDash val="solid"/>
          </a:ln>
        </p:spPr>
      </p:sp>
      <p:sp>
        <p:nvSpPr>
          <p:cNvPr id="34" name="Text 32"/>
          <p:cNvSpPr/>
          <p:nvPr/>
        </p:nvSpPr>
        <p:spPr>
          <a:xfrm>
            <a:off x="6400800" y="5143500"/>
            <a:ext cx="749808" cy="137160"/>
          </a:xfrm>
          <a:prstGeom prst="rect">
            <a:avLst/>
          </a:prstGeom>
          <a:noFill/>
          <a:ln/>
        </p:spPr>
        <p:txBody>
          <a:bodyPr wrap="square" lIns="0" tIns="0" rIns="0" bIns="0" rtlCol="0" anchor="ctr"/>
          <a:lstStyle/>
          <a:p>
            <a:pPr marL="0" indent="0" algn="ctr">
              <a:buNone/>
            </a:pPr>
            <a:r>
              <a:rPr lang="en-US" sz="850" b="1" dirty="0">
                <a:solidFill>
                  <a:srgbClr val="CBD5E1"/>
                </a:solidFill>
              </a:rPr>
              <a:t>Employee</a:t>
            </a:r>
            <a:endParaRPr lang="en-US" sz="850" dirty="0"/>
          </a:p>
        </p:txBody>
      </p:sp>
      <p:sp>
        <p:nvSpPr>
          <p:cNvPr id="35" name="Text 33"/>
          <p:cNvSpPr/>
          <p:nvPr/>
        </p:nvSpPr>
        <p:spPr>
          <a:xfrm>
            <a:off x="7836408" y="1572768"/>
            <a:ext cx="2377440" cy="228600"/>
          </a:xfrm>
          <a:prstGeom prst="rect">
            <a:avLst/>
          </a:prstGeom>
          <a:noFill/>
          <a:ln/>
        </p:spPr>
        <p:txBody>
          <a:bodyPr wrap="square" lIns="0" tIns="0" rIns="0" bIns="0" rtlCol="0" anchor="ctr"/>
          <a:lstStyle/>
          <a:p>
            <a:pPr marL="0" indent="0">
              <a:buNone/>
            </a:pPr>
            <a:r>
              <a:rPr lang="en-US" sz="1200" b="1" dirty="0">
                <a:solidFill>
                  <a:srgbClr val="FFFFFF"/>
                </a:solidFill>
                <a:latin typeface="Aptos" pitchFamily="34" charset="0"/>
                <a:ea typeface="Aptos" pitchFamily="34" charset="-122"/>
                <a:cs typeface="Aptos" pitchFamily="34" charset="-120"/>
              </a:rPr>
              <a:t>Enterprise Assistant</a:t>
            </a:r>
            <a:endParaRPr lang="en-US" sz="1200" dirty="0"/>
          </a:p>
        </p:txBody>
      </p:sp>
      <p:sp>
        <p:nvSpPr>
          <p:cNvPr id="36" name="Shape 34"/>
          <p:cNvSpPr/>
          <p:nvPr/>
        </p:nvSpPr>
        <p:spPr>
          <a:xfrm>
            <a:off x="10488168" y="1536192"/>
            <a:ext cx="576072" cy="301752"/>
          </a:xfrm>
          <a:prstGeom prst="roundRect">
            <a:avLst>
              <a:gd name="adj" fmla="val 48485"/>
            </a:avLst>
          </a:prstGeom>
          <a:solidFill>
            <a:srgbClr val="16A34A"/>
          </a:solidFill>
          <a:ln w="12700">
            <a:solidFill>
              <a:srgbClr val="16A34A"/>
            </a:solidFill>
            <a:prstDash val="solid"/>
          </a:ln>
        </p:spPr>
      </p:sp>
      <p:sp>
        <p:nvSpPr>
          <p:cNvPr id="37" name="Text 35"/>
          <p:cNvSpPr/>
          <p:nvPr/>
        </p:nvSpPr>
        <p:spPr>
          <a:xfrm>
            <a:off x="10561320" y="1604772"/>
            <a:ext cx="429768" cy="137160"/>
          </a:xfrm>
          <a:prstGeom prst="rect">
            <a:avLst/>
          </a:prstGeom>
          <a:noFill/>
          <a:ln/>
        </p:spPr>
        <p:txBody>
          <a:bodyPr wrap="square" lIns="0" tIns="0" rIns="0" bIns="0" rtlCol="0" anchor="ctr"/>
          <a:lstStyle/>
          <a:p>
            <a:pPr marL="0" indent="0" algn="ctr">
              <a:buNone/>
            </a:pPr>
            <a:r>
              <a:rPr lang="en-US" sz="850" b="1" dirty="0">
                <a:solidFill>
                  <a:srgbClr val="FFFFFF"/>
                </a:solidFill>
              </a:rPr>
              <a:t>Online</a:t>
            </a:r>
            <a:endParaRPr lang="en-US" sz="850" dirty="0"/>
          </a:p>
        </p:txBody>
      </p:sp>
      <p:sp>
        <p:nvSpPr>
          <p:cNvPr id="38" name="Shape 36"/>
          <p:cNvSpPr/>
          <p:nvPr/>
        </p:nvSpPr>
        <p:spPr>
          <a:xfrm>
            <a:off x="7662672" y="2157984"/>
            <a:ext cx="3246120" cy="658368"/>
          </a:xfrm>
          <a:prstGeom prst="roundRect">
            <a:avLst>
              <a:gd name="adj" fmla="val 18056"/>
            </a:avLst>
          </a:prstGeom>
          <a:solidFill>
            <a:srgbClr val="1E293B"/>
          </a:solidFill>
          <a:ln w="12700">
            <a:solidFill>
              <a:srgbClr val="1E293B"/>
            </a:solidFill>
            <a:prstDash val="solid"/>
          </a:ln>
        </p:spPr>
      </p:sp>
      <p:sp>
        <p:nvSpPr>
          <p:cNvPr id="39" name="Text 37"/>
          <p:cNvSpPr/>
          <p:nvPr/>
        </p:nvSpPr>
        <p:spPr>
          <a:xfrm>
            <a:off x="7845552" y="2340864"/>
            <a:ext cx="2880360" cy="201168"/>
          </a:xfrm>
          <a:prstGeom prst="rect">
            <a:avLst/>
          </a:prstGeom>
          <a:noFill/>
          <a:ln/>
        </p:spPr>
        <p:txBody>
          <a:bodyPr wrap="square" lIns="0" tIns="0" rIns="0" bIns="0" rtlCol="0" anchor="ctr"/>
          <a:lstStyle/>
          <a:p>
            <a:pPr marL="0" indent="0" algn="r">
              <a:buNone/>
            </a:pPr>
            <a:r>
              <a:rPr lang="en-US" sz="940" dirty="0">
                <a:solidFill>
                  <a:srgbClr val="F8FAFC"/>
                </a:solidFill>
                <a:latin typeface="Aptos" pitchFamily="34" charset="0"/>
                <a:ea typeface="Aptos" pitchFamily="34" charset="-122"/>
                <a:cs typeface="Aptos" pitchFamily="34" charset="-120"/>
              </a:rPr>
              <a:t>What is the work-from-home policy?</a:t>
            </a:r>
            <a:endParaRPr lang="en-US" sz="940" dirty="0"/>
          </a:p>
        </p:txBody>
      </p:sp>
      <p:sp>
        <p:nvSpPr>
          <p:cNvPr id="40" name="Shape 38"/>
          <p:cNvSpPr/>
          <p:nvPr/>
        </p:nvSpPr>
        <p:spPr>
          <a:xfrm>
            <a:off x="7662672" y="3035808"/>
            <a:ext cx="3383280" cy="1316736"/>
          </a:xfrm>
          <a:prstGeom prst="roundRect">
            <a:avLst>
              <a:gd name="adj" fmla="val 10417"/>
            </a:avLst>
          </a:prstGeom>
          <a:solidFill>
            <a:srgbClr val="EFF6FF"/>
          </a:solidFill>
          <a:ln w="12700">
            <a:solidFill>
              <a:srgbClr val="BFDBFE"/>
            </a:solidFill>
            <a:prstDash val="solid"/>
          </a:ln>
        </p:spPr>
      </p:sp>
      <p:sp>
        <p:nvSpPr>
          <p:cNvPr id="41" name="Text 39"/>
          <p:cNvSpPr/>
          <p:nvPr/>
        </p:nvSpPr>
        <p:spPr>
          <a:xfrm>
            <a:off x="7863840" y="3246120"/>
            <a:ext cx="2926080" cy="493776"/>
          </a:xfrm>
          <a:prstGeom prst="rect">
            <a:avLst/>
          </a:prstGeom>
          <a:noFill/>
          <a:ln/>
        </p:spPr>
        <p:txBody>
          <a:bodyPr wrap="square" lIns="0" tIns="0" rIns="0" bIns="0" rtlCol="0" anchor="ctr"/>
          <a:lstStyle/>
          <a:p>
            <a:pPr marL="0" indent="0">
              <a:buNone/>
            </a:pPr>
            <a:r>
              <a:rPr lang="en-US" sz="920" dirty="0">
                <a:solidFill>
                  <a:srgbClr val="0F172A"/>
                </a:solidFill>
                <a:latin typeface="Aptos" pitchFamily="34" charset="0"/>
                <a:ea typeface="Aptos" pitchFamily="34" charset="-122"/>
                <a:cs typeface="Aptos" pitchFamily="34" charset="-120"/>
              </a:rPr>
              <a:t>Employees may work remotely up to 2 days per week, subject to manager approval.</a:t>
            </a:r>
            <a:endParaRPr lang="en-US" sz="920" dirty="0"/>
          </a:p>
        </p:txBody>
      </p:sp>
      <p:sp>
        <p:nvSpPr>
          <p:cNvPr id="42" name="Text 40"/>
          <p:cNvSpPr/>
          <p:nvPr/>
        </p:nvSpPr>
        <p:spPr>
          <a:xfrm>
            <a:off x="7863840" y="3886200"/>
            <a:ext cx="2743200" cy="182880"/>
          </a:xfrm>
          <a:prstGeom prst="rect">
            <a:avLst/>
          </a:prstGeom>
          <a:noFill/>
          <a:ln/>
        </p:spPr>
        <p:txBody>
          <a:bodyPr wrap="square" lIns="0" tIns="0" rIns="0" bIns="0" rtlCol="0" anchor="ctr"/>
          <a:lstStyle/>
          <a:p>
            <a:pPr marL="0" indent="0">
              <a:buNone/>
            </a:pPr>
            <a:r>
              <a:rPr lang="en-US" sz="730" b="1" dirty="0">
                <a:solidFill>
                  <a:srgbClr val="2563EB"/>
                </a:solidFill>
                <a:latin typeface="Aptos" pitchFamily="34" charset="0"/>
                <a:ea typeface="Aptos" pitchFamily="34" charset="-122"/>
                <a:cs typeface="Aptos" pitchFamily="34" charset="-120"/>
              </a:rPr>
              <a:t>Source  •  HR Policy.pdf  •  p.12</a:t>
            </a:r>
            <a:endParaRPr lang="en-US" sz="730" dirty="0"/>
          </a:p>
        </p:txBody>
      </p:sp>
      <p:sp>
        <p:nvSpPr>
          <p:cNvPr id="43" name="Shape 41"/>
          <p:cNvSpPr/>
          <p:nvPr/>
        </p:nvSpPr>
        <p:spPr>
          <a:xfrm>
            <a:off x="7662672" y="4636008"/>
            <a:ext cx="3520440" cy="512064"/>
          </a:xfrm>
          <a:prstGeom prst="roundRect">
            <a:avLst>
              <a:gd name="adj" fmla="val 25000"/>
            </a:avLst>
          </a:prstGeom>
          <a:solidFill>
            <a:srgbClr val="111827"/>
          </a:solidFill>
          <a:ln w="12700">
            <a:solidFill>
              <a:srgbClr val="334155"/>
            </a:solidFill>
            <a:prstDash val="solid"/>
          </a:ln>
        </p:spPr>
      </p:sp>
      <p:sp>
        <p:nvSpPr>
          <p:cNvPr id="44" name="Text 42"/>
          <p:cNvSpPr/>
          <p:nvPr/>
        </p:nvSpPr>
        <p:spPr>
          <a:xfrm>
            <a:off x="7845552" y="4809744"/>
            <a:ext cx="2514600" cy="146304"/>
          </a:xfrm>
          <a:prstGeom prst="rect">
            <a:avLst/>
          </a:prstGeom>
          <a:noFill/>
          <a:ln/>
        </p:spPr>
        <p:txBody>
          <a:bodyPr wrap="square" lIns="0" tIns="0" rIns="0" bIns="0" rtlCol="0" anchor="ctr"/>
          <a:lstStyle/>
          <a:p>
            <a:pPr marL="0" indent="0">
              <a:buNone/>
            </a:pPr>
            <a:r>
              <a:rPr lang="en-US" sz="780" dirty="0">
                <a:solidFill>
                  <a:srgbClr val="94A3B8"/>
                </a:solidFill>
                <a:latin typeface="Aptos" pitchFamily="34" charset="0"/>
                <a:ea typeface="Aptos" pitchFamily="34" charset="-122"/>
                <a:cs typeface="Aptos" pitchFamily="34" charset="-120"/>
              </a:rPr>
              <a:t>Ask a question about your documents…</a:t>
            </a:r>
            <a:endParaRPr lang="en-US" sz="780" dirty="0"/>
          </a:p>
        </p:txBody>
      </p:sp>
      <p:sp>
        <p:nvSpPr>
          <p:cNvPr id="45" name="Shape 43"/>
          <p:cNvSpPr/>
          <p:nvPr/>
        </p:nvSpPr>
        <p:spPr>
          <a:xfrm>
            <a:off x="10698480" y="4754880"/>
            <a:ext cx="256032" cy="256032"/>
          </a:xfrm>
          <a:prstGeom prst="ellipse">
            <a:avLst/>
          </a:prstGeom>
          <a:solidFill>
            <a:srgbClr val="2563EB"/>
          </a:solidFill>
          <a:ln w="12700">
            <a:solidFill>
              <a:srgbClr val="2563EB"/>
            </a:solidFill>
            <a:prstDash val="solid"/>
          </a:ln>
        </p:spPr>
      </p:sp>
      <p:sp>
        <p:nvSpPr>
          <p:cNvPr id="46" name="Text 44"/>
          <p:cNvSpPr/>
          <p:nvPr/>
        </p:nvSpPr>
        <p:spPr>
          <a:xfrm>
            <a:off x="10707624" y="4782312"/>
            <a:ext cx="237744" cy="201168"/>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48"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1. Why are we building this?</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The problem is not lack of information—it is finding the right information quickly and safely.</a:t>
            </a:r>
            <a:endParaRPr lang="en-US" sz="1150" dirty="0"/>
          </a:p>
        </p:txBody>
      </p:sp>
      <p:sp>
        <p:nvSpPr>
          <p:cNvPr id="4" name="Shape 2"/>
          <p:cNvSpPr/>
          <p:nvPr/>
        </p:nvSpPr>
        <p:spPr>
          <a:xfrm>
            <a:off x="530352" y="1353312"/>
            <a:ext cx="5257800" cy="4370832"/>
          </a:xfrm>
          <a:prstGeom prst="roundRect">
            <a:avLst>
              <a:gd name="adj" fmla="val 3766"/>
            </a:avLst>
          </a:prstGeom>
          <a:solidFill>
            <a:srgbClr val="FFFFFF"/>
          </a:solidFill>
          <a:ln w="12700">
            <a:solidFill>
              <a:srgbClr val="D9E1EC"/>
            </a:solidFill>
            <a:prstDash val="solid"/>
          </a:ln>
        </p:spPr>
      </p:sp>
      <p:sp>
        <p:nvSpPr>
          <p:cNvPr id="5" name="Shape 3"/>
          <p:cNvSpPr/>
          <p:nvPr/>
        </p:nvSpPr>
        <p:spPr>
          <a:xfrm>
            <a:off x="777240" y="1618488"/>
            <a:ext cx="658368" cy="301752"/>
          </a:xfrm>
          <a:prstGeom prst="roundRect">
            <a:avLst>
              <a:gd name="adj" fmla="val 48485"/>
            </a:avLst>
          </a:prstGeom>
          <a:solidFill>
            <a:srgbClr val="FEECEC"/>
          </a:solidFill>
          <a:ln w="12700">
            <a:solidFill>
              <a:srgbClr val="FEECEC"/>
            </a:solidFill>
            <a:prstDash val="solid"/>
          </a:ln>
        </p:spPr>
      </p:sp>
      <p:sp>
        <p:nvSpPr>
          <p:cNvPr id="6" name="Text 4"/>
          <p:cNvSpPr/>
          <p:nvPr/>
        </p:nvSpPr>
        <p:spPr>
          <a:xfrm>
            <a:off x="850392" y="1687068"/>
            <a:ext cx="512064" cy="137160"/>
          </a:xfrm>
          <a:prstGeom prst="rect">
            <a:avLst/>
          </a:prstGeom>
          <a:noFill/>
          <a:ln/>
        </p:spPr>
        <p:txBody>
          <a:bodyPr wrap="square" lIns="0" tIns="0" rIns="0" bIns="0" rtlCol="0" anchor="ctr"/>
          <a:lstStyle/>
          <a:p>
            <a:pPr marL="0" indent="0" algn="ctr">
              <a:buNone/>
            </a:pPr>
            <a:r>
              <a:rPr lang="en-US" sz="850" b="1" dirty="0">
                <a:solidFill>
                  <a:srgbClr val="DC2626"/>
                </a:solidFill>
              </a:rPr>
              <a:t>TODAY</a:t>
            </a:r>
            <a:endParaRPr lang="en-US" sz="850" dirty="0"/>
          </a:p>
        </p:txBody>
      </p:sp>
      <p:sp>
        <p:nvSpPr>
          <p:cNvPr id="7" name="Text 5"/>
          <p:cNvSpPr/>
          <p:nvPr/>
        </p:nvSpPr>
        <p:spPr>
          <a:xfrm>
            <a:off x="777240" y="2029968"/>
            <a:ext cx="4206240" cy="310896"/>
          </a:xfrm>
          <a:prstGeom prst="rect">
            <a:avLst/>
          </a:prstGeom>
          <a:noFill/>
          <a:ln/>
        </p:spPr>
        <p:txBody>
          <a:bodyPr wrap="square" lIns="0" tIns="0" rIns="0" bIns="0" rtlCol="0" anchor="ctr"/>
          <a:lstStyle/>
          <a:p>
            <a:pPr marL="0" indent="0">
              <a:buNone/>
            </a:pPr>
            <a:r>
              <a:rPr lang="en-US" sz="1800" b="1" dirty="0">
                <a:solidFill>
                  <a:srgbClr val="0F172A"/>
                </a:solidFill>
                <a:latin typeface="Aptos" pitchFamily="34" charset="0"/>
                <a:ea typeface="Aptos" pitchFamily="34" charset="-122"/>
                <a:cs typeface="Aptos" pitchFamily="34" charset="-120"/>
              </a:rPr>
              <a:t>Information is scattered</a:t>
            </a:r>
            <a:endParaRPr lang="en-US" sz="1800" dirty="0"/>
          </a:p>
        </p:txBody>
      </p:sp>
      <p:sp>
        <p:nvSpPr>
          <p:cNvPr id="8" name="Shape 6"/>
          <p:cNvSpPr/>
          <p:nvPr/>
        </p:nvSpPr>
        <p:spPr>
          <a:xfrm>
            <a:off x="786384" y="2578608"/>
            <a:ext cx="265176" cy="265176"/>
          </a:xfrm>
          <a:prstGeom prst="ellipse">
            <a:avLst/>
          </a:prstGeom>
          <a:solidFill>
            <a:srgbClr val="EAF2FF"/>
          </a:solidFill>
          <a:ln w="12700">
            <a:solidFill>
              <a:srgbClr val="EAF2FF"/>
            </a:solidFill>
            <a:prstDash val="solid"/>
          </a:ln>
        </p:spPr>
      </p:sp>
      <p:sp>
        <p:nvSpPr>
          <p:cNvPr id="9" name="Text 7"/>
          <p:cNvSpPr/>
          <p:nvPr/>
        </p:nvSpPr>
        <p:spPr>
          <a:xfrm>
            <a:off x="795528" y="2606040"/>
            <a:ext cx="246888" cy="210312"/>
          </a:xfrm>
          <a:prstGeom prst="rect">
            <a:avLst/>
          </a:prstGeom>
          <a:noFill/>
          <a:ln/>
        </p:spPr>
        <p:txBody>
          <a:bodyPr wrap="square" lIns="0" tIns="0" rIns="0" bIns="0" rtlCol="0" anchor="ctr"/>
          <a:lstStyle/>
          <a:p>
            <a:pPr marL="0" indent="0" algn="ctr">
              <a:buNone/>
            </a:pPr>
            <a:r>
              <a:rPr lang="en-US" sz="900" b="1" dirty="0">
                <a:solidFill>
                  <a:srgbClr val="2563EB"/>
                </a:solidFill>
              </a:rPr>
              <a:t>▣</a:t>
            </a:r>
            <a:endParaRPr lang="en-US" sz="900" dirty="0"/>
          </a:p>
        </p:txBody>
      </p:sp>
      <p:sp>
        <p:nvSpPr>
          <p:cNvPr id="10" name="Text 8"/>
          <p:cNvSpPr/>
          <p:nvPr/>
        </p:nvSpPr>
        <p:spPr>
          <a:xfrm>
            <a:off x="1170432" y="2578608"/>
            <a:ext cx="4160520" cy="301752"/>
          </a:xfrm>
          <a:prstGeom prst="rect">
            <a:avLst/>
          </a:prstGeom>
          <a:noFill/>
          <a:ln/>
        </p:spPr>
        <p:txBody>
          <a:bodyPr wrap="square" lIns="0" tIns="0" rIns="0" bIns="0" rtlCol="0" anchor="ctr"/>
          <a:lstStyle/>
          <a:p>
            <a:pPr marL="0" indent="0">
              <a:buNone/>
            </a:pPr>
            <a:r>
              <a:rPr lang="en-US" sz="1040" dirty="0">
                <a:solidFill>
                  <a:srgbClr val="1E293B"/>
                </a:solidFill>
                <a:latin typeface="Aptos" pitchFamily="34" charset="0"/>
                <a:ea typeface="Aptos" pitchFamily="34" charset="-122"/>
                <a:cs typeface="Aptos" pitchFamily="34" charset="-120"/>
              </a:rPr>
              <a:t>Policies, manuals, SOPs and reports live in many files</a:t>
            </a:r>
            <a:endParaRPr lang="en-US" sz="1040" dirty="0"/>
          </a:p>
        </p:txBody>
      </p:sp>
      <p:sp>
        <p:nvSpPr>
          <p:cNvPr id="11" name="Shape 9"/>
          <p:cNvSpPr/>
          <p:nvPr/>
        </p:nvSpPr>
        <p:spPr>
          <a:xfrm>
            <a:off x="786384" y="3099816"/>
            <a:ext cx="265176" cy="265176"/>
          </a:xfrm>
          <a:prstGeom prst="ellipse">
            <a:avLst/>
          </a:prstGeom>
          <a:solidFill>
            <a:srgbClr val="EAF2FF"/>
          </a:solidFill>
          <a:ln w="12700">
            <a:solidFill>
              <a:srgbClr val="EAF2FF"/>
            </a:solidFill>
            <a:prstDash val="solid"/>
          </a:ln>
        </p:spPr>
      </p:sp>
      <p:sp>
        <p:nvSpPr>
          <p:cNvPr id="12" name="Text 10"/>
          <p:cNvSpPr/>
          <p:nvPr/>
        </p:nvSpPr>
        <p:spPr>
          <a:xfrm>
            <a:off x="795528" y="3127248"/>
            <a:ext cx="246888" cy="210312"/>
          </a:xfrm>
          <a:prstGeom prst="rect">
            <a:avLst/>
          </a:prstGeom>
          <a:noFill/>
          <a:ln/>
        </p:spPr>
        <p:txBody>
          <a:bodyPr wrap="square" lIns="0" tIns="0" rIns="0" bIns="0" rtlCol="0" anchor="ctr"/>
          <a:lstStyle/>
          <a:p>
            <a:pPr marL="0" indent="0" algn="ctr">
              <a:buNone/>
            </a:pPr>
            <a:r>
              <a:rPr lang="en-US" sz="900" b="1" dirty="0">
                <a:solidFill>
                  <a:srgbClr val="2563EB"/>
                </a:solidFill>
              </a:rPr>
              <a:t>⌕</a:t>
            </a:r>
            <a:endParaRPr lang="en-US" sz="900" dirty="0"/>
          </a:p>
        </p:txBody>
      </p:sp>
      <p:sp>
        <p:nvSpPr>
          <p:cNvPr id="13" name="Text 11"/>
          <p:cNvSpPr/>
          <p:nvPr/>
        </p:nvSpPr>
        <p:spPr>
          <a:xfrm>
            <a:off x="1170432" y="3099816"/>
            <a:ext cx="4160520" cy="301752"/>
          </a:xfrm>
          <a:prstGeom prst="rect">
            <a:avLst/>
          </a:prstGeom>
          <a:noFill/>
          <a:ln/>
        </p:spPr>
        <p:txBody>
          <a:bodyPr wrap="square" lIns="0" tIns="0" rIns="0" bIns="0" rtlCol="0" anchor="ctr"/>
          <a:lstStyle/>
          <a:p>
            <a:pPr marL="0" indent="0">
              <a:buNone/>
            </a:pPr>
            <a:r>
              <a:rPr lang="en-US" sz="1040" dirty="0">
                <a:solidFill>
                  <a:srgbClr val="1E293B"/>
                </a:solidFill>
                <a:latin typeface="Aptos" pitchFamily="34" charset="0"/>
                <a:ea typeface="Aptos" pitchFamily="34" charset="-122"/>
                <a:cs typeface="Aptos" pitchFamily="34" charset="-120"/>
              </a:rPr>
              <a:t>Employees spend time searching folders and PDFs</a:t>
            </a:r>
            <a:endParaRPr lang="en-US" sz="1040" dirty="0"/>
          </a:p>
        </p:txBody>
      </p:sp>
      <p:sp>
        <p:nvSpPr>
          <p:cNvPr id="14" name="Shape 12"/>
          <p:cNvSpPr/>
          <p:nvPr/>
        </p:nvSpPr>
        <p:spPr>
          <a:xfrm>
            <a:off x="786384" y="3621024"/>
            <a:ext cx="265176" cy="265176"/>
          </a:xfrm>
          <a:prstGeom prst="ellipse">
            <a:avLst/>
          </a:prstGeom>
          <a:solidFill>
            <a:srgbClr val="EAF2FF"/>
          </a:solidFill>
          <a:ln w="12700">
            <a:solidFill>
              <a:srgbClr val="EAF2FF"/>
            </a:solidFill>
            <a:prstDash val="solid"/>
          </a:ln>
        </p:spPr>
      </p:sp>
      <p:sp>
        <p:nvSpPr>
          <p:cNvPr id="15" name="Text 13"/>
          <p:cNvSpPr/>
          <p:nvPr/>
        </p:nvSpPr>
        <p:spPr>
          <a:xfrm>
            <a:off x="795528" y="3648456"/>
            <a:ext cx="246888" cy="210312"/>
          </a:xfrm>
          <a:prstGeom prst="rect">
            <a:avLst/>
          </a:prstGeom>
          <a:noFill/>
          <a:ln/>
        </p:spPr>
        <p:txBody>
          <a:bodyPr wrap="square" lIns="0" tIns="0" rIns="0" bIns="0" rtlCol="0" anchor="ctr"/>
          <a:lstStyle/>
          <a:p>
            <a:pPr marL="0" indent="0" algn="ctr">
              <a:buNone/>
            </a:pPr>
            <a:r>
              <a:rPr lang="en-US" sz="900" b="1" dirty="0">
                <a:solidFill>
                  <a:srgbClr val="2563EB"/>
                </a:solidFill>
              </a:rPr>
              <a:t>?</a:t>
            </a:r>
            <a:endParaRPr lang="en-US" sz="900" dirty="0"/>
          </a:p>
        </p:txBody>
      </p:sp>
      <p:sp>
        <p:nvSpPr>
          <p:cNvPr id="16" name="Text 14"/>
          <p:cNvSpPr/>
          <p:nvPr/>
        </p:nvSpPr>
        <p:spPr>
          <a:xfrm>
            <a:off x="1170432" y="3621024"/>
            <a:ext cx="4160520" cy="301752"/>
          </a:xfrm>
          <a:prstGeom prst="rect">
            <a:avLst/>
          </a:prstGeom>
          <a:noFill/>
          <a:ln/>
        </p:spPr>
        <p:txBody>
          <a:bodyPr wrap="square" lIns="0" tIns="0" rIns="0" bIns="0" rtlCol="0" anchor="ctr"/>
          <a:lstStyle/>
          <a:p>
            <a:pPr marL="0" indent="0">
              <a:buNone/>
            </a:pPr>
            <a:r>
              <a:rPr lang="en-US" sz="1040" dirty="0">
                <a:solidFill>
                  <a:srgbClr val="1E293B"/>
                </a:solidFill>
                <a:latin typeface="Aptos" pitchFamily="34" charset="0"/>
                <a:ea typeface="Aptos" pitchFamily="34" charset="-122"/>
                <a:cs typeface="Aptos" pitchFamily="34" charset="-120"/>
              </a:rPr>
              <a:t>Keyword search misses meaning and context</a:t>
            </a:r>
            <a:endParaRPr lang="en-US" sz="1040" dirty="0"/>
          </a:p>
        </p:txBody>
      </p:sp>
      <p:sp>
        <p:nvSpPr>
          <p:cNvPr id="17" name="Shape 15"/>
          <p:cNvSpPr/>
          <p:nvPr/>
        </p:nvSpPr>
        <p:spPr>
          <a:xfrm>
            <a:off x="786384" y="4142232"/>
            <a:ext cx="265176" cy="265176"/>
          </a:xfrm>
          <a:prstGeom prst="ellipse">
            <a:avLst/>
          </a:prstGeom>
          <a:solidFill>
            <a:srgbClr val="7C3AED"/>
          </a:solidFill>
          <a:ln w="12700">
            <a:solidFill>
              <a:srgbClr val="7C3AED"/>
            </a:solidFill>
            <a:prstDash val="solid"/>
          </a:ln>
        </p:spPr>
      </p:sp>
      <p:sp>
        <p:nvSpPr>
          <p:cNvPr id="18" name="Text 16"/>
          <p:cNvSpPr/>
          <p:nvPr/>
        </p:nvSpPr>
        <p:spPr>
          <a:xfrm>
            <a:off x="795528" y="4169664"/>
            <a:ext cx="246888" cy="210312"/>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19" name="Text 17"/>
          <p:cNvSpPr/>
          <p:nvPr/>
        </p:nvSpPr>
        <p:spPr>
          <a:xfrm>
            <a:off x="1170432" y="4142232"/>
            <a:ext cx="4160520" cy="301752"/>
          </a:xfrm>
          <a:prstGeom prst="rect">
            <a:avLst/>
          </a:prstGeom>
          <a:noFill/>
          <a:ln/>
        </p:spPr>
        <p:txBody>
          <a:bodyPr wrap="square" lIns="0" tIns="0" rIns="0" bIns="0" rtlCol="0" anchor="ctr"/>
          <a:lstStyle/>
          <a:p>
            <a:pPr marL="0" indent="0">
              <a:buNone/>
            </a:pPr>
            <a:r>
              <a:rPr lang="en-US" sz="1040" dirty="0">
                <a:solidFill>
                  <a:srgbClr val="1E293B"/>
                </a:solidFill>
                <a:latin typeface="Aptos" pitchFamily="34" charset="0"/>
                <a:ea typeface="Aptos" pitchFamily="34" charset="-122"/>
                <a:cs typeface="Aptos" pitchFamily="34" charset="-120"/>
              </a:rPr>
              <a:t>Sensitive documents need controlled access</a:t>
            </a:r>
            <a:endParaRPr lang="en-US" sz="1040" dirty="0"/>
          </a:p>
        </p:txBody>
      </p:sp>
      <p:sp>
        <p:nvSpPr>
          <p:cNvPr id="20" name="Shape 18"/>
          <p:cNvSpPr/>
          <p:nvPr/>
        </p:nvSpPr>
        <p:spPr>
          <a:xfrm>
            <a:off x="786384" y="4663440"/>
            <a:ext cx="265176" cy="265176"/>
          </a:xfrm>
          <a:prstGeom prst="ellipse">
            <a:avLst/>
          </a:prstGeom>
          <a:solidFill>
            <a:srgbClr val="EAF2FF"/>
          </a:solidFill>
          <a:ln w="12700">
            <a:solidFill>
              <a:srgbClr val="EAF2FF"/>
            </a:solidFill>
            <a:prstDash val="solid"/>
          </a:ln>
        </p:spPr>
      </p:sp>
      <p:sp>
        <p:nvSpPr>
          <p:cNvPr id="21" name="Text 19"/>
          <p:cNvSpPr/>
          <p:nvPr/>
        </p:nvSpPr>
        <p:spPr>
          <a:xfrm>
            <a:off x="795528" y="4690872"/>
            <a:ext cx="246888" cy="210312"/>
          </a:xfrm>
          <a:prstGeom prst="rect">
            <a:avLst/>
          </a:prstGeom>
          <a:noFill/>
          <a:ln/>
        </p:spPr>
        <p:txBody>
          <a:bodyPr wrap="square" lIns="0" tIns="0" rIns="0" bIns="0" rtlCol="0" anchor="ctr"/>
          <a:lstStyle/>
          <a:p>
            <a:pPr marL="0" indent="0" algn="ctr">
              <a:buNone/>
            </a:pPr>
            <a:r>
              <a:rPr lang="en-US" sz="900" b="1" dirty="0">
                <a:solidFill>
                  <a:srgbClr val="2563EB"/>
                </a:solidFill>
              </a:rPr>
              <a:t>…</a:t>
            </a:r>
            <a:endParaRPr lang="en-US" sz="900" dirty="0"/>
          </a:p>
        </p:txBody>
      </p:sp>
      <p:sp>
        <p:nvSpPr>
          <p:cNvPr id="22" name="Text 20"/>
          <p:cNvSpPr/>
          <p:nvPr/>
        </p:nvSpPr>
        <p:spPr>
          <a:xfrm>
            <a:off x="1170432" y="4663440"/>
            <a:ext cx="4160520" cy="301752"/>
          </a:xfrm>
          <a:prstGeom prst="rect">
            <a:avLst/>
          </a:prstGeom>
          <a:noFill/>
          <a:ln/>
        </p:spPr>
        <p:txBody>
          <a:bodyPr wrap="square" lIns="0" tIns="0" rIns="0" bIns="0" rtlCol="0" anchor="ctr"/>
          <a:lstStyle/>
          <a:p>
            <a:pPr marL="0" indent="0">
              <a:buNone/>
            </a:pPr>
            <a:r>
              <a:rPr lang="en-US" sz="1040" dirty="0">
                <a:solidFill>
                  <a:srgbClr val="1E293B"/>
                </a:solidFill>
                <a:latin typeface="Aptos" pitchFamily="34" charset="0"/>
                <a:ea typeface="Aptos" pitchFamily="34" charset="-122"/>
                <a:cs typeface="Aptos" pitchFamily="34" charset="-120"/>
              </a:rPr>
              <a:t>Answers need evidence, not just generated text</a:t>
            </a:r>
            <a:endParaRPr lang="en-US" sz="1040" dirty="0"/>
          </a:p>
        </p:txBody>
      </p:sp>
      <p:sp>
        <p:nvSpPr>
          <p:cNvPr id="23" name="Shape 21"/>
          <p:cNvSpPr/>
          <p:nvPr/>
        </p:nvSpPr>
        <p:spPr>
          <a:xfrm>
            <a:off x="6053328" y="1353312"/>
            <a:ext cx="5596128" cy="4370832"/>
          </a:xfrm>
          <a:prstGeom prst="roundRect">
            <a:avLst>
              <a:gd name="adj" fmla="val 3766"/>
            </a:avLst>
          </a:prstGeom>
          <a:solidFill>
            <a:srgbClr val="FFFFFF"/>
          </a:solidFill>
          <a:ln w="12700">
            <a:solidFill>
              <a:srgbClr val="D9E1EC"/>
            </a:solidFill>
            <a:prstDash val="solid"/>
          </a:ln>
        </p:spPr>
      </p:sp>
      <p:sp>
        <p:nvSpPr>
          <p:cNvPr id="24" name="Shape 22"/>
          <p:cNvSpPr/>
          <p:nvPr/>
        </p:nvSpPr>
        <p:spPr>
          <a:xfrm>
            <a:off x="6327648" y="1618488"/>
            <a:ext cx="1426464" cy="301752"/>
          </a:xfrm>
          <a:prstGeom prst="roundRect">
            <a:avLst>
              <a:gd name="adj" fmla="val 48485"/>
            </a:avLst>
          </a:prstGeom>
          <a:solidFill>
            <a:srgbClr val="EAF8EF"/>
          </a:solidFill>
          <a:ln w="12700">
            <a:solidFill>
              <a:srgbClr val="EAF8EF"/>
            </a:solidFill>
            <a:prstDash val="solid"/>
          </a:ln>
        </p:spPr>
      </p:sp>
      <p:sp>
        <p:nvSpPr>
          <p:cNvPr id="25" name="Text 23"/>
          <p:cNvSpPr/>
          <p:nvPr/>
        </p:nvSpPr>
        <p:spPr>
          <a:xfrm>
            <a:off x="6400800" y="1687068"/>
            <a:ext cx="1280160" cy="137160"/>
          </a:xfrm>
          <a:prstGeom prst="rect">
            <a:avLst/>
          </a:prstGeom>
          <a:noFill/>
          <a:ln/>
        </p:spPr>
        <p:txBody>
          <a:bodyPr wrap="square" lIns="0" tIns="0" rIns="0" bIns="0" rtlCol="0" anchor="ctr"/>
          <a:lstStyle/>
          <a:p>
            <a:pPr marL="0" indent="0" algn="ctr">
              <a:buNone/>
            </a:pPr>
            <a:r>
              <a:rPr lang="en-US" sz="850" b="1" dirty="0">
                <a:solidFill>
                  <a:srgbClr val="16A34A"/>
                </a:solidFill>
              </a:rPr>
              <a:t>WITH OUR ASSISTANT</a:t>
            </a:r>
            <a:endParaRPr lang="en-US" sz="850" dirty="0"/>
          </a:p>
        </p:txBody>
      </p:sp>
      <p:sp>
        <p:nvSpPr>
          <p:cNvPr id="26" name="Text 24"/>
          <p:cNvSpPr/>
          <p:nvPr/>
        </p:nvSpPr>
        <p:spPr>
          <a:xfrm>
            <a:off x="6327648" y="2029968"/>
            <a:ext cx="4572000" cy="310896"/>
          </a:xfrm>
          <a:prstGeom prst="rect">
            <a:avLst/>
          </a:prstGeom>
          <a:noFill/>
          <a:ln/>
        </p:spPr>
        <p:txBody>
          <a:bodyPr wrap="square" lIns="0" tIns="0" rIns="0" bIns="0" rtlCol="0" anchor="ctr"/>
          <a:lstStyle/>
          <a:p>
            <a:pPr marL="0" indent="0">
              <a:buNone/>
            </a:pPr>
            <a:r>
              <a:rPr lang="en-US" sz="1800" b="1" dirty="0">
                <a:solidFill>
                  <a:srgbClr val="0F172A"/>
                </a:solidFill>
                <a:latin typeface="Aptos" pitchFamily="34" charset="0"/>
                <a:ea typeface="Aptos" pitchFamily="34" charset="-122"/>
                <a:cs typeface="Aptos" pitchFamily="34" charset="-120"/>
              </a:rPr>
              <a:t>Ask → Retrieve → Answer → Verify</a:t>
            </a:r>
            <a:endParaRPr lang="en-US" sz="1800" dirty="0"/>
          </a:p>
        </p:txBody>
      </p:sp>
      <p:sp>
        <p:nvSpPr>
          <p:cNvPr id="27" name="Shape 25"/>
          <p:cNvSpPr/>
          <p:nvPr/>
        </p:nvSpPr>
        <p:spPr>
          <a:xfrm>
            <a:off x="6355080" y="2633472"/>
            <a:ext cx="310896" cy="310896"/>
          </a:xfrm>
          <a:prstGeom prst="ellipse">
            <a:avLst/>
          </a:prstGeom>
          <a:solidFill>
            <a:srgbClr val="2563EB"/>
          </a:solidFill>
          <a:ln w="12700">
            <a:solidFill>
              <a:srgbClr val="2563EB"/>
            </a:solidFill>
            <a:prstDash val="solid"/>
          </a:ln>
        </p:spPr>
      </p:sp>
      <p:sp>
        <p:nvSpPr>
          <p:cNvPr id="28" name="Text 26"/>
          <p:cNvSpPr/>
          <p:nvPr/>
        </p:nvSpPr>
        <p:spPr>
          <a:xfrm>
            <a:off x="6364224" y="2660904"/>
            <a:ext cx="292608" cy="256032"/>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29" name="Text 27"/>
          <p:cNvSpPr/>
          <p:nvPr/>
        </p:nvSpPr>
        <p:spPr>
          <a:xfrm>
            <a:off x="6812280" y="2615184"/>
            <a:ext cx="4114800" cy="310896"/>
          </a:xfrm>
          <a:prstGeom prst="rect">
            <a:avLst/>
          </a:prstGeom>
          <a:noFill/>
          <a:ln/>
        </p:spPr>
        <p:txBody>
          <a:bodyPr wrap="square" lIns="0" tIns="0" rIns="0" bIns="0" rtlCol="0" anchor="ctr"/>
          <a:lstStyle/>
          <a:p>
            <a:pPr marL="0" indent="0">
              <a:buNone/>
            </a:pPr>
            <a:r>
              <a:rPr lang="en-US" sz="1080" dirty="0">
                <a:solidFill>
                  <a:srgbClr val="1E293B"/>
                </a:solidFill>
                <a:latin typeface="Aptos" pitchFamily="34" charset="0"/>
                <a:ea typeface="Aptos" pitchFamily="34" charset="-122"/>
                <a:cs typeface="Aptos" pitchFamily="34" charset="-120"/>
              </a:rPr>
              <a:t>Employee asks in natural language</a:t>
            </a:r>
            <a:endParaRPr lang="en-US" sz="1080" dirty="0"/>
          </a:p>
        </p:txBody>
      </p:sp>
      <p:sp>
        <p:nvSpPr>
          <p:cNvPr id="30" name="Shape 28"/>
          <p:cNvSpPr/>
          <p:nvPr/>
        </p:nvSpPr>
        <p:spPr>
          <a:xfrm>
            <a:off x="6355080" y="3236976"/>
            <a:ext cx="310896" cy="310896"/>
          </a:xfrm>
          <a:prstGeom prst="ellipse">
            <a:avLst/>
          </a:prstGeom>
          <a:solidFill>
            <a:srgbClr val="2563EB"/>
          </a:solidFill>
          <a:ln w="12700">
            <a:solidFill>
              <a:srgbClr val="2563EB"/>
            </a:solidFill>
            <a:prstDash val="solid"/>
          </a:ln>
        </p:spPr>
      </p:sp>
      <p:sp>
        <p:nvSpPr>
          <p:cNvPr id="31" name="Text 29"/>
          <p:cNvSpPr/>
          <p:nvPr/>
        </p:nvSpPr>
        <p:spPr>
          <a:xfrm>
            <a:off x="6364224" y="3264408"/>
            <a:ext cx="292608" cy="256032"/>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32" name="Text 30"/>
          <p:cNvSpPr/>
          <p:nvPr/>
        </p:nvSpPr>
        <p:spPr>
          <a:xfrm>
            <a:off x="6812280" y="3218688"/>
            <a:ext cx="4114800" cy="310896"/>
          </a:xfrm>
          <a:prstGeom prst="rect">
            <a:avLst/>
          </a:prstGeom>
          <a:noFill/>
          <a:ln/>
        </p:spPr>
        <p:txBody>
          <a:bodyPr wrap="square" lIns="0" tIns="0" rIns="0" bIns="0" rtlCol="0" anchor="ctr"/>
          <a:lstStyle/>
          <a:p>
            <a:pPr marL="0" indent="0">
              <a:buNone/>
            </a:pPr>
            <a:r>
              <a:rPr lang="en-US" sz="1080" dirty="0">
                <a:solidFill>
                  <a:srgbClr val="1E293B"/>
                </a:solidFill>
                <a:latin typeface="Aptos" pitchFamily="34" charset="0"/>
                <a:ea typeface="Aptos" pitchFamily="34" charset="-122"/>
                <a:cs typeface="Aptos" pitchFamily="34" charset="-120"/>
              </a:rPr>
              <a:t>System searches only authorized knowledge</a:t>
            </a:r>
            <a:endParaRPr lang="en-US" sz="1080" dirty="0"/>
          </a:p>
        </p:txBody>
      </p:sp>
      <p:sp>
        <p:nvSpPr>
          <p:cNvPr id="33" name="Shape 31"/>
          <p:cNvSpPr/>
          <p:nvPr/>
        </p:nvSpPr>
        <p:spPr>
          <a:xfrm>
            <a:off x="6355080" y="3840480"/>
            <a:ext cx="310896" cy="310896"/>
          </a:xfrm>
          <a:prstGeom prst="ellipse">
            <a:avLst/>
          </a:prstGeom>
          <a:solidFill>
            <a:srgbClr val="2563EB"/>
          </a:solidFill>
          <a:ln w="12700">
            <a:solidFill>
              <a:srgbClr val="2563EB"/>
            </a:solidFill>
            <a:prstDash val="solid"/>
          </a:ln>
        </p:spPr>
      </p:sp>
      <p:sp>
        <p:nvSpPr>
          <p:cNvPr id="34" name="Text 32"/>
          <p:cNvSpPr/>
          <p:nvPr/>
        </p:nvSpPr>
        <p:spPr>
          <a:xfrm>
            <a:off x="6364224" y="3867912"/>
            <a:ext cx="292608" cy="256032"/>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35" name="Text 33"/>
          <p:cNvSpPr/>
          <p:nvPr/>
        </p:nvSpPr>
        <p:spPr>
          <a:xfrm>
            <a:off x="6812280" y="3822192"/>
            <a:ext cx="4114800" cy="310896"/>
          </a:xfrm>
          <a:prstGeom prst="rect">
            <a:avLst/>
          </a:prstGeom>
          <a:noFill/>
          <a:ln/>
        </p:spPr>
        <p:txBody>
          <a:bodyPr wrap="square" lIns="0" tIns="0" rIns="0" bIns="0" rtlCol="0" anchor="ctr"/>
          <a:lstStyle/>
          <a:p>
            <a:pPr marL="0" indent="0">
              <a:buNone/>
            </a:pPr>
            <a:r>
              <a:rPr lang="en-US" sz="1080" dirty="0">
                <a:solidFill>
                  <a:srgbClr val="1E293B"/>
                </a:solidFill>
                <a:latin typeface="Aptos" pitchFamily="34" charset="0"/>
                <a:ea typeface="Aptos" pitchFamily="34" charset="-122"/>
                <a:cs typeface="Aptos" pitchFamily="34" charset="-120"/>
              </a:rPr>
              <a:t>LLM answers using retrieved context</a:t>
            </a:r>
            <a:endParaRPr lang="en-US" sz="1080" dirty="0"/>
          </a:p>
        </p:txBody>
      </p:sp>
      <p:sp>
        <p:nvSpPr>
          <p:cNvPr id="36" name="Shape 34"/>
          <p:cNvSpPr/>
          <p:nvPr/>
        </p:nvSpPr>
        <p:spPr>
          <a:xfrm>
            <a:off x="6355080" y="4443984"/>
            <a:ext cx="310896" cy="310896"/>
          </a:xfrm>
          <a:prstGeom prst="ellipse">
            <a:avLst/>
          </a:prstGeom>
          <a:solidFill>
            <a:srgbClr val="2563EB"/>
          </a:solidFill>
          <a:ln w="12700">
            <a:solidFill>
              <a:srgbClr val="2563EB"/>
            </a:solidFill>
            <a:prstDash val="solid"/>
          </a:ln>
        </p:spPr>
      </p:sp>
      <p:sp>
        <p:nvSpPr>
          <p:cNvPr id="37" name="Text 35"/>
          <p:cNvSpPr/>
          <p:nvPr/>
        </p:nvSpPr>
        <p:spPr>
          <a:xfrm>
            <a:off x="6364224" y="4471416"/>
            <a:ext cx="292608" cy="256032"/>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38" name="Text 36"/>
          <p:cNvSpPr/>
          <p:nvPr/>
        </p:nvSpPr>
        <p:spPr>
          <a:xfrm>
            <a:off x="6812280" y="4425696"/>
            <a:ext cx="4114800" cy="310896"/>
          </a:xfrm>
          <a:prstGeom prst="rect">
            <a:avLst/>
          </a:prstGeom>
          <a:noFill/>
          <a:ln/>
        </p:spPr>
        <p:txBody>
          <a:bodyPr wrap="square" lIns="0" tIns="0" rIns="0" bIns="0" rtlCol="0" anchor="ctr"/>
          <a:lstStyle/>
          <a:p>
            <a:pPr marL="0" indent="0">
              <a:buNone/>
            </a:pPr>
            <a:r>
              <a:rPr lang="en-US" sz="1080" b="1" dirty="0">
                <a:solidFill>
                  <a:srgbClr val="2563EB"/>
                </a:solidFill>
                <a:latin typeface="Aptos" pitchFamily="34" charset="0"/>
                <a:ea typeface="Aptos" pitchFamily="34" charset="-122"/>
                <a:cs typeface="Aptos" pitchFamily="34" charset="-120"/>
              </a:rPr>
              <a:t>Source citation lets the user verify</a:t>
            </a:r>
            <a:endParaRPr lang="en-US" sz="1080" dirty="0"/>
          </a:p>
        </p:txBody>
      </p:sp>
      <p:sp>
        <p:nvSpPr>
          <p:cNvPr id="39" name="Shape 37"/>
          <p:cNvSpPr/>
          <p:nvPr/>
        </p:nvSpPr>
        <p:spPr>
          <a:xfrm>
            <a:off x="6327648" y="5138928"/>
            <a:ext cx="4828032" cy="384048"/>
          </a:xfrm>
          <a:prstGeom prst="roundRect">
            <a:avLst>
              <a:gd name="adj" fmla="val 33333"/>
            </a:avLst>
          </a:prstGeom>
          <a:solidFill>
            <a:srgbClr val="0F172A"/>
          </a:solidFill>
          <a:ln w="12700">
            <a:solidFill>
              <a:srgbClr val="0F172A"/>
            </a:solidFill>
            <a:prstDash val="solid"/>
          </a:ln>
        </p:spPr>
      </p:sp>
      <p:sp>
        <p:nvSpPr>
          <p:cNvPr id="40" name="Text 38"/>
          <p:cNvSpPr/>
          <p:nvPr/>
        </p:nvSpPr>
        <p:spPr>
          <a:xfrm>
            <a:off x="6510528" y="5248656"/>
            <a:ext cx="4462272" cy="155448"/>
          </a:xfrm>
          <a:prstGeom prst="rect">
            <a:avLst/>
          </a:prstGeom>
          <a:noFill/>
          <a:ln/>
        </p:spPr>
        <p:txBody>
          <a:bodyPr wrap="square" lIns="0" tIns="0" rIns="0" bIns="0" rtlCol="0" anchor="ctr"/>
          <a:lstStyle/>
          <a:p>
            <a:pPr marL="0" indent="0" algn="ctr">
              <a:buNone/>
            </a:pPr>
            <a:r>
              <a:rPr lang="en-US" sz="920" b="1" dirty="0">
                <a:solidFill>
                  <a:srgbClr val="FFFFFF"/>
                </a:solidFill>
                <a:latin typeface="Aptos" pitchFamily="34" charset="0"/>
                <a:ea typeface="Aptos" pitchFamily="34" charset="-122"/>
                <a:cs typeface="Aptos" pitchFamily="34" charset="-120"/>
              </a:rPr>
              <a:t>Goal: make enterprise knowledge conversational.</a:t>
            </a:r>
            <a:endParaRPr lang="en-US" sz="920" dirty="0"/>
          </a:p>
        </p:txBody>
      </p:sp>
      <p:sp>
        <p:nvSpPr>
          <p:cNvPr id="41"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2. What exactly are we going to develop?</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A secure, document-grounded AI assistant for enterprise knowledge.</a:t>
            </a:r>
            <a:endParaRPr lang="en-US" sz="1150" dirty="0"/>
          </a:p>
        </p:txBody>
      </p:sp>
      <p:sp>
        <p:nvSpPr>
          <p:cNvPr id="4" name="Shape 2"/>
          <p:cNvSpPr/>
          <p:nvPr/>
        </p:nvSpPr>
        <p:spPr>
          <a:xfrm>
            <a:off x="548640" y="1417320"/>
            <a:ext cx="2542032" cy="1627632"/>
          </a:xfrm>
          <a:prstGeom prst="roundRect">
            <a:avLst>
              <a:gd name="adj" fmla="val 10112"/>
            </a:avLst>
          </a:prstGeom>
          <a:solidFill>
            <a:srgbClr val="FFFFFF"/>
          </a:solidFill>
          <a:ln w="12700">
            <a:solidFill>
              <a:srgbClr val="DCE3ED"/>
            </a:solidFill>
            <a:prstDash val="solid"/>
          </a:ln>
        </p:spPr>
      </p:sp>
      <p:sp>
        <p:nvSpPr>
          <p:cNvPr id="5" name="Shape 3"/>
          <p:cNvSpPr/>
          <p:nvPr/>
        </p:nvSpPr>
        <p:spPr>
          <a:xfrm>
            <a:off x="713232" y="1600200"/>
            <a:ext cx="384048" cy="384048"/>
          </a:xfrm>
          <a:prstGeom prst="ellipse">
            <a:avLst/>
          </a:prstGeom>
          <a:solidFill>
            <a:srgbClr val="2563EB"/>
          </a:solidFill>
          <a:ln w="12700">
            <a:solidFill>
              <a:srgbClr val="2563EB"/>
            </a:solidFill>
            <a:prstDash val="solid"/>
          </a:ln>
        </p:spPr>
      </p:sp>
      <p:sp>
        <p:nvSpPr>
          <p:cNvPr id="6" name="Text 4"/>
          <p:cNvSpPr/>
          <p:nvPr/>
        </p:nvSpPr>
        <p:spPr>
          <a:xfrm>
            <a:off x="722376" y="1627632"/>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PDF</a:t>
            </a:r>
            <a:endParaRPr lang="en-US" sz="800" dirty="0"/>
          </a:p>
        </p:txBody>
      </p:sp>
      <p:sp>
        <p:nvSpPr>
          <p:cNvPr id="7" name="Text 5"/>
          <p:cNvSpPr/>
          <p:nvPr/>
        </p:nvSpPr>
        <p:spPr>
          <a:xfrm>
            <a:off x="1207008" y="1618488"/>
            <a:ext cx="1664208" cy="219456"/>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Document ingestion</a:t>
            </a:r>
            <a:endParaRPr lang="en-US" sz="1150" dirty="0"/>
          </a:p>
        </p:txBody>
      </p:sp>
      <p:sp>
        <p:nvSpPr>
          <p:cNvPr id="8" name="Text 6"/>
          <p:cNvSpPr/>
          <p:nvPr/>
        </p:nvSpPr>
        <p:spPr>
          <a:xfrm>
            <a:off x="713232" y="2167128"/>
            <a:ext cx="2167128" cy="576072"/>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Upload PDFs and organizational documents</a:t>
            </a:r>
            <a:endParaRPr lang="en-US" sz="950" dirty="0"/>
          </a:p>
        </p:txBody>
      </p:sp>
      <p:sp>
        <p:nvSpPr>
          <p:cNvPr id="9" name="Shape 7"/>
          <p:cNvSpPr/>
          <p:nvPr/>
        </p:nvSpPr>
        <p:spPr>
          <a:xfrm>
            <a:off x="3401568" y="1417320"/>
            <a:ext cx="2542032" cy="1627632"/>
          </a:xfrm>
          <a:prstGeom prst="roundRect">
            <a:avLst>
              <a:gd name="adj" fmla="val 10112"/>
            </a:avLst>
          </a:prstGeom>
          <a:solidFill>
            <a:srgbClr val="FFFFFF"/>
          </a:solidFill>
          <a:ln w="12700">
            <a:solidFill>
              <a:srgbClr val="DCE3ED"/>
            </a:solidFill>
            <a:prstDash val="solid"/>
          </a:ln>
        </p:spPr>
      </p:sp>
      <p:sp>
        <p:nvSpPr>
          <p:cNvPr id="10" name="Shape 8"/>
          <p:cNvSpPr/>
          <p:nvPr/>
        </p:nvSpPr>
        <p:spPr>
          <a:xfrm>
            <a:off x="3566160" y="1600200"/>
            <a:ext cx="384048" cy="384048"/>
          </a:xfrm>
          <a:prstGeom prst="ellipse">
            <a:avLst/>
          </a:prstGeom>
          <a:solidFill>
            <a:srgbClr val="0F9D8C"/>
          </a:solidFill>
          <a:ln w="12700">
            <a:solidFill>
              <a:srgbClr val="0F9D8C"/>
            </a:solidFill>
            <a:prstDash val="solid"/>
          </a:ln>
        </p:spPr>
      </p:sp>
      <p:sp>
        <p:nvSpPr>
          <p:cNvPr id="11" name="Text 9"/>
          <p:cNvSpPr/>
          <p:nvPr/>
        </p:nvSpPr>
        <p:spPr>
          <a:xfrm>
            <a:off x="3575304" y="1627632"/>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AI</a:t>
            </a:r>
            <a:endParaRPr lang="en-US" sz="800" dirty="0"/>
          </a:p>
        </p:txBody>
      </p:sp>
      <p:sp>
        <p:nvSpPr>
          <p:cNvPr id="12" name="Text 10"/>
          <p:cNvSpPr/>
          <p:nvPr/>
        </p:nvSpPr>
        <p:spPr>
          <a:xfrm>
            <a:off x="4059936" y="1618488"/>
            <a:ext cx="1664208" cy="219456"/>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Semantic retrieval</a:t>
            </a:r>
            <a:endParaRPr lang="en-US" sz="1150" dirty="0"/>
          </a:p>
        </p:txBody>
      </p:sp>
      <p:sp>
        <p:nvSpPr>
          <p:cNvPr id="13" name="Text 11"/>
          <p:cNvSpPr/>
          <p:nvPr/>
        </p:nvSpPr>
        <p:spPr>
          <a:xfrm>
            <a:off x="3566160" y="2167128"/>
            <a:ext cx="2167128" cy="576072"/>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Find meaning, not just matching keywords</a:t>
            </a:r>
            <a:endParaRPr lang="en-US" sz="950" dirty="0"/>
          </a:p>
        </p:txBody>
      </p:sp>
      <p:sp>
        <p:nvSpPr>
          <p:cNvPr id="14" name="Shape 12"/>
          <p:cNvSpPr/>
          <p:nvPr/>
        </p:nvSpPr>
        <p:spPr>
          <a:xfrm>
            <a:off x="6254496" y="1417320"/>
            <a:ext cx="2542032" cy="1627632"/>
          </a:xfrm>
          <a:prstGeom prst="roundRect">
            <a:avLst>
              <a:gd name="adj" fmla="val 10112"/>
            </a:avLst>
          </a:prstGeom>
          <a:solidFill>
            <a:srgbClr val="FFFFFF"/>
          </a:solidFill>
          <a:ln w="12700">
            <a:solidFill>
              <a:srgbClr val="DCE3ED"/>
            </a:solidFill>
            <a:prstDash val="solid"/>
          </a:ln>
        </p:spPr>
      </p:sp>
      <p:sp>
        <p:nvSpPr>
          <p:cNvPr id="15" name="Shape 13"/>
          <p:cNvSpPr/>
          <p:nvPr/>
        </p:nvSpPr>
        <p:spPr>
          <a:xfrm>
            <a:off x="6419088" y="1600200"/>
            <a:ext cx="384048" cy="384048"/>
          </a:xfrm>
          <a:prstGeom prst="ellipse">
            <a:avLst/>
          </a:prstGeom>
          <a:solidFill>
            <a:srgbClr val="7C3AED"/>
          </a:solidFill>
          <a:ln w="12700">
            <a:solidFill>
              <a:srgbClr val="7C3AED"/>
            </a:solidFill>
            <a:prstDash val="solid"/>
          </a:ln>
        </p:spPr>
      </p:sp>
      <p:sp>
        <p:nvSpPr>
          <p:cNvPr id="16" name="Text 14"/>
          <p:cNvSpPr/>
          <p:nvPr/>
        </p:nvSpPr>
        <p:spPr>
          <a:xfrm>
            <a:off x="6428232" y="1627632"/>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RAG</a:t>
            </a:r>
            <a:endParaRPr lang="en-US" sz="800" dirty="0"/>
          </a:p>
        </p:txBody>
      </p:sp>
      <p:sp>
        <p:nvSpPr>
          <p:cNvPr id="17" name="Text 15"/>
          <p:cNvSpPr/>
          <p:nvPr/>
        </p:nvSpPr>
        <p:spPr>
          <a:xfrm>
            <a:off x="6912864" y="1618488"/>
            <a:ext cx="1664208" cy="219456"/>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RAG answering</a:t>
            </a:r>
            <a:endParaRPr lang="en-US" sz="1150" dirty="0"/>
          </a:p>
        </p:txBody>
      </p:sp>
      <p:sp>
        <p:nvSpPr>
          <p:cNvPr id="18" name="Text 16"/>
          <p:cNvSpPr/>
          <p:nvPr/>
        </p:nvSpPr>
        <p:spPr>
          <a:xfrm>
            <a:off x="6419088" y="2167128"/>
            <a:ext cx="2167128" cy="576072"/>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Use retrieved context to generate the response</a:t>
            </a:r>
            <a:endParaRPr lang="en-US" sz="950" dirty="0"/>
          </a:p>
        </p:txBody>
      </p:sp>
      <p:sp>
        <p:nvSpPr>
          <p:cNvPr id="19" name="Shape 17"/>
          <p:cNvSpPr/>
          <p:nvPr/>
        </p:nvSpPr>
        <p:spPr>
          <a:xfrm>
            <a:off x="9107424" y="1417320"/>
            <a:ext cx="2542032" cy="1627632"/>
          </a:xfrm>
          <a:prstGeom prst="roundRect">
            <a:avLst>
              <a:gd name="adj" fmla="val 10112"/>
            </a:avLst>
          </a:prstGeom>
          <a:solidFill>
            <a:srgbClr val="FFFFFF"/>
          </a:solidFill>
          <a:ln w="12700">
            <a:solidFill>
              <a:srgbClr val="DCE3ED"/>
            </a:solidFill>
            <a:prstDash val="solid"/>
          </a:ln>
        </p:spPr>
      </p:sp>
      <p:sp>
        <p:nvSpPr>
          <p:cNvPr id="20" name="Shape 18"/>
          <p:cNvSpPr/>
          <p:nvPr/>
        </p:nvSpPr>
        <p:spPr>
          <a:xfrm>
            <a:off x="9272016" y="1600200"/>
            <a:ext cx="384048" cy="384048"/>
          </a:xfrm>
          <a:prstGeom prst="ellipse">
            <a:avLst/>
          </a:prstGeom>
          <a:solidFill>
            <a:srgbClr val="F59E0B"/>
          </a:solidFill>
          <a:ln w="12700">
            <a:solidFill>
              <a:srgbClr val="F59E0B"/>
            </a:solidFill>
            <a:prstDash val="solid"/>
          </a:ln>
        </p:spPr>
      </p:sp>
      <p:sp>
        <p:nvSpPr>
          <p:cNvPr id="21" name="Text 19"/>
          <p:cNvSpPr/>
          <p:nvPr/>
        </p:nvSpPr>
        <p:spPr>
          <a:xfrm>
            <a:off x="9281160" y="1627632"/>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SRC</a:t>
            </a:r>
            <a:endParaRPr lang="en-US" sz="800" dirty="0"/>
          </a:p>
        </p:txBody>
      </p:sp>
      <p:sp>
        <p:nvSpPr>
          <p:cNvPr id="22" name="Text 20"/>
          <p:cNvSpPr/>
          <p:nvPr/>
        </p:nvSpPr>
        <p:spPr>
          <a:xfrm>
            <a:off x="9765792" y="1618488"/>
            <a:ext cx="1664208" cy="219456"/>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Source citations</a:t>
            </a:r>
            <a:endParaRPr lang="en-US" sz="1150" dirty="0"/>
          </a:p>
        </p:txBody>
      </p:sp>
      <p:sp>
        <p:nvSpPr>
          <p:cNvPr id="23" name="Text 21"/>
          <p:cNvSpPr/>
          <p:nvPr/>
        </p:nvSpPr>
        <p:spPr>
          <a:xfrm>
            <a:off x="9272016" y="2167128"/>
            <a:ext cx="2167128" cy="576072"/>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Show the document/page behind the answer</a:t>
            </a:r>
            <a:endParaRPr lang="en-US" sz="950" dirty="0"/>
          </a:p>
        </p:txBody>
      </p:sp>
      <p:sp>
        <p:nvSpPr>
          <p:cNvPr id="24" name="Shape 22"/>
          <p:cNvSpPr/>
          <p:nvPr/>
        </p:nvSpPr>
        <p:spPr>
          <a:xfrm>
            <a:off x="548640" y="3429000"/>
            <a:ext cx="2542032" cy="1627632"/>
          </a:xfrm>
          <a:prstGeom prst="roundRect">
            <a:avLst>
              <a:gd name="adj" fmla="val 10112"/>
            </a:avLst>
          </a:prstGeom>
          <a:solidFill>
            <a:srgbClr val="FFFFFF"/>
          </a:solidFill>
          <a:ln w="12700">
            <a:solidFill>
              <a:srgbClr val="DCE3ED"/>
            </a:solidFill>
            <a:prstDash val="solid"/>
          </a:ln>
        </p:spPr>
      </p:sp>
      <p:sp>
        <p:nvSpPr>
          <p:cNvPr id="25" name="Shape 23"/>
          <p:cNvSpPr/>
          <p:nvPr/>
        </p:nvSpPr>
        <p:spPr>
          <a:xfrm>
            <a:off x="713232" y="3611880"/>
            <a:ext cx="384048" cy="384048"/>
          </a:xfrm>
          <a:prstGeom prst="ellipse">
            <a:avLst/>
          </a:prstGeom>
          <a:solidFill>
            <a:srgbClr val="2563EB"/>
          </a:solidFill>
          <a:ln w="12700">
            <a:solidFill>
              <a:srgbClr val="2563EB"/>
            </a:solidFill>
            <a:prstDash val="solid"/>
          </a:ln>
        </p:spPr>
      </p:sp>
      <p:sp>
        <p:nvSpPr>
          <p:cNvPr id="26" name="Text 24"/>
          <p:cNvSpPr/>
          <p:nvPr/>
        </p:nvSpPr>
        <p:spPr>
          <a:xfrm>
            <a:off x="722376" y="3639312"/>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ID</a:t>
            </a:r>
            <a:endParaRPr lang="en-US" sz="800" dirty="0"/>
          </a:p>
        </p:txBody>
      </p:sp>
      <p:sp>
        <p:nvSpPr>
          <p:cNvPr id="27" name="Text 25"/>
          <p:cNvSpPr/>
          <p:nvPr/>
        </p:nvSpPr>
        <p:spPr>
          <a:xfrm>
            <a:off x="1207008" y="3630168"/>
            <a:ext cx="1664208" cy="219456"/>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Authentication</a:t>
            </a:r>
            <a:endParaRPr lang="en-US" sz="1150" dirty="0"/>
          </a:p>
        </p:txBody>
      </p:sp>
      <p:sp>
        <p:nvSpPr>
          <p:cNvPr id="28" name="Text 26"/>
          <p:cNvSpPr/>
          <p:nvPr/>
        </p:nvSpPr>
        <p:spPr>
          <a:xfrm>
            <a:off x="713232" y="4178808"/>
            <a:ext cx="2167128" cy="576072"/>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Identify the user before knowledge access</a:t>
            </a:r>
            <a:endParaRPr lang="en-US" sz="950" dirty="0"/>
          </a:p>
        </p:txBody>
      </p:sp>
      <p:sp>
        <p:nvSpPr>
          <p:cNvPr id="29" name="Shape 27"/>
          <p:cNvSpPr/>
          <p:nvPr/>
        </p:nvSpPr>
        <p:spPr>
          <a:xfrm>
            <a:off x="3401568" y="3429000"/>
            <a:ext cx="2542032" cy="1627632"/>
          </a:xfrm>
          <a:prstGeom prst="roundRect">
            <a:avLst>
              <a:gd name="adj" fmla="val 10112"/>
            </a:avLst>
          </a:prstGeom>
          <a:solidFill>
            <a:srgbClr val="FFFFFF"/>
          </a:solidFill>
          <a:ln w="12700">
            <a:solidFill>
              <a:srgbClr val="DCE3ED"/>
            </a:solidFill>
            <a:prstDash val="solid"/>
          </a:ln>
        </p:spPr>
      </p:sp>
      <p:sp>
        <p:nvSpPr>
          <p:cNvPr id="30" name="Shape 28"/>
          <p:cNvSpPr/>
          <p:nvPr/>
        </p:nvSpPr>
        <p:spPr>
          <a:xfrm>
            <a:off x="3566160" y="3611880"/>
            <a:ext cx="384048" cy="384048"/>
          </a:xfrm>
          <a:prstGeom prst="ellipse">
            <a:avLst/>
          </a:prstGeom>
          <a:solidFill>
            <a:srgbClr val="DC2626"/>
          </a:solidFill>
          <a:ln w="12700">
            <a:solidFill>
              <a:srgbClr val="DC2626"/>
            </a:solidFill>
            <a:prstDash val="solid"/>
          </a:ln>
        </p:spPr>
      </p:sp>
      <p:sp>
        <p:nvSpPr>
          <p:cNvPr id="31" name="Text 29"/>
          <p:cNvSpPr/>
          <p:nvPr/>
        </p:nvSpPr>
        <p:spPr>
          <a:xfrm>
            <a:off x="3575304" y="3639312"/>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ACL</a:t>
            </a:r>
            <a:endParaRPr lang="en-US" sz="800" dirty="0"/>
          </a:p>
        </p:txBody>
      </p:sp>
      <p:sp>
        <p:nvSpPr>
          <p:cNvPr id="32" name="Text 30"/>
          <p:cNvSpPr/>
          <p:nvPr/>
        </p:nvSpPr>
        <p:spPr>
          <a:xfrm>
            <a:off x="4059936" y="3630168"/>
            <a:ext cx="1664208" cy="219456"/>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Document access control</a:t>
            </a:r>
            <a:endParaRPr lang="en-US" sz="1150" dirty="0"/>
          </a:p>
        </p:txBody>
      </p:sp>
      <p:sp>
        <p:nvSpPr>
          <p:cNvPr id="33" name="Text 31"/>
          <p:cNvSpPr/>
          <p:nvPr/>
        </p:nvSpPr>
        <p:spPr>
          <a:xfrm>
            <a:off x="3566160" y="4178808"/>
            <a:ext cx="2167128" cy="576072"/>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Search only sources the user is allowed to see</a:t>
            </a:r>
            <a:endParaRPr lang="en-US" sz="950" dirty="0"/>
          </a:p>
        </p:txBody>
      </p:sp>
      <p:sp>
        <p:nvSpPr>
          <p:cNvPr id="34" name="Shape 32"/>
          <p:cNvSpPr/>
          <p:nvPr/>
        </p:nvSpPr>
        <p:spPr>
          <a:xfrm>
            <a:off x="6254496" y="3429000"/>
            <a:ext cx="2542032" cy="1627632"/>
          </a:xfrm>
          <a:prstGeom prst="roundRect">
            <a:avLst>
              <a:gd name="adj" fmla="val 10112"/>
            </a:avLst>
          </a:prstGeom>
          <a:solidFill>
            <a:srgbClr val="FFFFFF"/>
          </a:solidFill>
          <a:ln w="12700">
            <a:solidFill>
              <a:srgbClr val="DCE3ED"/>
            </a:solidFill>
            <a:prstDash val="solid"/>
          </a:ln>
        </p:spPr>
      </p:sp>
      <p:sp>
        <p:nvSpPr>
          <p:cNvPr id="35" name="Shape 33"/>
          <p:cNvSpPr/>
          <p:nvPr/>
        </p:nvSpPr>
        <p:spPr>
          <a:xfrm>
            <a:off x="6419088" y="3611880"/>
            <a:ext cx="384048" cy="384048"/>
          </a:xfrm>
          <a:prstGeom prst="ellipse">
            <a:avLst/>
          </a:prstGeom>
          <a:solidFill>
            <a:srgbClr val="0F9D8C"/>
          </a:solidFill>
          <a:ln w="12700">
            <a:solidFill>
              <a:srgbClr val="0F9D8C"/>
            </a:solidFill>
            <a:prstDash val="solid"/>
          </a:ln>
        </p:spPr>
      </p:sp>
      <p:sp>
        <p:nvSpPr>
          <p:cNvPr id="36" name="Text 34"/>
          <p:cNvSpPr/>
          <p:nvPr/>
        </p:nvSpPr>
        <p:spPr>
          <a:xfrm>
            <a:off x="6428232" y="3639312"/>
            <a:ext cx="365760" cy="329184"/>
          </a:xfrm>
          <a:prstGeom prst="rect">
            <a:avLst/>
          </a:prstGeom>
          <a:noFill/>
          <a:ln/>
        </p:spPr>
        <p:txBody>
          <a:bodyPr wrap="square" lIns="0" tIns="0" rIns="0" bIns="0" rtlCol="0" anchor="ctr"/>
          <a:lstStyle/>
          <a:p>
            <a:pPr marL="0" indent="0" algn="ctr">
              <a:buNone/>
            </a:pPr>
            <a:r>
              <a:rPr lang="en-US" sz="650" b="1" dirty="0">
                <a:solidFill>
                  <a:srgbClr val="FFFFFF"/>
                </a:solidFill>
              </a:rPr>
              <a:t>CHAT</a:t>
            </a:r>
            <a:endParaRPr lang="en-US" sz="650" dirty="0"/>
          </a:p>
        </p:txBody>
      </p:sp>
      <p:sp>
        <p:nvSpPr>
          <p:cNvPr id="37" name="Text 35"/>
          <p:cNvSpPr/>
          <p:nvPr/>
        </p:nvSpPr>
        <p:spPr>
          <a:xfrm>
            <a:off x="6912864" y="3630168"/>
            <a:ext cx="1664208" cy="219456"/>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Conversation history</a:t>
            </a:r>
            <a:endParaRPr lang="en-US" sz="1150" dirty="0"/>
          </a:p>
        </p:txBody>
      </p:sp>
      <p:sp>
        <p:nvSpPr>
          <p:cNvPr id="38" name="Text 36"/>
          <p:cNvSpPr/>
          <p:nvPr/>
        </p:nvSpPr>
        <p:spPr>
          <a:xfrm>
            <a:off x="6419088" y="4178808"/>
            <a:ext cx="2167128" cy="576072"/>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Keep context for follow-up questions</a:t>
            </a:r>
            <a:endParaRPr lang="en-US" sz="950" dirty="0"/>
          </a:p>
        </p:txBody>
      </p:sp>
      <p:sp>
        <p:nvSpPr>
          <p:cNvPr id="39" name="Shape 37"/>
          <p:cNvSpPr/>
          <p:nvPr/>
        </p:nvSpPr>
        <p:spPr>
          <a:xfrm>
            <a:off x="9107424" y="3429000"/>
            <a:ext cx="2542032" cy="1627632"/>
          </a:xfrm>
          <a:prstGeom prst="roundRect">
            <a:avLst>
              <a:gd name="adj" fmla="val 10112"/>
            </a:avLst>
          </a:prstGeom>
          <a:solidFill>
            <a:srgbClr val="FFFFFF"/>
          </a:solidFill>
          <a:ln w="12700">
            <a:solidFill>
              <a:srgbClr val="DCE3ED"/>
            </a:solidFill>
            <a:prstDash val="solid"/>
          </a:ln>
        </p:spPr>
      </p:sp>
      <p:sp>
        <p:nvSpPr>
          <p:cNvPr id="40" name="Shape 38"/>
          <p:cNvSpPr/>
          <p:nvPr/>
        </p:nvSpPr>
        <p:spPr>
          <a:xfrm>
            <a:off x="9272016" y="3611880"/>
            <a:ext cx="384048" cy="384048"/>
          </a:xfrm>
          <a:prstGeom prst="ellipse">
            <a:avLst/>
          </a:prstGeom>
          <a:solidFill>
            <a:srgbClr val="7C3AED"/>
          </a:solidFill>
          <a:ln w="12700">
            <a:solidFill>
              <a:srgbClr val="7C3AED"/>
            </a:solidFill>
            <a:prstDash val="solid"/>
          </a:ln>
        </p:spPr>
      </p:sp>
      <p:sp>
        <p:nvSpPr>
          <p:cNvPr id="41" name="Text 39"/>
          <p:cNvSpPr/>
          <p:nvPr/>
        </p:nvSpPr>
        <p:spPr>
          <a:xfrm>
            <a:off x="9281160" y="3639312"/>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ADM</a:t>
            </a:r>
            <a:endParaRPr lang="en-US" sz="800" dirty="0"/>
          </a:p>
        </p:txBody>
      </p:sp>
      <p:sp>
        <p:nvSpPr>
          <p:cNvPr id="42" name="Text 40"/>
          <p:cNvSpPr/>
          <p:nvPr/>
        </p:nvSpPr>
        <p:spPr>
          <a:xfrm>
            <a:off x="9765792" y="3630168"/>
            <a:ext cx="1664208" cy="219456"/>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Admin controls</a:t>
            </a:r>
            <a:endParaRPr lang="en-US" sz="1150" dirty="0"/>
          </a:p>
        </p:txBody>
      </p:sp>
      <p:sp>
        <p:nvSpPr>
          <p:cNvPr id="43" name="Text 41"/>
          <p:cNvSpPr/>
          <p:nvPr/>
        </p:nvSpPr>
        <p:spPr>
          <a:xfrm>
            <a:off x="9272016" y="4178808"/>
            <a:ext cx="2167128" cy="576072"/>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Manage documents, users and permissions</a:t>
            </a:r>
            <a:endParaRPr lang="en-US" sz="950" dirty="0"/>
          </a:p>
        </p:txBody>
      </p:sp>
      <p:sp>
        <p:nvSpPr>
          <p:cNvPr id="44"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3. Who will use it?</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The primary user is an employee who needs answers from internal company knowledge.</a:t>
            </a:r>
            <a:endParaRPr lang="en-US" sz="1150" dirty="0"/>
          </a:p>
        </p:txBody>
      </p:sp>
      <p:sp>
        <p:nvSpPr>
          <p:cNvPr id="4" name="Shape 2"/>
          <p:cNvSpPr/>
          <p:nvPr/>
        </p:nvSpPr>
        <p:spPr>
          <a:xfrm>
            <a:off x="5477256" y="2176272"/>
            <a:ext cx="1051560" cy="1051560"/>
          </a:xfrm>
          <a:prstGeom prst="ellipse">
            <a:avLst/>
          </a:prstGeom>
          <a:solidFill>
            <a:srgbClr val="2563EB"/>
          </a:solidFill>
          <a:ln w="12700">
            <a:solidFill>
              <a:srgbClr val="2563EB"/>
            </a:solidFill>
            <a:prstDash val="solid"/>
          </a:ln>
        </p:spPr>
      </p:sp>
      <p:sp>
        <p:nvSpPr>
          <p:cNvPr id="5" name="Text 3"/>
          <p:cNvSpPr/>
          <p:nvPr/>
        </p:nvSpPr>
        <p:spPr>
          <a:xfrm>
            <a:off x="5486400" y="2203704"/>
            <a:ext cx="1033272" cy="996696"/>
          </a:xfrm>
          <a:prstGeom prst="rect">
            <a:avLst/>
          </a:prstGeom>
          <a:noFill/>
          <a:ln/>
        </p:spPr>
        <p:txBody>
          <a:bodyPr wrap="square" lIns="0" tIns="0" rIns="0" bIns="0" rtlCol="0" anchor="ctr"/>
          <a:lstStyle/>
          <a:p>
            <a:pPr marL="0" indent="0" algn="ctr">
              <a:buNone/>
            </a:pPr>
            <a:r>
              <a:rPr lang="en-US" sz="1800" b="1" dirty="0">
                <a:solidFill>
                  <a:srgbClr val="FFFFFF"/>
                </a:solidFill>
              </a:rPr>
              <a:t>EMP</a:t>
            </a:r>
            <a:endParaRPr lang="en-US" sz="1800" dirty="0"/>
          </a:p>
        </p:txBody>
      </p:sp>
      <p:sp>
        <p:nvSpPr>
          <p:cNvPr id="6" name="Text 4"/>
          <p:cNvSpPr/>
          <p:nvPr/>
        </p:nvSpPr>
        <p:spPr>
          <a:xfrm>
            <a:off x="5166360" y="3319272"/>
            <a:ext cx="1645920" cy="256032"/>
          </a:xfrm>
          <a:prstGeom prst="rect">
            <a:avLst/>
          </a:prstGeom>
          <a:noFill/>
          <a:ln/>
        </p:spPr>
        <p:txBody>
          <a:bodyPr wrap="square" lIns="0" tIns="0" rIns="0" bIns="0" rtlCol="0" anchor="ctr"/>
          <a:lstStyle/>
          <a:p>
            <a:pPr marL="0" indent="0" algn="ctr">
              <a:buNone/>
            </a:pPr>
            <a:r>
              <a:rPr lang="en-US" sz="1500" b="1" dirty="0">
                <a:solidFill>
                  <a:srgbClr val="0F172A"/>
                </a:solidFill>
                <a:latin typeface="Aptos" pitchFamily="34" charset="0"/>
                <a:ea typeface="Aptos" pitchFamily="34" charset="-122"/>
                <a:cs typeface="Aptos" pitchFamily="34" charset="-120"/>
              </a:rPr>
              <a:t>Employee</a:t>
            </a:r>
            <a:endParaRPr lang="en-US" sz="1500" dirty="0"/>
          </a:p>
        </p:txBody>
      </p:sp>
      <p:sp>
        <p:nvSpPr>
          <p:cNvPr id="7" name="Shape 5"/>
          <p:cNvSpPr/>
          <p:nvPr/>
        </p:nvSpPr>
        <p:spPr>
          <a:xfrm>
            <a:off x="658368" y="1444752"/>
            <a:ext cx="2542032" cy="1335024"/>
          </a:xfrm>
          <a:prstGeom prst="roundRect">
            <a:avLst>
              <a:gd name="adj" fmla="val 12329"/>
            </a:avLst>
          </a:prstGeom>
          <a:solidFill>
            <a:srgbClr val="FFFFFF"/>
          </a:solidFill>
          <a:ln w="12700">
            <a:solidFill>
              <a:srgbClr val="DCE3ED"/>
            </a:solidFill>
            <a:prstDash val="solid"/>
          </a:ln>
        </p:spPr>
      </p:sp>
      <p:sp>
        <p:nvSpPr>
          <p:cNvPr id="8" name="Shape 6"/>
          <p:cNvSpPr/>
          <p:nvPr/>
        </p:nvSpPr>
        <p:spPr>
          <a:xfrm>
            <a:off x="822960" y="1627632"/>
            <a:ext cx="384048" cy="384048"/>
          </a:xfrm>
          <a:prstGeom prst="ellipse">
            <a:avLst/>
          </a:prstGeom>
          <a:solidFill>
            <a:srgbClr val="F59E0B"/>
          </a:solidFill>
          <a:ln w="12700">
            <a:solidFill>
              <a:srgbClr val="F59E0B"/>
            </a:solidFill>
            <a:prstDash val="solid"/>
          </a:ln>
        </p:spPr>
      </p:sp>
      <p:sp>
        <p:nvSpPr>
          <p:cNvPr id="9" name="Text 7"/>
          <p:cNvSpPr/>
          <p:nvPr/>
        </p:nvSpPr>
        <p:spPr>
          <a:xfrm>
            <a:off x="832104" y="1655064"/>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HR</a:t>
            </a:r>
            <a:endParaRPr lang="en-US" sz="800" dirty="0"/>
          </a:p>
        </p:txBody>
      </p:sp>
      <p:sp>
        <p:nvSpPr>
          <p:cNvPr id="10" name="Text 8"/>
          <p:cNvSpPr/>
          <p:nvPr/>
        </p:nvSpPr>
        <p:spPr>
          <a:xfrm>
            <a:off x="1298448" y="1627632"/>
            <a:ext cx="1600200" cy="201168"/>
          </a:xfrm>
          <a:prstGeom prst="rect">
            <a:avLst/>
          </a:prstGeom>
          <a:noFill/>
          <a:ln/>
        </p:spPr>
        <p:txBody>
          <a:bodyPr wrap="square" lIns="0" tIns="0" rIns="0" bIns="0" rtlCol="0" anchor="ctr"/>
          <a:lstStyle/>
          <a:p>
            <a:pPr marL="0" indent="0">
              <a:buNone/>
            </a:pPr>
            <a:r>
              <a:rPr lang="en-US" sz="1140" b="1" dirty="0">
                <a:solidFill>
                  <a:srgbClr val="0F172A"/>
                </a:solidFill>
                <a:latin typeface="Aptos" pitchFamily="34" charset="0"/>
                <a:ea typeface="Aptos" pitchFamily="34" charset="-122"/>
                <a:cs typeface="Aptos" pitchFamily="34" charset="-120"/>
              </a:rPr>
              <a:t>HR / People</a:t>
            </a:r>
            <a:endParaRPr lang="en-US" sz="1140" dirty="0"/>
          </a:p>
        </p:txBody>
      </p:sp>
      <p:sp>
        <p:nvSpPr>
          <p:cNvPr id="11" name="Text 9"/>
          <p:cNvSpPr/>
          <p:nvPr/>
        </p:nvSpPr>
        <p:spPr>
          <a:xfrm>
            <a:off x="822960" y="2157984"/>
            <a:ext cx="2103120" cy="41148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Leave policy, benefits, onboarding</a:t>
            </a:r>
            <a:endParaRPr lang="en-US" sz="950" dirty="0"/>
          </a:p>
        </p:txBody>
      </p:sp>
      <p:sp>
        <p:nvSpPr>
          <p:cNvPr id="12" name="Shape 10"/>
          <p:cNvSpPr/>
          <p:nvPr/>
        </p:nvSpPr>
        <p:spPr>
          <a:xfrm>
            <a:off x="658368" y="3794760"/>
            <a:ext cx="2542032" cy="1335024"/>
          </a:xfrm>
          <a:prstGeom prst="roundRect">
            <a:avLst>
              <a:gd name="adj" fmla="val 12329"/>
            </a:avLst>
          </a:prstGeom>
          <a:solidFill>
            <a:srgbClr val="FFFFFF"/>
          </a:solidFill>
          <a:ln w="12700">
            <a:solidFill>
              <a:srgbClr val="DCE3ED"/>
            </a:solidFill>
            <a:prstDash val="solid"/>
          </a:ln>
        </p:spPr>
      </p:sp>
      <p:sp>
        <p:nvSpPr>
          <p:cNvPr id="13" name="Shape 11"/>
          <p:cNvSpPr/>
          <p:nvPr/>
        </p:nvSpPr>
        <p:spPr>
          <a:xfrm>
            <a:off x="822960" y="3977640"/>
            <a:ext cx="384048" cy="384048"/>
          </a:xfrm>
          <a:prstGeom prst="ellipse">
            <a:avLst/>
          </a:prstGeom>
          <a:solidFill>
            <a:srgbClr val="0F9D8C"/>
          </a:solidFill>
          <a:ln w="12700">
            <a:solidFill>
              <a:srgbClr val="0F9D8C"/>
            </a:solidFill>
            <a:prstDash val="solid"/>
          </a:ln>
        </p:spPr>
      </p:sp>
      <p:sp>
        <p:nvSpPr>
          <p:cNvPr id="14" name="Text 12"/>
          <p:cNvSpPr/>
          <p:nvPr/>
        </p:nvSpPr>
        <p:spPr>
          <a:xfrm>
            <a:off x="832104" y="4005072"/>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IT</a:t>
            </a:r>
            <a:endParaRPr lang="en-US" sz="800" dirty="0"/>
          </a:p>
        </p:txBody>
      </p:sp>
      <p:sp>
        <p:nvSpPr>
          <p:cNvPr id="15" name="Text 13"/>
          <p:cNvSpPr/>
          <p:nvPr/>
        </p:nvSpPr>
        <p:spPr>
          <a:xfrm>
            <a:off x="1298448" y="3977640"/>
            <a:ext cx="1600200" cy="201168"/>
          </a:xfrm>
          <a:prstGeom prst="rect">
            <a:avLst/>
          </a:prstGeom>
          <a:noFill/>
          <a:ln/>
        </p:spPr>
        <p:txBody>
          <a:bodyPr wrap="square" lIns="0" tIns="0" rIns="0" bIns="0" rtlCol="0" anchor="ctr"/>
          <a:lstStyle/>
          <a:p>
            <a:pPr marL="0" indent="0">
              <a:buNone/>
            </a:pPr>
            <a:r>
              <a:rPr lang="en-US" sz="1140" b="1" dirty="0">
                <a:solidFill>
                  <a:srgbClr val="0F172A"/>
                </a:solidFill>
                <a:latin typeface="Aptos" pitchFamily="34" charset="0"/>
                <a:ea typeface="Aptos" pitchFamily="34" charset="-122"/>
                <a:cs typeface="Aptos" pitchFamily="34" charset="-120"/>
              </a:rPr>
              <a:t>Technical team</a:t>
            </a:r>
            <a:endParaRPr lang="en-US" sz="1140" dirty="0"/>
          </a:p>
        </p:txBody>
      </p:sp>
      <p:sp>
        <p:nvSpPr>
          <p:cNvPr id="16" name="Text 14"/>
          <p:cNvSpPr/>
          <p:nvPr/>
        </p:nvSpPr>
        <p:spPr>
          <a:xfrm>
            <a:off x="822960" y="4507992"/>
            <a:ext cx="2103120" cy="41148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Manuals, SOPs, troubleshooting</a:t>
            </a:r>
            <a:endParaRPr lang="en-US" sz="950" dirty="0"/>
          </a:p>
        </p:txBody>
      </p:sp>
      <p:sp>
        <p:nvSpPr>
          <p:cNvPr id="17" name="Shape 15"/>
          <p:cNvSpPr/>
          <p:nvPr/>
        </p:nvSpPr>
        <p:spPr>
          <a:xfrm>
            <a:off x="8915400" y="1444752"/>
            <a:ext cx="2542032" cy="1335024"/>
          </a:xfrm>
          <a:prstGeom prst="roundRect">
            <a:avLst>
              <a:gd name="adj" fmla="val 12329"/>
            </a:avLst>
          </a:prstGeom>
          <a:solidFill>
            <a:srgbClr val="FFFFFF"/>
          </a:solidFill>
          <a:ln w="12700">
            <a:solidFill>
              <a:srgbClr val="DCE3ED"/>
            </a:solidFill>
            <a:prstDash val="solid"/>
          </a:ln>
        </p:spPr>
      </p:sp>
      <p:sp>
        <p:nvSpPr>
          <p:cNvPr id="18" name="Shape 16"/>
          <p:cNvSpPr/>
          <p:nvPr/>
        </p:nvSpPr>
        <p:spPr>
          <a:xfrm>
            <a:off x="9079992" y="1627632"/>
            <a:ext cx="384048" cy="384048"/>
          </a:xfrm>
          <a:prstGeom prst="ellipse">
            <a:avLst/>
          </a:prstGeom>
          <a:solidFill>
            <a:srgbClr val="7C3AED"/>
          </a:solidFill>
          <a:ln w="12700">
            <a:solidFill>
              <a:srgbClr val="7C3AED"/>
            </a:solidFill>
            <a:prstDash val="solid"/>
          </a:ln>
        </p:spPr>
      </p:sp>
      <p:sp>
        <p:nvSpPr>
          <p:cNvPr id="19" name="Text 17"/>
          <p:cNvSpPr/>
          <p:nvPr/>
        </p:nvSpPr>
        <p:spPr>
          <a:xfrm>
            <a:off x="9089136" y="1655064"/>
            <a:ext cx="365760" cy="329184"/>
          </a:xfrm>
          <a:prstGeom prst="rect">
            <a:avLst/>
          </a:prstGeom>
          <a:noFill/>
          <a:ln/>
        </p:spPr>
        <p:txBody>
          <a:bodyPr wrap="square" lIns="0" tIns="0" rIns="0" bIns="0" rtlCol="0" anchor="ctr"/>
          <a:lstStyle/>
          <a:p>
            <a:pPr marL="0" indent="0" algn="ctr">
              <a:buNone/>
            </a:pPr>
            <a:r>
              <a:rPr lang="en-US" sz="800" b="1" dirty="0">
                <a:solidFill>
                  <a:srgbClr val="FFFFFF"/>
                </a:solidFill>
              </a:rPr>
              <a:t>CS</a:t>
            </a:r>
            <a:endParaRPr lang="en-US" sz="800" dirty="0"/>
          </a:p>
        </p:txBody>
      </p:sp>
      <p:sp>
        <p:nvSpPr>
          <p:cNvPr id="20" name="Text 18"/>
          <p:cNvSpPr/>
          <p:nvPr/>
        </p:nvSpPr>
        <p:spPr>
          <a:xfrm>
            <a:off x="9555480" y="1627632"/>
            <a:ext cx="1600200" cy="201168"/>
          </a:xfrm>
          <a:prstGeom prst="rect">
            <a:avLst/>
          </a:prstGeom>
          <a:noFill/>
          <a:ln/>
        </p:spPr>
        <p:txBody>
          <a:bodyPr wrap="square" lIns="0" tIns="0" rIns="0" bIns="0" rtlCol="0" anchor="ctr"/>
          <a:lstStyle/>
          <a:p>
            <a:pPr marL="0" indent="0">
              <a:buNone/>
            </a:pPr>
            <a:r>
              <a:rPr lang="en-US" sz="1140" b="1" dirty="0">
                <a:solidFill>
                  <a:srgbClr val="0F172A"/>
                </a:solidFill>
                <a:latin typeface="Aptos" pitchFamily="34" charset="0"/>
                <a:ea typeface="Aptos" pitchFamily="34" charset="-122"/>
                <a:cs typeface="Aptos" pitchFamily="34" charset="-120"/>
              </a:rPr>
              <a:t>Support team</a:t>
            </a:r>
            <a:endParaRPr lang="en-US" sz="1140" dirty="0"/>
          </a:p>
        </p:txBody>
      </p:sp>
      <p:sp>
        <p:nvSpPr>
          <p:cNvPr id="21" name="Text 19"/>
          <p:cNvSpPr/>
          <p:nvPr/>
        </p:nvSpPr>
        <p:spPr>
          <a:xfrm>
            <a:off x="9079992" y="2157984"/>
            <a:ext cx="2103120" cy="41148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Product knowledge and FAQs</a:t>
            </a:r>
            <a:endParaRPr lang="en-US" sz="950" dirty="0"/>
          </a:p>
        </p:txBody>
      </p:sp>
      <p:sp>
        <p:nvSpPr>
          <p:cNvPr id="22" name="Shape 20"/>
          <p:cNvSpPr/>
          <p:nvPr/>
        </p:nvSpPr>
        <p:spPr>
          <a:xfrm>
            <a:off x="8915400" y="3662172"/>
            <a:ext cx="2563368" cy="1335024"/>
          </a:xfrm>
          <a:prstGeom prst="roundRect">
            <a:avLst>
              <a:gd name="adj" fmla="val 12329"/>
            </a:avLst>
          </a:prstGeom>
          <a:solidFill>
            <a:srgbClr val="FFFFFF"/>
          </a:solidFill>
          <a:ln w="12700">
            <a:solidFill>
              <a:srgbClr val="DCE3ED"/>
            </a:solidFill>
            <a:prstDash val="solid"/>
          </a:ln>
        </p:spPr>
      </p:sp>
      <p:sp>
        <p:nvSpPr>
          <p:cNvPr id="23" name="Shape 21"/>
          <p:cNvSpPr/>
          <p:nvPr/>
        </p:nvSpPr>
        <p:spPr>
          <a:xfrm>
            <a:off x="9079992" y="3977640"/>
            <a:ext cx="384048" cy="384048"/>
          </a:xfrm>
          <a:prstGeom prst="ellipse">
            <a:avLst/>
          </a:prstGeom>
          <a:solidFill>
            <a:srgbClr val="3B82F6"/>
          </a:solidFill>
          <a:ln w="12700">
            <a:solidFill>
              <a:srgbClr val="3B82F6"/>
            </a:solidFill>
            <a:prstDash val="solid"/>
          </a:ln>
        </p:spPr>
      </p:sp>
      <p:sp>
        <p:nvSpPr>
          <p:cNvPr id="24" name="Text 22"/>
          <p:cNvSpPr/>
          <p:nvPr/>
        </p:nvSpPr>
        <p:spPr>
          <a:xfrm>
            <a:off x="9089136" y="4005072"/>
            <a:ext cx="365760" cy="329184"/>
          </a:xfrm>
          <a:prstGeom prst="rect">
            <a:avLst/>
          </a:prstGeom>
          <a:noFill/>
          <a:ln/>
        </p:spPr>
        <p:txBody>
          <a:bodyPr wrap="square" lIns="0" tIns="0" rIns="0" bIns="0" rtlCol="0" anchor="ctr"/>
          <a:lstStyle/>
          <a:p>
            <a:pPr marL="0" indent="0" algn="ctr">
              <a:buNone/>
            </a:pPr>
            <a:r>
              <a:rPr lang="en-US" sz="660" b="1" dirty="0">
                <a:solidFill>
                  <a:srgbClr val="FFFFFF"/>
                </a:solidFill>
              </a:rPr>
              <a:t>MGR</a:t>
            </a:r>
            <a:endParaRPr lang="en-US" sz="660" dirty="0"/>
          </a:p>
        </p:txBody>
      </p:sp>
      <p:sp>
        <p:nvSpPr>
          <p:cNvPr id="25" name="Text 23"/>
          <p:cNvSpPr/>
          <p:nvPr/>
        </p:nvSpPr>
        <p:spPr>
          <a:xfrm>
            <a:off x="9555480" y="3977640"/>
            <a:ext cx="1600200" cy="201168"/>
          </a:xfrm>
          <a:prstGeom prst="rect">
            <a:avLst/>
          </a:prstGeom>
          <a:noFill/>
          <a:ln/>
        </p:spPr>
        <p:txBody>
          <a:bodyPr wrap="square" lIns="0" tIns="0" rIns="0" bIns="0" rtlCol="0" anchor="ctr"/>
          <a:lstStyle/>
          <a:p>
            <a:pPr marL="0" indent="0">
              <a:buNone/>
            </a:pPr>
            <a:r>
              <a:rPr lang="en-US" sz="1140" b="1" dirty="0">
                <a:solidFill>
                  <a:srgbClr val="0F172A"/>
                </a:solidFill>
                <a:latin typeface="Aptos" pitchFamily="34" charset="0"/>
                <a:ea typeface="Aptos" pitchFamily="34" charset="-122"/>
                <a:cs typeface="Aptos" pitchFamily="34" charset="-120"/>
              </a:rPr>
              <a:t>Managers</a:t>
            </a:r>
            <a:endParaRPr lang="en-US" sz="1140" dirty="0"/>
          </a:p>
        </p:txBody>
      </p:sp>
      <p:sp>
        <p:nvSpPr>
          <p:cNvPr id="26" name="Text 24"/>
          <p:cNvSpPr/>
          <p:nvPr/>
        </p:nvSpPr>
        <p:spPr>
          <a:xfrm>
            <a:off x="9079992" y="4507992"/>
            <a:ext cx="2103120" cy="41148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Authorized reports and guidelines</a:t>
            </a:r>
            <a:endParaRPr lang="en-US" sz="950" dirty="0"/>
          </a:p>
        </p:txBody>
      </p:sp>
      <p:sp>
        <p:nvSpPr>
          <p:cNvPr id="27" name="Shape 25"/>
          <p:cNvSpPr/>
          <p:nvPr/>
        </p:nvSpPr>
        <p:spPr>
          <a:xfrm>
            <a:off x="3200400" y="2103120"/>
            <a:ext cx="2148840" cy="411480"/>
          </a:xfrm>
          <a:prstGeom prst="line">
            <a:avLst/>
          </a:prstGeom>
          <a:noFill/>
          <a:ln w="17780">
            <a:solidFill>
              <a:srgbClr val="D9E1EC"/>
            </a:solidFill>
            <a:prstDash val="solid"/>
            <a:headEnd type="none"/>
            <a:tailEnd type="triangle"/>
          </a:ln>
        </p:spPr>
      </p:sp>
      <p:sp>
        <p:nvSpPr>
          <p:cNvPr id="28" name="Shape 26"/>
          <p:cNvSpPr/>
          <p:nvPr/>
        </p:nvSpPr>
        <p:spPr>
          <a:xfrm flipV="1">
            <a:off x="3200400" y="3319272"/>
            <a:ext cx="2148840" cy="1014984"/>
          </a:xfrm>
          <a:prstGeom prst="line">
            <a:avLst/>
          </a:prstGeom>
          <a:noFill/>
          <a:ln w="17780">
            <a:solidFill>
              <a:srgbClr val="D9E1EC"/>
            </a:solidFill>
            <a:prstDash val="solid"/>
            <a:headEnd type="none"/>
            <a:tailEnd type="triangle"/>
          </a:ln>
        </p:spPr>
        <p:txBody>
          <a:bodyPr/>
          <a:lstStyle/>
          <a:p>
            <a:endParaRPr lang="en-IN" dirty="0"/>
          </a:p>
        </p:txBody>
      </p:sp>
      <p:sp>
        <p:nvSpPr>
          <p:cNvPr id="29" name="Shape 27"/>
          <p:cNvSpPr/>
          <p:nvPr/>
        </p:nvSpPr>
        <p:spPr>
          <a:xfrm flipH="1">
            <a:off x="6766560" y="2002536"/>
            <a:ext cx="2139696" cy="502920"/>
          </a:xfrm>
          <a:prstGeom prst="line">
            <a:avLst/>
          </a:prstGeom>
          <a:noFill/>
          <a:ln w="17780">
            <a:solidFill>
              <a:srgbClr val="D9E1EC"/>
            </a:solidFill>
            <a:prstDash val="solid"/>
            <a:headEnd type="none"/>
            <a:tailEnd type="triangle"/>
          </a:ln>
        </p:spPr>
      </p:sp>
      <p:sp>
        <p:nvSpPr>
          <p:cNvPr id="30" name="Shape 28"/>
          <p:cNvSpPr/>
          <p:nvPr/>
        </p:nvSpPr>
        <p:spPr>
          <a:xfrm flipH="1" flipV="1">
            <a:off x="6766560" y="3319272"/>
            <a:ext cx="2148840" cy="1014984"/>
          </a:xfrm>
          <a:prstGeom prst="line">
            <a:avLst/>
          </a:prstGeom>
          <a:noFill/>
          <a:ln w="17780">
            <a:solidFill>
              <a:srgbClr val="D9E1EC"/>
            </a:solidFill>
            <a:prstDash val="solid"/>
            <a:headEnd type="none"/>
            <a:tailEnd type="triangle"/>
          </a:ln>
        </p:spPr>
      </p:sp>
      <p:sp>
        <p:nvSpPr>
          <p:cNvPr id="31" name="Shape 29"/>
          <p:cNvSpPr/>
          <p:nvPr/>
        </p:nvSpPr>
        <p:spPr>
          <a:xfrm>
            <a:off x="2651760" y="4864608"/>
            <a:ext cx="6903720" cy="822960"/>
          </a:xfrm>
          <a:prstGeom prst="roundRect">
            <a:avLst>
              <a:gd name="adj" fmla="val 20000"/>
            </a:avLst>
          </a:prstGeom>
          <a:solidFill>
            <a:srgbClr val="0F172A"/>
          </a:solidFill>
          <a:ln w="12700">
            <a:solidFill>
              <a:srgbClr val="0F172A"/>
            </a:solidFill>
            <a:prstDash val="solid"/>
          </a:ln>
        </p:spPr>
      </p:sp>
      <p:sp>
        <p:nvSpPr>
          <p:cNvPr id="32" name="Text 30"/>
          <p:cNvSpPr/>
          <p:nvPr/>
        </p:nvSpPr>
        <p:spPr>
          <a:xfrm>
            <a:off x="2971800" y="5102352"/>
            <a:ext cx="6263640"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Example: “What is the process for reporting a security incident?”</a:t>
            </a:r>
            <a:endParaRPr lang="en-US" sz="1300" dirty="0"/>
          </a:p>
        </p:txBody>
      </p:sp>
      <p:sp>
        <p:nvSpPr>
          <p:cNvPr id="33"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4. Proposed employee dashboard — what the user will see</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A clean chat workspace with recent conversations, authorized knowledge context, and visible citations.</a:t>
            </a:r>
            <a:endParaRPr lang="en-US" sz="1150" dirty="0"/>
          </a:p>
        </p:txBody>
      </p:sp>
      <p:sp>
        <p:nvSpPr>
          <p:cNvPr id="4" name="Shape 2"/>
          <p:cNvSpPr/>
          <p:nvPr/>
        </p:nvSpPr>
        <p:spPr>
          <a:xfrm>
            <a:off x="438912" y="1243584"/>
            <a:ext cx="11292840" cy="4919472"/>
          </a:xfrm>
          <a:prstGeom prst="roundRect">
            <a:avLst>
              <a:gd name="adj" fmla="val 3346"/>
            </a:avLst>
          </a:prstGeom>
          <a:solidFill>
            <a:srgbClr val="FFFFFF"/>
          </a:solidFill>
          <a:ln w="12700">
            <a:solidFill>
              <a:srgbClr val="CBD5E1"/>
            </a:solidFill>
            <a:prstDash val="solid"/>
          </a:ln>
        </p:spPr>
      </p:sp>
      <p:sp>
        <p:nvSpPr>
          <p:cNvPr id="5" name="Shape 3"/>
          <p:cNvSpPr/>
          <p:nvPr/>
        </p:nvSpPr>
        <p:spPr>
          <a:xfrm>
            <a:off x="438912" y="1243584"/>
            <a:ext cx="11292840" cy="411480"/>
          </a:xfrm>
          <a:prstGeom prst="rect">
            <a:avLst/>
          </a:prstGeom>
          <a:solidFill>
            <a:srgbClr val="E2E8F0"/>
          </a:solidFill>
          <a:ln w="12700">
            <a:solidFill>
              <a:srgbClr val="E2E8F0"/>
            </a:solidFill>
            <a:prstDash val="solid"/>
          </a:ln>
        </p:spPr>
      </p:sp>
      <p:sp>
        <p:nvSpPr>
          <p:cNvPr id="6" name="Shape 4"/>
          <p:cNvSpPr/>
          <p:nvPr/>
        </p:nvSpPr>
        <p:spPr>
          <a:xfrm>
            <a:off x="640080" y="1353312"/>
            <a:ext cx="82296" cy="82296"/>
          </a:xfrm>
          <a:prstGeom prst="ellipse">
            <a:avLst/>
          </a:prstGeom>
          <a:solidFill>
            <a:srgbClr val="EF4444"/>
          </a:solidFill>
          <a:ln w="12700">
            <a:solidFill>
              <a:srgbClr val="EF4444"/>
            </a:solidFill>
            <a:prstDash val="solid"/>
          </a:ln>
        </p:spPr>
      </p:sp>
      <p:sp>
        <p:nvSpPr>
          <p:cNvPr id="7" name="Text 5"/>
          <p:cNvSpPr/>
          <p:nvPr/>
        </p:nvSpPr>
        <p:spPr>
          <a:xfrm>
            <a:off x="649224" y="1380744"/>
            <a:ext cx="64008" cy="27432"/>
          </a:xfrm>
          <a:prstGeom prst="rect">
            <a:avLst/>
          </a:prstGeom>
          <a:noFill/>
          <a:ln/>
        </p:spPr>
        <p:txBody>
          <a:bodyPr wrap="square" lIns="0" tIns="0" rIns="0" bIns="0" rtlCol="0" anchor="ctr"/>
          <a:lstStyle/>
          <a:p>
            <a:pPr marL="0" indent="0" algn="ctr">
              <a:buNone/>
            </a:pPr>
            <a:endParaRPr lang="en-US" sz="1300" dirty="0"/>
          </a:p>
        </p:txBody>
      </p:sp>
      <p:sp>
        <p:nvSpPr>
          <p:cNvPr id="8" name="Shape 6"/>
          <p:cNvSpPr/>
          <p:nvPr/>
        </p:nvSpPr>
        <p:spPr>
          <a:xfrm>
            <a:off x="768096" y="1353312"/>
            <a:ext cx="82296" cy="82296"/>
          </a:xfrm>
          <a:prstGeom prst="ellipse">
            <a:avLst/>
          </a:prstGeom>
          <a:solidFill>
            <a:srgbClr val="F59E0B"/>
          </a:solidFill>
          <a:ln w="12700">
            <a:solidFill>
              <a:srgbClr val="F59E0B"/>
            </a:solidFill>
            <a:prstDash val="solid"/>
          </a:ln>
        </p:spPr>
      </p:sp>
      <p:sp>
        <p:nvSpPr>
          <p:cNvPr id="9" name="Text 7"/>
          <p:cNvSpPr/>
          <p:nvPr/>
        </p:nvSpPr>
        <p:spPr>
          <a:xfrm>
            <a:off x="777240" y="1380744"/>
            <a:ext cx="64008" cy="27432"/>
          </a:xfrm>
          <a:prstGeom prst="rect">
            <a:avLst/>
          </a:prstGeom>
          <a:noFill/>
          <a:ln/>
        </p:spPr>
        <p:txBody>
          <a:bodyPr wrap="square" lIns="0" tIns="0" rIns="0" bIns="0" rtlCol="0" anchor="ctr"/>
          <a:lstStyle/>
          <a:p>
            <a:pPr marL="0" indent="0" algn="ctr">
              <a:buNone/>
            </a:pPr>
            <a:endParaRPr lang="en-US" sz="1300" dirty="0"/>
          </a:p>
        </p:txBody>
      </p:sp>
      <p:sp>
        <p:nvSpPr>
          <p:cNvPr id="10" name="Shape 8"/>
          <p:cNvSpPr/>
          <p:nvPr/>
        </p:nvSpPr>
        <p:spPr>
          <a:xfrm>
            <a:off x="896112" y="1353312"/>
            <a:ext cx="82296" cy="82296"/>
          </a:xfrm>
          <a:prstGeom prst="ellipse">
            <a:avLst/>
          </a:prstGeom>
          <a:solidFill>
            <a:srgbClr val="22C55E"/>
          </a:solidFill>
          <a:ln w="12700">
            <a:solidFill>
              <a:srgbClr val="22C55E"/>
            </a:solidFill>
            <a:prstDash val="solid"/>
          </a:ln>
        </p:spPr>
      </p:sp>
      <p:sp>
        <p:nvSpPr>
          <p:cNvPr id="11" name="Text 9"/>
          <p:cNvSpPr/>
          <p:nvPr/>
        </p:nvSpPr>
        <p:spPr>
          <a:xfrm>
            <a:off x="905256" y="1380744"/>
            <a:ext cx="64008" cy="27432"/>
          </a:xfrm>
          <a:prstGeom prst="rect">
            <a:avLst/>
          </a:prstGeom>
          <a:noFill/>
          <a:ln/>
        </p:spPr>
        <p:txBody>
          <a:bodyPr wrap="square" lIns="0" tIns="0" rIns="0" bIns="0" rtlCol="0" anchor="ctr"/>
          <a:lstStyle/>
          <a:p>
            <a:pPr marL="0" indent="0" algn="ctr">
              <a:buNone/>
            </a:pPr>
            <a:endParaRPr lang="en-US" sz="1300" dirty="0"/>
          </a:p>
        </p:txBody>
      </p:sp>
      <p:sp>
        <p:nvSpPr>
          <p:cNvPr id="12" name="Text 10"/>
          <p:cNvSpPr/>
          <p:nvPr/>
        </p:nvSpPr>
        <p:spPr>
          <a:xfrm>
            <a:off x="1188720" y="1335024"/>
            <a:ext cx="2560320" cy="164592"/>
          </a:xfrm>
          <a:prstGeom prst="rect">
            <a:avLst/>
          </a:prstGeom>
          <a:noFill/>
          <a:ln/>
        </p:spPr>
        <p:txBody>
          <a:bodyPr wrap="square" lIns="0" tIns="0" rIns="0" bIns="0" rtlCol="0" anchor="ctr"/>
          <a:lstStyle/>
          <a:p>
            <a:pPr marL="0" indent="0">
              <a:buNone/>
            </a:pPr>
            <a:r>
              <a:rPr lang="en-US" sz="800" dirty="0">
                <a:solidFill>
                  <a:srgbClr val="64748B"/>
                </a:solidFill>
                <a:latin typeface="Aptos" pitchFamily="34" charset="0"/>
                <a:ea typeface="Aptos" pitchFamily="34" charset="-122"/>
                <a:cs typeface="Aptos" pitchFamily="34" charset="-120"/>
              </a:rPr>
              <a:t>enterprise-assistant.local</a:t>
            </a:r>
            <a:endParaRPr lang="en-US" sz="800" dirty="0"/>
          </a:p>
        </p:txBody>
      </p:sp>
      <p:sp>
        <p:nvSpPr>
          <p:cNvPr id="13" name="Shape 11"/>
          <p:cNvSpPr/>
          <p:nvPr/>
        </p:nvSpPr>
        <p:spPr>
          <a:xfrm>
            <a:off x="438912" y="1655064"/>
            <a:ext cx="2212848" cy="4507992"/>
          </a:xfrm>
          <a:prstGeom prst="rect">
            <a:avLst/>
          </a:prstGeom>
          <a:solidFill>
            <a:srgbClr val="0F172A"/>
          </a:solidFill>
          <a:ln w="12700">
            <a:solidFill>
              <a:srgbClr val="0F172A"/>
            </a:solidFill>
            <a:prstDash val="solid"/>
          </a:ln>
        </p:spPr>
      </p:sp>
      <p:sp>
        <p:nvSpPr>
          <p:cNvPr id="14" name="Text 12"/>
          <p:cNvSpPr/>
          <p:nvPr/>
        </p:nvSpPr>
        <p:spPr>
          <a:xfrm>
            <a:off x="704088" y="1901952"/>
            <a:ext cx="640080" cy="228600"/>
          </a:xfrm>
          <a:prstGeom prst="rect">
            <a:avLst/>
          </a:prstGeom>
          <a:noFill/>
          <a:ln/>
        </p:spPr>
        <p:txBody>
          <a:bodyPr wrap="square" lIns="0" tIns="0" rIns="0" bIns="0" rtlCol="0" anchor="ctr"/>
          <a:lstStyle/>
          <a:p>
            <a:pPr marL="0" indent="0">
              <a:buNone/>
            </a:pPr>
            <a:r>
              <a:rPr lang="en-US" sz="1500" b="1" dirty="0">
                <a:solidFill>
                  <a:srgbClr val="FFFFFF"/>
                </a:solidFill>
                <a:latin typeface="Aptos" pitchFamily="34" charset="0"/>
                <a:ea typeface="Aptos" pitchFamily="34" charset="-122"/>
                <a:cs typeface="Aptos" pitchFamily="34" charset="-120"/>
              </a:rPr>
              <a:t>EKA</a:t>
            </a:r>
            <a:endParaRPr lang="en-US" sz="1500" dirty="0"/>
          </a:p>
        </p:txBody>
      </p:sp>
      <p:sp>
        <p:nvSpPr>
          <p:cNvPr id="15" name="Text 13"/>
          <p:cNvSpPr/>
          <p:nvPr/>
        </p:nvSpPr>
        <p:spPr>
          <a:xfrm>
            <a:off x="704088" y="2194560"/>
            <a:ext cx="1536192" cy="310896"/>
          </a:xfrm>
          <a:prstGeom prst="rect">
            <a:avLst/>
          </a:prstGeom>
          <a:noFill/>
          <a:ln/>
        </p:spPr>
        <p:txBody>
          <a:bodyPr wrap="square" lIns="0" tIns="0" rIns="0" bIns="0" rtlCol="0" anchor="ctr"/>
          <a:lstStyle/>
          <a:p>
            <a:pPr marL="0" indent="0">
              <a:buNone/>
            </a:pPr>
            <a:r>
              <a:rPr lang="en-US" sz="790" dirty="0">
                <a:solidFill>
                  <a:srgbClr val="94A3B8"/>
                </a:solidFill>
                <a:latin typeface="Aptos" pitchFamily="34" charset="0"/>
                <a:ea typeface="Aptos" pitchFamily="34" charset="-122"/>
                <a:cs typeface="Aptos" pitchFamily="34" charset="-120"/>
              </a:rPr>
              <a:t>Enterprise Knowledge Assistant</a:t>
            </a:r>
            <a:endParaRPr lang="en-US" sz="790" dirty="0"/>
          </a:p>
        </p:txBody>
      </p:sp>
      <p:sp>
        <p:nvSpPr>
          <p:cNvPr id="16" name="Shape 14"/>
          <p:cNvSpPr/>
          <p:nvPr/>
        </p:nvSpPr>
        <p:spPr>
          <a:xfrm>
            <a:off x="685800" y="2670048"/>
            <a:ext cx="1051560" cy="301752"/>
          </a:xfrm>
          <a:prstGeom prst="roundRect">
            <a:avLst>
              <a:gd name="adj" fmla="val 48485"/>
            </a:avLst>
          </a:prstGeom>
          <a:solidFill>
            <a:srgbClr val="2563EB"/>
          </a:solidFill>
          <a:ln w="12700">
            <a:solidFill>
              <a:srgbClr val="2563EB"/>
            </a:solidFill>
            <a:prstDash val="solid"/>
          </a:ln>
        </p:spPr>
      </p:sp>
      <p:sp>
        <p:nvSpPr>
          <p:cNvPr id="17" name="Text 15"/>
          <p:cNvSpPr/>
          <p:nvPr/>
        </p:nvSpPr>
        <p:spPr>
          <a:xfrm>
            <a:off x="758952" y="2738628"/>
            <a:ext cx="905256" cy="137160"/>
          </a:xfrm>
          <a:prstGeom prst="rect">
            <a:avLst/>
          </a:prstGeom>
          <a:noFill/>
          <a:ln/>
        </p:spPr>
        <p:txBody>
          <a:bodyPr wrap="square" lIns="0" tIns="0" rIns="0" bIns="0" rtlCol="0" anchor="ctr"/>
          <a:lstStyle/>
          <a:p>
            <a:pPr marL="0" indent="0" algn="ctr">
              <a:buNone/>
            </a:pPr>
            <a:r>
              <a:rPr lang="en-US" sz="850" b="1" dirty="0">
                <a:solidFill>
                  <a:srgbClr val="FFFFFF"/>
                </a:solidFill>
              </a:rPr>
              <a:t>+  New chat</a:t>
            </a:r>
            <a:endParaRPr lang="en-US" sz="850" dirty="0"/>
          </a:p>
        </p:txBody>
      </p:sp>
      <p:sp>
        <p:nvSpPr>
          <p:cNvPr id="18" name="Text 16"/>
          <p:cNvSpPr/>
          <p:nvPr/>
        </p:nvSpPr>
        <p:spPr>
          <a:xfrm>
            <a:off x="694944" y="3172968"/>
            <a:ext cx="640080" cy="155448"/>
          </a:xfrm>
          <a:prstGeom prst="rect">
            <a:avLst/>
          </a:prstGeom>
          <a:noFill/>
          <a:ln/>
        </p:spPr>
        <p:txBody>
          <a:bodyPr wrap="square" lIns="0" tIns="0" rIns="0" bIns="0" rtlCol="0" anchor="ctr"/>
          <a:lstStyle/>
          <a:p>
            <a:pPr marL="0" indent="0">
              <a:buNone/>
            </a:pPr>
            <a:r>
              <a:rPr lang="en-US" sz="700" b="1" dirty="0">
                <a:solidFill>
                  <a:srgbClr val="94A3B8"/>
                </a:solidFill>
                <a:latin typeface="Aptos" pitchFamily="34" charset="0"/>
                <a:ea typeface="Aptos" pitchFamily="34" charset="-122"/>
                <a:cs typeface="Aptos" pitchFamily="34" charset="-120"/>
              </a:rPr>
              <a:t>RECENT</a:t>
            </a:r>
            <a:endParaRPr lang="en-US" sz="700" dirty="0"/>
          </a:p>
        </p:txBody>
      </p:sp>
      <p:sp>
        <p:nvSpPr>
          <p:cNvPr id="19" name="Shape 17"/>
          <p:cNvSpPr/>
          <p:nvPr/>
        </p:nvSpPr>
        <p:spPr>
          <a:xfrm>
            <a:off x="630936" y="3447288"/>
            <a:ext cx="1783080" cy="411480"/>
          </a:xfrm>
          <a:prstGeom prst="roundRect">
            <a:avLst>
              <a:gd name="adj" fmla="val 26667"/>
            </a:avLst>
          </a:prstGeom>
          <a:solidFill>
            <a:srgbClr val="1E293B"/>
          </a:solidFill>
          <a:ln w="12700">
            <a:solidFill>
              <a:srgbClr val="334155"/>
            </a:solidFill>
            <a:prstDash val="solid"/>
          </a:ln>
        </p:spPr>
      </p:sp>
      <p:sp>
        <p:nvSpPr>
          <p:cNvPr id="20" name="Text 18"/>
          <p:cNvSpPr/>
          <p:nvPr/>
        </p:nvSpPr>
        <p:spPr>
          <a:xfrm>
            <a:off x="749808" y="3547872"/>
            <a:ext cx="1143000" cy="137160"/>
          </a:xfrm>
          <a:prstGeom prst="rect">
            <a:avLst/>
          </a:prstGeom>
          <a:noFill/>
          <a:ln/>
        </p:spPr>
        <p:txBody>
          <a:bodyPr wrap="square" lIns="0" tIns="0" rIns="0" bIns="0" rtlCol="0" anchor="ctr"/>
          <a:lstStyle/>
          <a:p>
            <a:pPr marL="0" indent="0">
              <a:buNone/>
            </a:pPr>
            <a:r>
              <a:rPr lang="en-US" sz="810" dirty="0">
                <a:solidFill>
                  <a:srgbClr val="E2E8F0"/>
                </a:solidFill>
                <a:latin typeface="Aptos" pitchFamily="34" charset="0"/>
                <a:ea typeface="Aptos" pitchFamily="34" charset="-122"/>
                <a:cs typeface="Aptos" pitchFamily="34" charset="-120"/>
              </a:rPr>
              <a:t>WFH policy</a:t>
            </a:r>
            <a:endParaRPr lang="en-US" sz="810" dirty="0"/>
          </a:p>
        </p:txBody>
      </p:sp>
      <p:sp>
        <p:nvSpPr>
          <p:cNvPr id="21" name="Text 19"/>
          <p:cNvSpPr/>
          <p:nvPr/>
        </p:nvSpPr>
        <p:spPr>
          <a:xfrm>
            <a:off x="1883664" y="3547872"/>
            <a:ext cx="384048" cy="137160"/>
          </a:xfrm>
          <a:prstGeom prst="rect">
            <a:avLst/>
          </a:prstGeom>
          <a:noFill/>
          <a:ln/>
        </p:spPr>
        <p:txBody>
          <a:bodyPr wrap="square" lIns="0" tIns="0" rIns="0" bIns="0" rtlCol="0" anchor="ctr"/>
          <a:lstStyle/>
          <a:p>
            <a:pPr marL="0" indent="0" algn="r">
              <a:buNone/>
            </a:pPr>
            <a:r>
              <a:rPr lang="en-US" sz="660" dirty="0">
                <a:solidFill>
                  <a:srgbClr val="94A3B8"/>
                </a:solidFill>
                <a:latin typeface="Aptos" pitchFamily="34" charset="0"/>
                <a:ea typeface="Aptos" pitchFamily="34" charset="-122"/>
                <a:cs typeface="Aptos" pitchFamily="34" charset="-120"/>
              </a:rPr>
              <a:t>Now</a:t>
            </a:r>
            <a:endParaRPr lang="en-US" sz="660" dirty="0"/>
          </a:p>
        </p:txBody>
      </p:sp>
      <p:sp>
        <p:nvSpPr>
          <p:cNvPr id="22" name="Shape 20"/>
          <p:cNvSpPr/>
          <p:nvPr/>
        </p:nvSpPr>
        <p:spPr>
          <a:xfrm>
            <a:off x="630936" y="3977640"/>
            <a:ext cx="1783080" cy="411480"/>
          </a:xfrm>
          <a:prstGeom prst="roundRect">
            <a:avLst>
              <a:gd name="adj" fmla="val 26667"/>
            </a:avLst>
          </a:prstGeom>
          <a:solidFill>
            <a:srgbClr val="111827"/>
          </a:solidFill>
          <a:ln w="12700">
            <a:solidFill>
              <a:srgbClr val="111827"/>
            </a:solidFill>
            <a:prstDash val="solid"/>
          </a:ln>
        </p:spPr>
      </p:sp>
      <p:sp>
        <p:nvSpPr>
          <p:cNvPr id="23" name="Text 21"/>
          <p:cNvSpPr/>
          <p:nvPr/>
        </p:nvSpPr>
        <p:spPr>
          <a:xfrm>
            <a:off x="749808" y="4078224"/>
            <a:ext cx="1143000" cy="137160"/>
          </a:xfrm>
          <a:prstGeom prst="rect">
            <a:avLst/>
          </a:prstGeom>
          <a:noFill/>
          <a:ln/>
        </p:spPr>
        <p:txBody>
          <a:bodyPr wrap="square" lIns="0" tIns="0" rIns="0" bIns="0" rtlCol="0" anchor="ctr"/>
          <a:lstStyle/>
          <a:p>
            <a:pPr marL="0" indent="0">
              <a:buNone/>
            </a:pPr>
            <a:r>
              <a:rPr lang="en-US" sz="810" dirty="0">
                <a:solidFill>
                  <a:srgbClr val="E2E8F0"/>
                </a:solidFill>
                <a:latin typeface="Aptos" pitchFamily="34" charset="0"/>
                <a:ea typeface="Aptos" pitchFamily="34" charset="-122"/>
                <a:cs typeface="Aptos" pitchFamily="34" charset="-120"/>
              </a:rPr>
              <a:t>Security SOP</a:t>
            </a:r>
            <a:endParaRPr lang="en-US" sz="810" dirty="0"/>
          </a:p>
        </p:txBody>
      </p:sp>
      <p:sp>
        <p:nvSpPr>
          <p:cNvPr id="24" name="Text 22"/>
          <p:cNvSpPr/>
          <p:nvPr/>
        </p:nvSpPr>
        <p:spPr>
          <a:xfrm>
            <a:off x="1883664" y="4078224"/>
            <a:ext cx="384048" cy="137160"/>
          </a:xfrm>
          <a:prstGeom prst="rect">
            <a:avLst/>
          </a:prstGeom>
          <a:noFill/>
          <a:ln/>
        </p:spPr>
        <p:txBody>
          <a:bodyPr wrap="square" lIns="0" tIns="0" rIns="0" bIns="0" rtlCol="0" anchor="ctr"/>
          <a:lstStyle/>
          <a:p>
            <a:pPr marL="0" indent="0" algn="r">
              <a:buNone/>
            </a:pPr>
            <a:r>
              <a:rPr lang="en-US" sz="660" dirty="0">
                <a:solidFill>
                  <a:srgbClr val="94A3B8"/>
                </a:solidFill>
                <a:latin typeface="Aptos" pitchFamily="34" charset="0"/>
                <a:ea typeface="Aptos" pitchFamily="34" charset="-122"/>
                <a:cs typeface="Aptos" pitchFamily="34" charset="-120"/>
              </a:rPr>
              <a:t>Yesterday</a:t>
            </a:r>
            <a:endParaRPr lang="en-US" sz="660" dirty="0"/>
          </a:p>
        </p:txBody>
      </p:sp>
      <p:sp>
        <p:nvSpPr>
          <p:cNvPr id="25" name="Shape 23"/>
          <p:cNvSpPr/>
          <p:nvPr/>
        </p:nvSpPr>
        <p:spPr>
          <a:xfrm>
            <a:off x="630936" y="4507992"/>
            <a:ext cx="1783080" cy="411480"/>
          </a:xfrm>
          <a:prstGeom prst="roundRect">
            <a:avLst>
              <a:gd name="adj" fmla="val 26667"/>
            </a:avLst>
          </a:prstGeom>
          <a:solidFill>
            <a:srgbClr val="111827"/>
          </a:solidFill>
          <a:ln w="12700">
            <a:solidFill>
              <a:srgbClr val="111827"/>
            </a:solidFill>
            <a:prstDash val="solid"/>
          </a:ln>
        </p:spPr>
      </p:sp>
      <p:sp>
        <p:nvSpPr>
          <p:cNvPr id="26" name="Text 24"/>
          <p:cNvSpPr/>
          <p:nvPr/>
        </p:nvSpPr>
        <p:spPr>
          <a:xfrm>
            <a:off x="749808" y="4608576"/>
            <a:ext cx="1143000" cy="137160"/>
          </a:xfrm>
          <a:prstGeom prst="rect">
            <a:avLst/>
          </a:prstGeom>
          <a:noFill/>
          <a:ln/>
        </p:spPr>
        <p:txBody>
          <a:bodyPr wrap="square" lIns="0" tIns="0" rIns="0" bIns="0" rtlCol="0" anchor="ctr"/>
          <a:lstStyle/>
          <a:p>
            <a:pPr marL="0" indent="0">
              <a:buNone/>
            </a:pPr>
            <a:r>
              <a:rPr lang="en-US" sz="810" dirty="0">
                <a:solidFill>
                  <a:srgbClr val="E2E8F0"/>
                </a:solidFill>
                <a:latin typeface="Aptos" pitchFamily="34" charset="0"/>
                <a:ea typeface="Aptos" pitchFamily="34" charset="-122"/>
                <a:cs typeface="Aptos" pitchFamily="34" charset="-120"/>
              </a:rPr>
              <a:t>Travel policy</a:t>
            </a:r>
            <a:endParaRPr lang="en-US" sz="810" dirty="0"/>
          </a:p>
        </p:txBody>
      </p:sp>
      <p:sp>
        <p:nvSpPr>
          <p:cNvPr id="27" name="Text 25"/>
          <p:cNvSpPr/>
          <p:nvPr/>
        </p:nvSpPr>
        <p:spPr>
          <a:xfrm>
            <a:off x="1883664" y="4608576"/>
            <a:ext cx="384048" cy="137160"/>
          </a:xfrm>
          <a:prstGeom prst="rect">
            <a:avLst/>
          </a:prstGeom>
          <a:noFill/>
          <a:ln/>
        </p:spPr>
        <p:txBody>
          <a:bodyPr wrap="square" lIns="0" tIns="0" rIns="0" bIns="0" rtlCol="0" anchor="ctr"/>
          <a:lstStyle/>
          <a:p>
            <a:pPr marL="0" indent="0" algn="r">
              <a:buNone/>
            </a:pPr>
            <a:r>
              <a:rPr lang="en-US" sz="660" dirty="0">
                <a:solidFill>
                  <a:srgbClr val="94A3B8"/>
                </a:solidFill>
                <a:latin typeface="Aptos" pitchFamily="34" charset="0"/>
                <a:ea typeface="Aptos" pitchFamily="34" charset="-122"/>
                <a:cs typeface="Aptos" pitchFamily="34" charset="-120"/>
              </a:rPr>
              <a:t>Mon</a:t>
            </a:r>
            <a:endParaRPr lang="en-US" sz="660" dirty="0"/>
          </a:p>
        </p:txBody>
      </p:sp>
      <p:sp>
        <p:nvSpPr>
          <p:cNvPr id="28" name="Shape 26"/>
          <p:cNvSpPr/>
          <p:nvPr/>
        </p:nvSpPr>
        <p:spPr>
          <a:xfrm>
            <a:off x="685800" y="5559552"/>
            <a:ext cx="1005840" cy="301752"/>
          </a:xfrm>
          <a:prstGeom prst="roundRect">
            <a:avLst>
              <a:gd name="adj" fmla="val 48485"/>
            </a:avLst>
          </a:prstGeom>
          <a:solidFill>
            <a:srgbClr val="1E293B"/>
          </a:solidFill>
          <a:ln w="12700">
            <a:solidFill>
              <a:srgbClr val="1E293B"/>
            </a:solidFill>
            <a:prstDash val="solid"/>
          </a:ln>
        </p:spPr>
      </p:sp>
      <p:sp>
        <p:nvSpPr>
          <p:cNvPr id="29" name="Text 27"/>
          <p:cNvSpPr/>
          <p:nvPr/>
        </p:nvSpPr>
        <p:spPr>
          <a:xfrm>
            <a:off x="758952" y="5628132"/>
            <a:ext cx="859536" cy="137160"/>
          </a:xfrm>
          <a:prstGeom prst="rect">
            <a:avLst/>
          </a:prstGeom>
          <a:noFill/>
          <a:ln/>
        </p:spPr>
        <p:txBody>
          <a:bodyPr wrap="square" lIns="0" tIns="0" rIns="0" bIns="0" rtlCol="0" anchor="ctr"/>
          <a:lstStyle/>
          <a:p>
            <a:pPr marL="0" indent="0" algn="ctr">
              <a:buNone/>
            </a:pPr>
            <a:r>
              <a:rPr lang="en-US" sz="850" b="1" dirty="0">
                <a:solidFill>
                  <a:srgbClr val="CBD5E1"/>
                </a:solidFill>
              </a:rPr>
              <a:t>Employee</a:t>
            </a:r>
            <a:endParaRPr lang="en-US" sz="850" dirty="0"/>
          </a:p>
        </p:txBody>
      </p:sp>
      <p:sp>
        <p:nvSpPr>
          <p:cNvPr id="30" name="Text 28"/>
          <p:cNvSpPr/>
          <p:nvPr/>
        </p:nvSpPr>
        <p:spPr>
          <a:xfrm>
            <a:off x="2971800" y="1874520"/>
            <a:ext cx="3474720" cy="246888"/>
          </a:xfrm>
          <a:prstGeom prst="rect">
            <a:avLst/>
          </a:prstGeom>
          <a:noFill/>
          <a:ln/>
        </p:spPr>
        <p:txBody>
          <a:bodyPr wrap="square" lIns="0" tIns="0" rIns="0" bIns="0" rtlCol="0" anchor="ctr"/>
          <a:lstStyle/>
          <a:p>
            <a:pPr marL="0" indent="0">
              <a:buNone/>
            </a:pPr>
            <a:r>
              <a:rPr lang="en-US" sz="1800" b="1" dirty="0">
                <a:solidFill>
                  <a:srgbClr val="0F172A"/>
                </a:solidFill>
                <a:latin typeface="Aptos" pitchFamily="34" charset="0"/>
                <a:ea typeface="Aptos" pitchFamily="34" charset="-122"/>
                <a:cs typeface="Aptos" pitchFamily="34" charset="-120"/>
              </a:rPr>
              <a:t>Good afternoon, Priya</a:t>
            </a:r>
            <a:endParaRPr lang="en-US" sz="1800" dirty="0"/>
          </a:p>
        </p:txBody>
      </p:sp>
      <p:sp>
        <p:nvSpPr>
          <p:cNvPr id="31" name="Text 29"/>
          <p:cNvSpPr/>
          <p:nvPr/>
        </p:nvSpPr>
        <p:spPr>
          <a:xfrm>
            <a:off x="2971800" y="2203704"/>
            <a:ext cx="4937760" cy="210312"/>
          </a:xfrm>
          <a:prstGeom prst="rect">
            <a:avLst/>
          </a:prstGeom>
          <a:noFill/>
          <a:ln/>
        </p:spPr>
        <p:txBody>
          <a:bodyPr wrap="square" lIns="0" tIns="0" rIns="0" bIns="0" rtlCol="0" anchor="ctr"/>
          <a:lstStyle/>
          <a:p>
            <a:pPr marL="0" indent="0">
              <a:buNone/>
            </a:pPr>
            <a:r>
              <a:rPr lang="en-US" sz="1060" dirty="0">
                <a:solidFill>
                  <a:srgbClr val="64748B"/>
                </a:solidFill>
                <a:latin typeface="Aptos" pitchFamily="34" charset="0"/>
                <a:ea typeface="Aptos" pitchFamily="34" charset="-122"/>
                <a:cs typeface="Aptos" pitchFamily="34" charset="-120"/>
              </a:rPr>
              <a:t>Ask a question about your authorized company knowledge.</a:t>
            </a:r>
            <a:endParaRPr lang="en-US" sz="1060" dirty="0"/>
          </a:p>
        </p:txBody>
      </p:sp>
      <p:sp>
        <p:nvSpPr>
          <p:cNvPr id="32" name="Shape 30"/>
          <p:cNvSpPr/>
          <p:nvPr/>
        </p:nvSpPr>
        <p:spPr>
          <a:xfrm>
            <a:off x="2944368" y="2679192"/>
            <a:ext cx="5029200" cy="640080"/>
          </a:xfrm>
          <a:prstGeom prst="roundRect">
            <a:avLst>
              <a:gd name="adj" fmla="val 20000"/>
            </a:avLst>
          </a:prstGeom>
          <a:solidFill>
            <a:srgbClr val="FFFFFF"/>
          </a:solidFill>
          <a:ln w="15240">
            <a:solidFill>
              <a:srgbClr val="CBD5E1"/>
            </a:solidFill>
            <a:prstDash val="solid"/>
          </a:ln>
        </p:spPr>
      </p:sp>
      <p:sp>
        <p:nvSpPr>
          <p:cNvPr id="33" name="Text 31"/>
          <p:cNvSpPr/>
          <p:nvPr/>
        </p:nvSpPr>
        <p:spPr>
          <a:xfrm>
            <a:off x="3182112" y="2898648"/>
            <a:ext cx="4160520" cy="182880"/>
          </a:xfrm>
          <a:prstGeom prst="rect">
            <a:avLst/>
          </a:prstGeom>
          <a:noFill/>
          <a:ln/>
        </p:spPr>
        <p:txBody>
          <a:bodyPr wrap="square" lIns="0" tIns="0" rIns="0" bIns="0" rtlCol="0" anchor="ctr"/>
          <a:lstStyle/>
          <a:p>
            <a:pPr marL="0" indent="0">
              <a:buNone/>
            </a:pPr>
            <a:r>
              <a:rPr lang="en-US" sz="1040" dirty="0">
                <a:solidFill>
                  <a:srgbClr val="1E293B"/>
                </a:solidFill>
                <a:latin typeface="Aptos" pitchFamily="34" charset="0"/>
                <a:ea typeface="Aptos" pitchFamily="34" charset="-122"/>
                <a:cs typeface="Aptos" pitchFamily="34" charset="-120"/>
              </a:rPr>
              <a:t>What is the work-from-home policy?</a:t>
            </a:r>
            <a:endParaRPr lang="en-US" sz="1040" dirty="0"/>
          </a:p>
        </p:txBody>
      </p:sp>
      <p:sp>
        <p:nvSpPr>
          <p:cNvPr id="34" name="Shape 32"/>
          <p:cNvSpPr/>
          <p:nvPr/>
        </p:nvSpPr>
        <p:spPr>
          <a:xfrm>
            <a:off x="7571232" y="2871216"/>
            <a:ext cx="256032" cy="256032"/>
          </a:xfrm>
          <a:prstGeom prst="ellipse">
            <a:avLst/>
          </a:prstGeom>
          <a:solidFill>
            <a:srgbClr val="2563EB"/>
          </a:solidFill>
          <a:ln w="12700">
            <a:solidFill>
              <a:srgbClr val="2563EB"/>
            </a:solidFill>
            <a:prstDash val="solid"/>
          </a:ln>
        </p:spPr>
      </p:sp>
      <p:sp>
        <p:nvSpPr>
          <p:cNvPr id="35" name="Text 33"/>
          <p:cNvSpPr/>
          <p:nvPr/>
        </p:nvSpPr>
        <p:spPr>
          <a:xfrm>
            <a:off x="7580376" y="2898648"/>
            <a:ext cx="237744" cy="201168"/>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36" name="Shape 34"/>
          <p:cNvSpPr/>
          <p:nvPr/>
        </p:nvSpPr>
        <p:spPr>
          <a:xfrm>
            <a:off x="2944368" y="3511296"/>
            <a:ext cx="5029200" cy="1600200"/>
          </a:xfrm>
          <a:prstGeom prst="roundRect">
            <a:avLst>
              <a:gd name="adj" fmla="val 9143"/>
            </a:avLst>
          </a:prstGeom>
          <a:solidFill>
            <a:srgbClr val="F8FAFC"/>
          </a:solidFill>
          <a:ln w="12700">
            <a:solidFill>
              <a:srgbClr val="DCE3ED"/>
            </a:solidFill>
            <a:prstDash val="solid"/>
          </a:ln>
        </p:spPr>
      </p:sp>
      <p:sp>
        <p:nvSpPr>
          <p:cNvPr id="37" name="Shape 35"/>
          <p:cNvSpPr/>
          <p:nvPr/>
        </p:nvSpPr>
        <p:spPr>
          <a:xfrm>
            <a:off x="3154680" y="3703320"/>
            <a:ext cx="804672" cy="301752"/>
          </a:xfrm>
          <a:prstGeom prst="roundRect">
            <a:avLst>
              <a:gd name="adj" fmla="val 48485"/>
            </a:avLst>
          </a:prstGeom>
          <a:solidFill>
            <a:srgbClr val="2563EB"/>
          </a:solidFill>
          <a:ln w="12700">
            <a:solidFill>
              <a:srgbClr val="2563EB"/>
            </a:solidFill>
            <a:prstDash val="solid"/>
          </a:ln>
        </p:spPr>
      </p:sp>
      <p:sp>
        <p:nvSpPr>
          <p:cNvPr id="38" name="Text 36"/>
          <p:cNvSpPr/>
          <p:nvPr/>
        </p:nvSpPr>
        <p:spPr>
          <a:xfrm>
            <a:off x="3227832" y="3771900"/>
            <a:ext cx="658368" cy="137160"/>
          </a:xfrm>
          <a:prstGeom prst="rect">
            <a:avLst/>
          </a:prstGeom>
          <a:noFill/>
          <a:ln/>
        </p:spPr>
        <p:txBody>
          <a:bodyPr wrap="square" lIns="0" tIns="0" rIns="0" bIns="0" rtlCol="0" anchor="ctr"/>
          <a:lstStyle/>
          <a:p>
            <a:pPr marL="0" indent="0" algn="ctr">
              <a:buNone/>
            </a:pPr>
            <a:r>
              <a:rPr lang="en-US" sz="850" b="1" dirty="0">
                <a:solidFill>
                  <a:srgbClr val="FFFFFF"/>
                </a:solidFill>
              </a:rPr>
              <a:t>AI ANSWER</a:t>
            </a:r>
            <a:endParaRPr lang="en-US" sz="850" dirty="0"/>
          </a:p>
        </p:txBody>
      </p:sp>
      <p:sp>
        <p:nvSpPr>
          <p:cNvPr id="39" name="Text 37"/>
          <p:cNvSpPr/>
          <p:nvPr/>
        </p:nvSpPr>
        <p:spPr>
          <a:xfrm>
            <a:off x="3163824" y="4151376"/>
            <a:ext cx="4334256" cy="219456"/>
          </a:xfrm>
          <a:prstGeom prst="rect">
            <a:avLst/>
          </a:prstGeom>
          <a:noFill/>
          <a:ln/>
        </p:spPr>
        <p:txBody>
          <a:bodyPr wrap="square" lIns="0" tIns="0" rIns="0" bIns="0" rtlCol="0" anchor="ctr"/>
          <a:lstStyle/>
          <a:p>
            <a:pPr marL="0" indent="0">
              <a:buNone/>
            </a:pPr>
            <a:r>
              <a:rPr lang="en-US" sz="1080" b="1" dirty="0">
                <a:solidFill>
                  <a:srgbClr val="0F172A"/>
                </a:solidFill>
                <a:latin typeface="Aptos" pitchFamily="34" charset="0"/>
                <a:ea typeface="Aptos" pitchFamily="34" charset="-122"/>
                <a:cs typeface="Aptos" pitchFamily="34" charset="-120"/>
              </a:rPr>
              <a:t>Employees may work remotely up to 2 days per week,</a:t>
            </a:r>
            <a:endParaRPr lang="en-US" sz="1080" dirty="0"/>
          </a:p>
        </p:txBody>
      </p:sp>
      <p:sp>
        <p:nvSpPr>
          <p:cNvPr id="40" name="Text 38"/>
          <p:cNvSpPr/>
          <p:nvPr/>
        </p:nvSpPr>
        <p:spPr>
          <a:xfrm>
            <a:off x="3163824" y="4434840"/>
            <a:ext cx="4334256" cy="219456"/>
          </a:xfrm>
          <a:prstGeom prst="rect">
            <a:avLst/>
          </a:prstGeom>
          <a:noFill/>
          <a:ln/>
        </p:spPr>
        <p:txBody>
          <a:bodyPr wrap="square" lIns="0" tIns="0" rIns="0" bIns="0" rtlCol="0" anchor="ctr"/>
          <a:lstStyle/>
          <a:p>
            <a:pPr marL="0" indent="0">
              <a:buNone/>
            </a:pPr>
            <a:r>
              <a:rPr lang="en-US" sz="1080" dirty="0">
                <a:solidFill>
                  <a:srgbClr val="1E293B"/>
                </a:solidFill>
                <a:latin typeface="Aptos" pitchFamily="34" charset="0"/>
                <a:ea typeface="Aptos" pitchFamily="34" charset="-122"/>
                <a:cs typeface="Aptos" pitchFamily="34" charset="-120"/>
              </a:rPr>
              <a:t>subject to manager approval and team requirements.</a:t>
            </a:r>
            <a:endParaRPr lang="en-US" sz="1080" dirty="0"/>
          </a:p>
        </p:txBody>
      </p:sp>
      <p:sp>
        <p:nvSpPr>
          <p:cNvPr id="41" name="Shape 39"/>
          <p:cNvSpPr/>
          <p:nvPr/>
        </p:nvSpPr>
        <p:spPr>
          <a:xfrm>
            <a:off x="3163824" y="4754880"/>
            <a:ext cx="4297680" cy="256032"/>
          </a:xfrm>
          <a:prstGeom prst="roundRect">
            <a:avLst>
              <a:gd name="adj" fmla="val 35714"/>
            </a:avLst>
          </a:prstGeom>
          <a:solidFill>
            <a:srgbClr val="EAF2FF"/>
          </a:solidFill>
          <a:ln w="12700">
            <a:solidFill>
              <a:srgbClr val="EAF2FF"/>
            </a:solidFill>
            <a:prstDash val="solid"/>
          </a:ln>
        </p:spPr>
      </p:sp>
      <p:sp>
        <p:nvSpPr>
          <p:cNvPr id="42" name="Text 40"/>
          <p:cNvSpPr/>
          <p:nvPr/>
        </p:nvSpPr>
        <p:spPr>
          <a:xfrm>
            <a:off x="3273552" y="4818888"/>
            <a:ext cx="4069080" cy="109728"/>
          </a:xfrm>
          <a:prstGeom prst="rect">
            <a:avLst/>
          </a:prstGeom>
          <a:noFill/>
          <a:ln/>
        </p:spPr>
        <p:txBody>
          <a:bodyPr wrap="square" lIns="0" tIns="0" rIns="0" bIns="0" rtlCol="0" anchor="ctr"/>
          <a:lstStyle/>
          <a:p>
            <a:pPr marL="0" indent="0">
              <a:buNone/>
            </a:pPr>
            <a:r>
              <a:rPr lang="en-US" sz="740" b="1" dirty="0">
                <a:solidFill>
                  <a:srgbClr val="2563EB"/>
                </a:solidFill>
                <a:latin typeface="Aptos" pitchFamily="34" charset="0"/>
                <a:ea typeface="Aptos" pitchFamily="34" charset="-122"/>
                <a:cs typeface="Aptos" pitchFamily="34" charset="-120"/>
              </a:rPr>
              <a:t>Source  HR Policy.pdf  •  Page 12  •  View source</a:t>
            </a:r>
            <a:endParaRPr lang="en-US" sz="740" dirty="0"/>
          </a:p>
        </p:txBody>
      </p:sp>
      <p:sp>
        <p:nvSpPr>
          <p:cNvPr id="43" name="Shape 41"/>
          <p:cNvSpPr/>
          <p:nvPr/>
        </p:nvSpPr>
        <p:spPr>
          <a:xfrm>
            <a:off x="8247888" y="1874520"/>
            <a:ext cx="3017520" cy="3236976"/>
          </a:xfrm>
          <a:prstGeom prst="roundRect">
            <a:avLst>
              <a:gd name="adj" fmla="val 5455"/>
            </a:avLst>
          </a:prstGeom>
          <a:solidFill>
            <a:srgbClr val="FFFFFF"/>
          </a:solidFill>
          <a:ln w="12700">
            <a:solidFill>
              <a:srgbClr val="DCE3ED"/>
            </a:solidFill>
            <a:prstDash val="solid"/>
          </a:ln>
        </p:spPr>
      </p:sp>
      <p:sp>
        <p:nvSpPr>
          <p:cNvPr id="44" name="Text 42"/>
          <p:cNvSpPr/>
          <p:nvPr/>
        </p:nvSpPr>
        <p:spPr>
          <a:xfrm>
            <a:off x="8503920" y="2139696"/>
            <a:ext cx="2057400"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Knowledge context</a:t>
            </a:r>
            <a:endParaRPr lang="en-US" sz="1150" dirty="0"/>
          </a:p>
        </p:txBody>
      </p:sp>
      <p:sp>
        <p:nvSpPr>
          <p:cNvPr id="45" name="Shape 43"/>
          <p:cNvSpPr/>
          <p:nvPr/>
        </p:nvSpPr>
        <p:spPr>
          <a:xfrm>
            <a:off x="8503920" y="2487168"/>
            <a:ext cx="1124712" cy="301752"/>
          </a:xfrm>
          <a:prstGeom prst="roundRect">
            <a:avLst>
              <a:gd name="adj" fmla="val 48485"/>
            </a:avLst>
          </a:prstGeom>
          <a:solidFill>
            <a:srgbClr val="EAF8EF"/>
          </a:solidFill>
          <a:ln w="12700">
            <a:solidFill>
              <a:srgbClr val="EAF8EF"/>
            </a:solidFill>
            <a:prstDash val="solid"/>
          </a:ln>
        </p:spPr>
      </p:sp>
      <p:sp>
        <p:nvSpPr>
          <p:cNvPr id="46" name="Text 44"/>
          <p:cNvSpPr/>
          <p:nvPr/>
        </p:nvSpPr>
        <p:spPr>
          <a:xfrm>
            <a:off x="8577072" y="2555748"/>
            <a:ext cx="978408" cy="137160"/>
          </a:xfrm>
          <a:prstGeom prst="rect">
            <a:avLst/>
          </a:prstGeom>
          <a:noFill/>
          <a:ln/>
        </p:spPr>
        <p:txBody>
          <a:bodyPr wrap="square" lIns="0" tIns="0" rIns="0" bIns="0" rtlCol="0" anchor="ctr"/>
          <a:lstStyle/>
          <a:p>
            <a:pPr marL="0" indent="0" algn="ctr">
              <a:buNone/>
            </a:pPr>
            <a:r>
              <a:rPr lang="en-US" sz="850" b="1" dirty="0">
                <a:solidFill>
                  <a:srgbClr val="16A34A"/>
                </a:solidFill>
              </a:rPr>
              <a:t>AUTHORIZED ONLY</a:t>
            </a:r>
            <a:endParaRPr lang="en-US" sz="850" dirty="0"/>
          </a:p>
        </p:txBody>
      </p:sp>
      <p:sp>
        <p:nvSpPr>
          <p:cNvPr id="47" name="Shape 45"/>
          <p:cNvSpPr/>
          <p:nvPr/>
        </p:nvSpPr>
        <p:spPr>
          <a:xfrm>
            <a:off x="8503920" y="2971800"/>
            <a:ext cx="256032" cy="256032"/>
          </a:xfrm>
          <a:prstGeom prst="ellipse">
            <a:avLst/>
          </a:prstGeom>
          <a:solidFill>
            <a:srgbClr val="E7EEF9"/>
          </a:solidFill>
          <a:ln w="12700">
            <a:solidFill>
              <a:srgbClr val="E7EEF9"/>
            </a:solidFill>
            <a:prstDash val="solid"/>
          </a:ln>
        </p:spPr>
      </p:sp>
      <p:sp>
        <p:nvSpPr>
          <p:cNvPr id="48" name="Text 46"/>
          <p:cNvSpPr/>
          <p:nvPr/>
        </p:nvSpPr>
        <p:spPr>
          <a:xfrm>
            <a:off x="8513064" y="2999232"/>
            <a:ext cx="237744" cy="201168"/>
          </a:xfrm>
          <a:prstGeom prst="rect">
            <a:avLst/>
          </a:prstGeom>
          <a:noFill/>
          <a:ln/>
        </p:spPr>
        <p:txBody>
          <a:bodyPr wrap="square" lIns="0" tIns="0" rIns="0" bIns="0" rtlCol="0" anchor="ctr"/>
          <a:lstStyle/>
          <a:p>
            <a:pPr marL="0" indent="0" algn="ctr">
              <a:buNone/>
            </a:pPr>
            <a:r>
              <a:rPr lang="en-US" sz="700" b="1" dirty="0">
                <a:solidFill>
                  <a:srgbClr val="2563EB"/>
                </a:solidFill>
              </a:rPr>
              <a:t>PDF</a:t>
            </a:r>
            <a:endParaRPr lang="en-US" sz="700" dirty="0"/>
          </a:p>
        </p:txBody>
      </p:sp>
      <p:sp>
        <p:nvSpPr>
          <p:cNvPr id="49" name="Text 47"/>
          <p:cNvSpPr/>
          <p:nvPr/>
        </p:nvSpPr>
        <p:spPr>
          <a:xfrm>
            <a:off x="8887968" y="2962656"/>
            <a:ext cx="1691640" cy="164592"/>
          </a:xfrm>
          <a:prstGeom prst="rect">
            <a:avLst/>
          </a:prstGeom>
          <a:noFill/>
          <a:ln/>
        </p:spPr>
        <p:txBody>
          <a:bodyPr wrap="square" lIns="0" tIns="0" rIns="0" bIns="0" rtlCol="0" anchor="ctr"/>
          <a:lstStyle/>
          <a:p>
            <a:pPr marL="0" indent="0">
              <a:buNone/>
            </a:pPr>
            <a:r>
              <a:rPr lang="en-US" sz="820" dirty="0">
                <a:solidFill>
                  <a:srgbClr val="1E293B"/>
                </a:solidFill>
                <a:latin typeface="Aptos" pitchFamily="34" charset="0"/>
                <a:ea typeface="Aptos" pitchFamily="34" charset="-122"/>
                <a:cs typeface="Aptos" pitchFamily="34" charset="-120"/>
              </a:rPr>
              <a:t>HR Policy.pdf</a:t>
            </a:r>
            <a:endParaRPr lang="en-US" sz="820" dirty="0"/>
          </a:p>
        </p:txBody>
      </p:sp>
      <p:sp>
        <p:nvSpPr>
          <p:cNvPr id="50" name="Text 48"/>
          <p:cNvSpPr/>
          <p:nvPr/>
        </p:nvSpPr>
        <p:spPr>
          <a:xfrm>
            <a:off x="10762488" y="2971800"/>
            <a:ext cx="274320" cy="164592"/>
          </a:xfrm>
          <a:prstGeom prst="rect">
            <a:avLst/>
          </a:prstGeom>
          <a:noFill/>
          <a:ln/>
        </p:spPr>
        <p:txBody>
          <a:bodyPr wrap="square" lIns="0" tIns="0" rIns="0" bIns="0" rtlCol="0" anchor="ctr"/>
          <a:lstStyle/>
          <a:p>
            <a:pPr marL="0" indent="0" algn="r">
              <a:buNone/>
            </a:pPr>
            <a:r>
              <a:rPr lang="en-US" sz="740" dirty="0">
                <a:solidFill>
                  <a:srgbClr val="64748B"/>
                </a:solidFill>
                <a:latin typeface="Aptos" pitchFamily="34" charset="0"/>
                <a:ea typeface="Aptos" pitchFamily="34" charset="-122"/>
                <a:cs typeface="Aptos" pitchFamily="34" charset="-120"/>
              </a:rPr>
              <a:t>p.12</a:t>
            </a:r>
            <a:endParaRPr lang="en-US" sz="740" dirty="0"/>
          </a:p>
        </p:txBody>
      </p:sp>
      <p:sp>
        <p:nvSpPr>
          <p:cNvPr id="51" name="Shape 49"/>
          <p:cNvSpPr/>
          <p:nvPr/>
        </p:nvSpPr>
        <p:spPr>
          <a:xfrm>
            <a:off x="8503920" y="3547872"/>
            <a:ext cx="256032" cy="256032"/>
          </a:xfrm>
          <a:prstGeom prst="ellipse">
            <a:avLst/>
          </a:prstGeom>
          <a:solidFill>
            <a:srgbClr val="E7EEF9"/>
          </a:solidFill>
          <a:ln w="12700">
            <a:solidFill>
              <a:srgbClr val="E7EEF9"/>
            </a:solidFill>
            <a:prstDash val="solid"/>
          </a:ln>
        </p:spPr>
      </p:sp>
      <p:sp>
        <p:nvSpPr>
          <p:cNvPr id="52" name="Text 50"/>
          <p:cNvSpPr/>
          <p:nvPr/>
        </p:nvSpPr>
        <p:spPr>
          <a:xfrm>
            <a:off x="8513064" y="3575304"/>
            <a:ext cx="237744" cy="201168"/>
          </a:xfrm>
          <a:prstGeom prst="rect">
            <a:avLst/>
          </a:prstGeom>
          <a:noFill/>
          <a:ln/>
        </p:spPr>
        <p:txBody>
          <a:bodyPr wrap="square" lIns="0" tIns="0" rIns="0" bIns="0" rtlCol="0" anchor="ctr"/>
          <a:lstStyle/>
          <a:p>
            <a:pPr marL="0" indent="0" algn="ctr">
              <a:buNone/>
            </a:pPr>
            <a:r>
              <a:rPr lang="en-US" sz="700" b="1" dirty="0">
                <a:solidFill>
                  <a:srgbClr val="2563EB"/>
                </a:solidFill>
              </a:rPr>
              <a:t>PDF</a:t>
            </a:r>
            <a:endParaRPr lang="en-US" sz="700" dirty="0"/>
          </a:p>
        </p:txBody>
      </p:sp>
      <p:sp>
        <p:nvSpPr>
          <p:cNvPr id="53" name="Text 51"/>
          <p:cNvSpPr/>
          <p:nvPr/>
        </p:nvSpPr>
        <p:spPr>
          <a:xfrm>
            <a:off x="8887968" y="3538728"/>
            <a:ext cx="1691640" cy="164592"/>
          </a:xfrm>
          <a:prstGeom prst="rect">
            <a:avLst/>
          </a:prstGeom>
          <a:noFill/>
          <a:ln/>
        </p:spPr>
        <p:txBody>
          <a:bodyPr wrap="square" lIns="0" tIns="0" rIns="0" bIns="0" rtlCol="0" anchor="ctr"/>
          <a:lstStyle/>
          <a:p>
            <a:pPr marL="0" indent="0">
              <a:buNone/>
            </a:pPr>
            <a:r>
              <a:rPr lang="en-US" sz="820" dirty="0">
                <a:solidFill>
                  <a:srgbClr val="1E293B"/>
                </a:solidFill>
                <a:latin typeface="Aptos" pitchFamily="34" charset="0"/>
                <a:ea typeface="Aptos" pitchFamily="34" charset="-122"/>
                <a:cs typeface="Aptos" pitchFamily="34" charset="-120"/>
              </a:rPr>
              <a:t>Employee Handbook.pdf</a:t>
            </a:r>
            <a:endParaRPr lang="en-US" sz="820" dirty="0"/>
          </a:p>
        </p:txBody>
      </p:sp>
      <p:sp>
        <p:nvSpPr>
          <p:cNvPr id="54" name="Text 52"/>
          <p:cNvSpPr/>
          <p:nvPr/>
        </p:nvSpPr>
        <p:spPr>
          <a:xfrm>
            <a:off x="10762488" y="3547872"/>
            <a:ext cx="274320" cy="164592"/>
          </a:xfrm>
          <a:prstGeom prst="rect">
            <a:avLst/>
          </a:prstGeom>
          <a:noFill/>
          <a:ln/>
        </p:spPr>
        <p:txBody>
          <a:bodyPr wrap="square" lIns="0" tIns="0" rIns="0" bIns="0" rtlCol="0" anchor="ctr"/>
          <a:lstStyle/>
          <a:p>
            <a:pPr marL="0" indent="0" algn="r">
              <a:buNone/>
            </a:pPr>
            <a:r>
              <a:rPr lang="en-US" sz="740" dirty="0">
                <a:solidFill>
                  <a:srgbClr val="64748B"/>
                </a:solidFill>
                <a:latin typeface="Aptos" pitchFamily="34" charset="0"/>
                <a:ea typeface="Aptos" pitchFamily="34" charset="-122"/>
                <a:cs typeface="Aptos" pitchFamily="34" charset="-120"/>
              </a:rPr>
              <a:t>p.8</a:t>
            </a:r>
            <a:endParaRPr lang="en-US" sz="740" dirty="0"/>
          </a:p>
        </p:txBody>
      </p:sp>
      <p:sp>
        <p:nvSpPr>
          <p:cNvPr id="55" name="Shape 53"/>
          <p:cNvSpPr/>
          <p:nvPr/>
        </p:nvSpPr>
        <p:spPr>
          <a:xfrm>
            <a:off x="8503920" y="4123944"/>
            <a:ext cx="256032" cy="256032"/>
          </a:xfrm>
          <a:prstGeom prst="ellipse">
            <a:avLst/>
          </a:prstGeom>
          <a:solidFill>
            <a:srgbClr val="E7EEF9"/>
          </a:solidFill>
          <a:ln w="12700">
            <a:solidFill>
              <a:srgbClr val="E7EEF9"/>
            </a:solidFill>
            <a:prstDash val="solid"/>
          </a:ln>
        </p:spPr>
      </p:sp>
      <p:sp>
        <p:nvSpPr>
          <p:cNvPr id="56" name="Text 54"/>
          <p:cNvSpPr/>
          <p:nvPr/>
        </p:nvSpPr>
        <p:spPr>
          <a:xfrm>
            <a:off x="8513064" y="4151376"/>
            <a:ext cx="237744" cy="201168"/>
          </a:xfrm>
          <a:prstGeom prst="rect">
            <a:avLst/>
          </a:prstGeom>
          <a:noFill/>
          <a:ln/>
        </p:spPr>
        <p:txBody>
          <a:bodyPr wrap="square" lIns="0" tIns="0" rIns="0" bIns="0" rtlCol="0" anchor="ctr"/>
          <a:lstStyle/>
          <a:p>
            <a:pPr marL="0" indent="0" algn="ctr">
              <a:buNone/>
            </a:pPr>
            <a:r>
              <a:rPr lang="en-US" sz="700" b="1" dirty="0">
                <a:solidFill>
                  <a:srgbClr val="2563EB"/>
                </a:solidFill>
              </a:rPr>
              <a:t>PDF</a:t>
            </a:r>
            <a:endParaRPr lang="en-US" sz="700" dirty="0"/>
          </a:p>
        </p:txBody>
      </p:sp>
      <p:sp>
        <p:nvSpPr>
          <p:cNvPr id="57" name="Text 55"/>
          <p:cNvSpPr/>
          <p:nvPr/>
        </p:nvSpPr>
        <p:spPr>
          <a:xfrm>
            <a:off x="8887968" y="4114800"/>
            <a:ext cx="1691640" cy="164592"/>
          </a:xfrm>
          <a:prstGeom prst="rect">
            <a:avLst/>
          </a:prstGeom>
          <a:noFill/>
          <a:ln/>
        </p:spPr>
        <p:txBody>
          <a:bodyPr wrap="square" lIns="0" tIns="0" rIns="0" bIns="0" rtlCol="0" anchor="ctr"/>
          <a:lstStyle/>
          <a:p>
            <a:pPr marL="0" indent="0">
              <a:buNone/>
            </a:pPr>
            <a:r>
              <a:rPr lang="en-US" sz="820" dirty="0">
                <a:solidFill>
                  <a:srgbClr val="1E293B"/>
                </a:solidFill>
                <a:latin typeface="Aptos" pitchFamily="34" charset="0"/>
                <a:ea typeface="Aptos" pitchFamily="34" charset="-122"/>
                <a:cs typeface="Aptos" pitchFamily="34" charset="-120"/>
              </a:rPr>
              <a:t>WFH SOP.pdf</a:t>
            </a:r>
            <a:endParaRPr lang="en-US" sz="820" dirty="0"/>
          </a:p>
        </p:txBody>
      </p:sp>
      <p:sp>
        <p:nvSpPr>
          <p:cNvPr id="58" name="Text 56"/>
          <p:cNvSpPr/>
          <p:nvPr/>
        </p:nvSpPr>
        <p:spPr>
          <a:xfrm>
            <a:off x="10762488" y="4123944"/>
            <a:ext cx="274320" cy="164592"/>
          </a:xfrm>
          <a:prstGeom prst="rect">
            <a:avLst/>
          </a:prstGeom>
          <a:noFill/>
          <a:ln/>
        </p:spPr>
        <p:txBody>
          <a:bodyPr wrap="square" lIns="0" tIns="0" rIns="0" bIns="0" rtlCol="0" anchor="ctr"/>
          <a:lstStyle/>
          <a:p>
            <a:pPr marL="0" indent="0" algn="r">
              <a:buNone/>
            </a:pPr>
            <a:r>
              <a:rPr lang="en-US" sz="740" dirty="0">
                <a:solidFill>
                  <a:srgbClr val="64748B"/>
                </a:solidFill>
                <a:latin typeface="Aptos" pitchFamily="34" charset="0"/>
                <a:ea typeface="Aptos" pitchFamily="34" charset="-122"/>
                <a:cs typeface="Aptos" pitchFamily="34" charset="-120"/>
              </a:rPr>
              <a:t>p.4</a:t>
            </a:r>
            <a:endParaRPr lang="en-US" sz="740" dirty="0"/>
          </a:p>
        </p:txBody>
      </p:sp>
      <p:sp>
        <p:nvSpPr>
          <p:cNvPr id="59" name="Shape 57"/>
          <p:cNvSpPr/>
          <p:nvPr/>
        </p:nvSpPr>
        <p:spPr>
          <a:xfrm>
            <a:off x="8503920" y="4754880"/>
            <a:ext cx="676656" cy="301752"/>
          </a:xfrm>
          <a:prstGeom prst="roundRect">
            <a:avLst>
              <a:gd name="adj" fmla="val 48485"/>
            </a:avLst>
          </a:prstGeom>
          <a:solidFill>
            <a:srgbClr val="F1F5F9"/>
          </a:solidFill>
          <a:ln w="12700">
            <a:solidFill>
              <a:srgbClr val="F1F5F9"/>
            </a:solidFill>
            <a:prstDash val="solid"/>
          </a:ln>
        </p:spPr>
      </p:sp>
      <p:sp>
        <p:nvSpPr>
          <p:cNvPr id="60" name="Text 58"/>
          <p:cNvSpPr/>
          <p:nvPr/>
        </p:nvSpPr>
        <p:spPr>
          <a:xfrm>
            <a:off x="8577072" y="4823460"/>
            <a:ext cx="530352" cy="137160"/>
          </a:xfrm>
          <a:prstGeom prst="rect">
            <a:avLst/>
          </a:prstGeom>
          <a:noFill/>
          <a:ln/>
        </p:spPr>
        <p:txBody>
          <a:bodyPr wrap="square" lIns="0" tIns="0" rIns="0" bIns="0" rtlCol="0" anchor="ctr"/>
          <a:lstStyle/>
          <a:p>
            <a:pPr marL="0" indent="0" algn="ctr">
              <a:buNone/>
            </a:pPr>
            <a:r>
              <a:rPr lang="en-US" sz="850" b="1" dirty="0">
                <a:solidFill>
                  <a:srgbClr val="64748B"/>
                </a:solidFill>
              </a:rPr>
              <a:t>3 sources</a:t>
            </a:r>
            <a:endParaRPr lang="en-US" sz="850" dirty="0"/>
          </a:p>
        </p:txBody>
      </p:sp>
      <p:sp>
        <p:nvSpPr>
          <p:cNvPr id="61" name="Text 59"/>
          <p:cNvSpPr/>
          <p:nvPr/>
        </p:nvSpPr>
        <p:spPr>
          <a:xfrm>
            <a:off x="2962656" y="5468112"/>
            <a:ext cx="777240" cy="146304"/>
          </a:xfrm>
          <a:prstGeom prst="rect">
            <a:avLst/>
          </a:prstGeom>
          <a:noFill/>
          <a:ln/>
        </p:spPr>
        <p:txBody>
          <a:bodyPr wrap="square" lIns="0" tIns="0" rIns="0" bIns="0" rtlCol="0" anchor="ctr"/>
          <a:lstStyle/>
          <a:p>
            <a:pPr marL="0" indent="0">
              <a:buNone/>
            </a:pPr>
            <a:r>
              <a:rPr lang="en-US" sz="800" b="1" dirty="0">
                <a:solidFill>
                  <a:srgbClr val="64748B"/>
                </a:solidFill>
                <a:latin typeface="Aptos" pitchFamily="34" charset="0"/>
                <a:ea typeface="Aptos" pitchFamily="34" charset="-122"/>
                <a:cs typeface="Aptos" pitchFamily="34" charset="-120"/>
              </a:rPr>
              <a:t>Try asking</a:t>
            </a:r>
            <a:endParaRPr lang="en-US" sz="800" dirty="0"/>
          </a:p>
        </p:txBody>
      </p:sp>
      <p:sp>
        <p:nvSpPr>
          <p:cNvPr id="62" name="Shape 60"/>
          <p:cNvSpPr/>
          <p:nvPr/>
        </p:nvSpPr>
        <p:spPr>
          <a:xfrm>
            <a:off x="3703320" y="5394960"/>
            <a:ext cx="1325880" cy="301752"/>
          </a:xfrm>
          <a:prstGeom prst="roundRect">
            <a:avLst>
              <a:gd name="adj" fmla="val 48485"/>
            </a:avLst>
          </a:prstGeom>
          <a:solidFill>
            <a:srgbClr val="F1F5F9"/>
          </a:solidFill>
          <a:ln w="12700">
            <a:solidFill>
              <a:srgbClr val="F1F5F9"/>
            </a:solidFill>
            <a:prstDash val="solid"/>
          </a:ln>
        </p:spPr>
      </p:sp>
      <p:sp>
        <p:nvSpPr>
          <p:cNvPr id="63" name="Text 61"/>
          <p:cNvSpPr/>
          <p:nvPr/>
        </p:nvSpPr>
        <p:spPr>
          <a:xfrm>
            <a:off x="3776472" y="5463540"/>
            <a:ext cx="1179576" cy="137160"/>
          </a:xfrm>
          <a:prstGeom prst="rect">
            <a:avLst/>
          </a:prstGeom>
          <a:noFill/>
          <a:ln/>
        </p:spPr>
        <p:txBody>
          <a:bodyPr wrap="square" lIns="0" tIns="0" rIns="0" bIns="0" rtlCol="0" anchor="ctr"/>
          <a:lstStyle/>
          <a:p>
            <a:pPr marL="0" indent="0" algn="ctr">
              <a:buNone/>
            </a:pPr>
            <a:r>
              <a:rPr lang="en-US" sz="850" b="1" dirty="0">
                <a:solidFill>
                  <a:srgbClr val="1E293B"/>
                </a:solidFill>
              </a:rPr>
              <a:t>What is our travel policy?</a:t>
            </a:r>
            <a:endParaRPr lang="en-US" sz="850" dirty="0"/>
          </a:p>
        </p:txBody>
      </p:sp>
      <p:sp>
        <p:nvSpPr>
          <p:cNvPr id="64" name="Shape 62"/>
          <p:cNvSpPr/>
          <p:nvPr/>
        </p:nvSpPr>
        <p:spPr>
          <a:xfrm>
            <a:off x="5138928" y="5394960"/>
            <a:ext cx="1645920" cy="301752"/>
          </a:xfrm>
          <a:prstGeom prst="roundRect">
            <a:avLst>
              <a:gd name="adj" fmla="val 48485"/>
            </a:avLst>
          </a:prstGeom>
          <a:solidFill>
            <a:srgbClr val="F1F5F9"/>
          </a:solidFill>
          <a:ln w="12700">
            <a:solidFill>
              <a:srgbClr val="F1F5F9"/>
            </a:solidFill>
            <a:prstDash val="solid"/>
          </a:ln>
        </p:spPr>
      </p:sp>
      <p:sp>
        <p:nvSpPr>
          <p:cNvPr id="65" name="Text 63"/>
          <p:cNvSpPr/>
          <p:nvPr/>
        </p:nvSpPr>
        <p:spPr>
          <a:xfrm>
            <a:off x="5212080" y="5463540"/>
            <a:ext cx="1499616" cy="137160"/>
          </a:xfrm>
          <a:prstGeom prst="rect">
            <a:avLst/>
          </a:prstGeom>
          <a:noFill/>
          <a:ln/>
        </p:spPr>
        <p:txBody>
          <a:bodyPr wrap="square" lIns="0" tIns="0" rIns="0" bIns="0" rtlCol="0" anchor="ctr"/>
          <a:lstStyle/>
          <a:p>
            <a:pPr marL="0" indent="0" algn="ctr">
              <a:buNone/>
            </a:pPr>
            <a:r>
              <a:rPr lang="en-US" sz="850" b="1" dirty="0">
                <a:solidFill>
                  <a:srgbClr val="1E293B"/>
                </a:solidFill>
              </a:rPr>
              <a:t>How do I report an incident?</a:t>
            </a:r>
            <a:endParaRPr lang="en-US" sz="850" dirty="0"/>
          </a:p>
        </p:txBody>
      </p:sp>
      <p:sp>
        <p:nvSpPr>
          <p:cNvPr id="66" name="Shape 64"/>
          <p:cNvSpPr/>
          <p:nvPr/>
        </p:nvSpPr>
        <p:spPr>
          <a:xfrm>
            <a:off x="6894576" y="5394960"/>
            <a:ext cx="1600200" cy="301752"/>
          </a:xfrm>
          <a:prstGeom prst="roundRect">
            <a:avLst>
              <a:gd name="adj" fmla="val 48485"/>
            </a:avLst>
          </a:prstGeom>
          <a:solidFill>
            <a:srgbClr val="F1F5F9"/>
          </a:solidFill>
          <a:ln w="12700">
            <a:solidFill>
              <a:srgbClr val="F1F5F9"/>
            </a:solidFill>
            <a:prstDash val="solid"/>
          </a:ln>
        </p:spPr>
      </p:sp>
      <p:sp>
        <p:nvSpPr>
          <p:cNvPr id="67" name="Text 65"/>
          <p:cNvSpPr/>
          <p:nvPr/>
        </p:nvSpPr>
        <p:spPr>
          <a:xfrm>
            <a:off x="6967728" y="5463540"/>
            <a:ext cx="1453896" cy="137160"/>
          </a:xfrm>
          <a:prstGeom prst="rect">
            <a:avLst/>
          </a:prstGeom>
          <a:noFill/>
          <a:ln/>
        </p:spPr>
        <p:txBody>
          <a:bodyPr wrap="square" lIns="0" tIns="0" rIns="0" bIns="0" rtlCol="0" anchor="ctr"/>
          <a:lstStyle/>
          <a:p>
            <a:pPr marL="0" indent="0" algn="ctr">
              <a:buNone/>
            </a:pPr>
            <a:r>
              <a:rPr lang="en-US" sz="850" b="1" dirty="0">
                <a:solidFill>
                  <a:srgbClr val="1E293B"/>
                </a:solidFill>
              </a:rPr>
              <a:t>Summarize the onboarding SOP</a:t>
            </a:r>
            <a:endParaRPr lang="en-US" sz="850" dirty="0"/>
          </a:p>
        </p:txBody>
      </p:sp>
      <p:sp>
        <p:nvSpPr>
          <p:cNvPr id="68" name="Text 66"/>
          <p:cNvSpPr/>
          <p:nvPr/>
        </p:nvSpPr>
        <p:spPr>
          <a:xfrm>
            <a:off x="8577072" y="5696712"/>
            <a:ext cx="1828800" cy="146304"/>
          </a:xfrm>
          <a:prstGeom prst="rect">
            <a:avLst/>
          </a:prstGeom>
          <a:noFill/>
          <a:ln/>
        </p:spPr>
        <p:txBody>
          <a:bodyPr wrap="square" lIns="0" tIns="0" rIns="0" bIns="0" rtlCol="0" anchor="ctr"/>
          <a:lstStyle/>
          <a:p>
            <a:pPr marL="0" indent="0" algn="r">
              <a:buNone/>
            </a:pPr>
            <a:r>
              <a:rPr lang="en-US" sz="700" b="1" dirty="0">
                <a:solidFill>
                  <a:srgbClr val="64748B"/>
                </a:solidFill>
                <a:latin typeface="Aptos" pitchFamily="34" charset="0"/>
                <a:ea typeface="Aptos" pitchFamily="34" charset="-122"/>
                <a:cs typeface="Aptos" pitchFamily="34" charset="-120"/>
              </a:rPr>
              <a:t>PROPOSED UI • PRE-BUILD WIREFRAME</a:t>
            </a:r>
            <a:endParaRPr lang="en-US" sz="700" dirty="0"/>
          </a:p>
        </p:txBody>
      </p:sp>
      <p:sp>
        <p:nvSpPr>
          <p:cNvPr id="69"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5. How the assistant works behind the screen</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The core pipeline is Retrieval-Augmented Generation (RAG).</a:t>
            </a:r>
            <a:endParaRPr lang="en-US" sz="1150" dirty="0"/>
          </a:p>
        </p:txBody>
      </p:sp>
      <p:sp>
        <p:nvSpPr>
          <p:cNvPr id="4" name="Shape 2"/>
          <p:cNvSpPr/>
          <p:nvPr/>
        </p:nvSpPr>
        <p:spPr>
          <a:xfrm>
            <a:off x="548640" y="1353312"/>
            <a:ext cx="11064240" cy="1097280"/>
          </a:xfrm>
          <a:prstGeom prst="roundRect">
            <a:avLst>
              <a:gd name="adj" fmla="val 15000"/>
            </a:avLst>
          </a:prstGeom>
          <a:solidFill>
            <a:srgbClr val="0F172A"/>
          </a:solidFill>
          <a:ln w="12700">
            <a:solidFill>
              <a:srgbClr val="0F172A"/>
            </a:solidFill>
            <a:prstDash val="solid"/>
          </a:ln>
        </p:spPr>
      </p:sp>
      <p:sp>
        <p:nvSpPr>
          <p:cNvPr id="5" name="Text 3"/>
          <p:cNvSpPr/>
          <p:nvPr/>
        </p:nvSpPr>
        <p:spPr>
          <a:xfrm>
            <a:off x="868680" y="1572768"/>
            <a:ext cx="1051560" cy="164592"/>
          </a:xfrm>
          <a:prstGeom prst="rect">
            <a:avLst/>
          </a:prstGeom>
          <a:noFill/>
          <a:ln/>
        </p:spPr>
        <p:txBody>
          <a:bodyPr wrap="square" lIns="0" tIns="0" rIns="0" bIns="0" rtlCol="0" anchor="ctr"/>
          <a:lstStyle/>
          <a:p>
            <a:pPr marL="0" indent="0">
              <a:buNone/>
            </a:pPr>
            <a:r>
              <a:rPr lang="en-US" sz="800" b="1" dirty="0">
                <a:solidFill>
                  <a:srgbClr val="93C5FD"/>
                </a:solidFill>
                <a:latin typeface="Aptos" pitchFamily="34" charset="0"/>
                <a:ea typeface="Aptos" pitchFamily="34" charset="-122"/>
                <a:cs typeface="Aptos" pitchFamily="34" charset="-120"/>
              </a:rPr>
              <a:t>USER QUERY</a:t>
            </a:r>
            <a:endParaRPr lang="en-US" sz="800" dirty="0"/>
          </a:p>
        </p:txBody>
      </p:sp>
      <p:sp>
        <p:nvSpPr>
          <p:cNvPr id="6" name="Text 4"/>
          <p:cNvSpPr/>
          <p:nvPr/>
        </p:nvSpPr>
        <p:spPr>
          <a:xfrm>
            <a:off x="1938528" y="1499616"/>
            <a:ext cx="6949440" cy="310896"/>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“How many annual leave days do employees get?”</a:t>
            </a:r>
            <a:endParaRPr lang="en-US" sz="1600" dirty="0"/>
          </a:p>
        </p:txBody>
      </p:sp>
      <p:sp>
        <p:nvSpPr>
          <p:cNvPr id="7" name="Shape 5"/>
          <p:cNvSpPr/>
          <p:nvPr/>
        </p:nvSpPr>
        <p:spPr>
          <a:xfrm>
            <a:off x="9646920" y="1554480"/>
            <a:ext cx="1261872" cy="301752"/>
          </a:xfrm>
          <a:prstGeom prst="roundRect">
            <a:avLst>
              <a:gd name="adj" fmla="val 48485"/>
            </a:avLst>
          </a:prstGeom>
          <a:solidFill>
            <a:srgbClr val="1E293B"/>
          </a:solidFill>
          <a:ln w="12700">
            <a:solidFill>
              <a:srgbClr val="1E293B"/>
            </a:solidFill>
            <a:prstDash val="solid"/>
          </a:ln>
        </p:spPr>
      </p:sp>
      <p:sp>
        <p:nvSpPr>
          <p:cNvPr id="8" name="Text 6"/>
          <p:cNvSpPr/>
          <p:nvPr/>
        </p:nvSpPr>
        <p:spPr>
          <a:xfrm>
            <a:off x="9720072" y="1623060"/>
            <a:ext cx="1115568" cy="137160"/>
          </a:xfrm>
          <a:prstGeom prst="rect">
            <a:avLst/>
          </a:prstGeom>
          <a:noFill/>
          <a:ln/>
        </p:spPr>
        <p:txBody>
          <a:bodyPr wrap="square" lIns="0" tIns="0" rIns="0" bIns="0" rtlCol="0" anchor="ctr"/>
          <a:lstStyle/>
          <a:p>
            <a:pPr marL="0" indent="0" algn="ctr">
              <a:buNone/>
            </a:pPr>
            <a:r>
              <a:rPr lang="en-US" sz="850" b="1" dirty="0">
                <a:solidFill>
                  <a:srgbClr val="CBD5E1"/>
                </a:solidFill>
              </a:rPr>
              <a:t>Natural language</a:t>
            </a:r>
            <a:endParaRPr lang="en-US" sz="850" dirty="0"/>
          </a:p>
        </p:txBody>
      </p:sp>
      <p:sp>
        <p:nvSpPr>
          <p:cNvPr id="9" name="Shape 7"/>
          <p:cNvSpPr/>
          <p:nvPr/>
        </p:nvSpPr>
        <p:spPr>
          <a:xfrm>
            <a:off x="658368" y="2907792"/>
            <a:ext cx="1792224" cy="1828800"/>
          </a:xfrm>
          <a:prstGeom prst="roundRect">
            <a:avLst>
              <a:gd name="adj" fmla="val 9184"/>
            </a:avLst>
          </a:prstGeom>
          <a:solidFill>
            <a:srgbClr val="FFFFFF"/>
          </a:solidFill>
          <a:ln w="12700">
            <a:solidFill>
              <a:srgbClr val="DCE3ED"/>
            </a:solidFill>
            <a:prstDash val="solid"/>
          </a:ln>
        </p:spPr>
      </p:sp>
      <p:sp>
        <p:nvSpPr>
          <p:cNvPr id="10" name="Shape 8"/>
          <p:cNvSpPr/>
          <p:nvPr/>
        </p:nvSpPr>
        <p:spPr>
          <a:xfrm>
            <a:off x="822960" y="3127248"/>
            <a:ext cx="384048" cy="384048"/>
          </a:xfrm>
          <a:prstGeom prst="ellipse">
            <a:avLst/>
          </a:prstGeom>
          <a:solidFill>
            <a:srgbClr val="2563EB"/>
          </a:solidFill>
          <a:ln w="12700">
            <a:solidFill>
              <a:srgbClr val="2563EB"/>
            </a:solidFill>
            <a:prstDash val="solid"/>
          </a:ln>
        </p:spPr>
      </p:sp>
      <p:sp>
        <p:nvSpPr>
          <p:cNvPr id="11" name="Text 9"/>
          <p:cNvSpPr/>
          <p:nvPr/>
        </p:nvSpPr>
        <p:spPr>
          <a:xfrm>
            <a:off x="832104" y="3154680"/>
            <a:ext cx="365760" cy="329184"/>
          </a:xfrm>
          <a:prstGeom prst="rect">
            <a:avLst/>
          </a:prstGeom>
          <a:noFill/>
          <a:ln/>
        </p:spPr>
        <p:txBody>
          <a:bodyPr wrap="square" lIns="0" tIns="0" rIns="0" bIns="0" rtlCol="0" anchor="ctr"/>
          <a:lstStyle/>
          <a:p>
            <a:pPr marL="0" indent="0" algn="ctr">
              <a:buNone/>
            </a:pPr>
            <a:r>
              <a:rPr lang="en-US" sz="700" b="1" dirty="0">
                <a:solidFill>
                  <a:srgbClr val="FFFFFF"/>
                </a:solidFill>
              </a:rPr>
              <a:t>QUERY</a:t>
            </a:r>
            <a:endParaRPr lang="en-US" sz="700" dirty="0"/>
          </a:p>
        </p:txBody>
      </p:sp>
      <p:sp>
        <p:nvSpPr>
          <p:cNvPr id="12" name="Text 10"/>
          <p:cNvSpPr/>
          <p:nvPr/>
        </p:nvSpPr>
        <p:spPr>
          <a:xfrm>
            <a:off x="822960" y="3685032"/>
            <a:ext cx="1426464" cy="228600"/>
          </a:xfrm>
          <a:prstGeom prst="rect">
            <a:avLst/>
          </a:prstGeom>
          <a:noFill/>
          <a:ln/>
        </p:spPr>
        <p:txBody>
          <a:bodyPr wrap="square" lIns="0" tIns="0" rIns="0" bIns="0" rtlCol="0" anchor="ctr"/>
          <a:lstStyle/>
          <a:p>
            <a:pPr marL="0" indent="0">
              <a:buNone/>
            </a:pPr>
            <a:r>
              <a:rPr lang="en-US" sz="1100" b="1" dirty="0">
                <a:solidFill>
                  <a:srgbClr val="0F172A"/>
                </a:solidFill>
                <a:latin typeface="Aptos" pitchFamily="34" charset="0"/>
                <a:ea typeface="Aptos" pitchFamily="34" charset="-122"/>
                <a:cs typeface="Aptos" pitchFamily="34" charset="-120"/>
              </a:rPr>
              <a:t>1. Embed</a:t>
            </a:r>
            <a:endParaRPr lang="en-US" sz="1100" dirty="0"/>
          </a:p>
        </p:txBody>
      </p:sp>
      <p:sp>
        <p:nvSpPr>
          <p:cNvPr id="13" name="Text 11"/>
          <p:cNvSpPr/>
          <p:nvPr/>
        </p:nvSpPr>
        <p:spPr>
          <a:xfrm>
            <a:off x="822960" y="4069080"/>
            <a:ext cx="1426464" cy="457200"/>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Convert the question to a vector</a:t>
            </a:r>
            <a:endParaRPr lang="en-US" sz="880" dirty="0"/>
          </a:p>
        </p:txBody>
      </p:sp>
      <p:sp>
        <p:nvSpPr>
          <p:cNvPr id="14" name="Shape 12"/>
          <p:cNvSpPr/>
          <p:nvPr/>
        </p:nvSpPr>
        <p:spPr>
          <a:xfrm>
            <a:off x="2450592" y="3822192"/>
            <a:ext cx="457200" cy="0"/>
          </a:xfrm>
          <a:prstGeom prst="line">
            <a:avLst/>
          </a:prstGeom>
          <a:noFill/>
          <a:ln w="20320">
            <a:solidFill>
              <a:srgbClr val="D9E1EC"/>
            </a:solidFill>
            <a:prstDash val="solid"/>
            <a:headEnd type="none"/>
            <a:tailEnd type="triangle"/>
          </a:ln>
        </p:spPr>
      </p:sp>
      <p:sp>
        <p:nvSpPr>
          <p:cNvPr id="15" name="Shape 13"/>
          <p:cNvSpPr/>
          <p:nvPr/>
        </p:nvSpPr>
        <p:spPr>
          <a:xfrm>
            <a:off x="2944368" y="2907792"/>
            <a:ext cx="1792224" cy="1828800"/>
          </a:xfrm>
          <a:prstGeom prst="roundRect">
            <a:avLst>
              <a:gd name="adj" fmla="val 9184"/>
            </a:avLst>
          </a:prstGeom>
          <a:solidFill>
            <a:srgbClr val="FFFFFF"/>
          </a:solidFill>
          <a:ln w="12700">
            <a:solidFill>
              <a:srgbClr val="DCE3ED"/>
            </a:solidFill>
            <a:prstDash val="solid"/>
          </a:ln>
        </p:spPr>
      </p:sp>
      <p:sp>
        <p:nvSpPr>
          <p:cNvPr id="16" name="Shape 14"/>
          <p:cNvSpPr/>
          <p:nvPr/>
        </p:nvSpPr>
        <p:spPr>
          <a:xfrm>
            <a:off x="3108960" y="3127248"/>
            <a:ext cx="384048" cy="384048"/>
          </a:xfrm>
          <a:prstGeom prst="ellipse">
            <a:avLst/>
          </a:prstGeom>
          <a:solidFill>
            <a:srgbClr val="0F9D8C"/>
          </a:solidFill>
          <a:ln w="12700">
            <a:solidFill>
              <a:srgbClr val="0F9D8C"/>
            </a:solidFill>
            <a:prstDash val="solid"/>
          </a:ln>
        </p:spPr>
      </p:sp>
      <p:sp>
        <p:nvSpPr>
          <p:cNvPr id="17" name="Text 15"/>
          <p:cNvSpPr/>
          <p:nvPr/>
        </p:nvSpPr>
        <p:spPr>
          <a:xfrm>
            <a:off x="3118104" y="3154680"/>
            <a:ext cx="365760" cy="329184"/>
          </a:xfrm>
          <a:prstGeom prst="rect">
            <a:avLst/>
          </a:prstGeom>
          <a:noFill/>
          <a:ln/>
        </p:spPr>
        <p:txBody>
          <a:bodyPr wrap="square" lIns="0" tIns="0" rIns="0" bIns="0" rtlCol="0" anchor="ctr"/>
          <a:lstStyle/>
          <a:p>
            <a:pPr marL="0" indent="0" algn="ctr">
              <a:buNone/>
            </a:pPr>
            <a:r>
              <a:rPr lang="en-US" sz="600" b="1" dirty="0">
                <a:solidFill>
                  <a:srgbClr val="FFFFFF"/>
                </a:solidFill>
              </a:rPr>
              <a:t>SEARCH</a:t>
            </a:r>
            <a:endParaRPr lang="en-US" sz="600" dirty="0"/>
          </a:p>
        </p:txBody>
      </p:sp>
      <p:sp>
        <p:nvSpPr>
          <p:cNvPr id="18" name="Text 16"/>
          <p:cNvSpPr/>
          <p:nvPr/>
        </p:nvSpPr>
        <p:spPr>
          <a:xfrm>
            <a:off x="3108960" y="3685032"/>
            <a:ext cx="1426464" cy="228600"/>
          </a:xfrm>
          <a:prstGeom prst="rect">
            <a:avLst/>
          </a:prstGeom>
          <a:noFill/>
          <a:ln/>
        </p:spPr>
        <p:txBody>
          <a:bodyPr wrap="square" lIns="0" tIns="0" rIns="0" bIns="0" rtlCol="0" anchor="ctr"/>
          <a:lstStyle/>
          <a:p>
            <a:pPr marL="0" indent="0">
              <a:buNone/>
            </a:pPr>
            <a:r>
              <a:rPr lang="en-US" sz="1100" b="1" dirty="0">
                <a:solidFill>
                  <a:srgbClr val="0F172A"/>
                </a:solidFill>
                <a:latin typeface="Aptos" pitchFamily="34" charset="0"/>
                <a:ea typeface="Aptos" pitchFamily="34" charset="-122"/>
                <a:cs typeface="Aptos" pitchFamily="34" charset="-120"/>
              </a:rPr>
              <a:t>2. Retrieve</a:t>
            </a:r>
            <a:endParaRPr lang="en-US" sz="1100" dirty="0"/>
          </a:p>
        </p:txBody>
      </p:sp>
      <p:sp>
        <p:nvSpPr>
          <p:cNvPr id="19" name="Text 17"/>
          <p:cNvSpPr/>
          <p:nvPr/>
        </p:nvSpPr>
        <p:spPr>
          <a:xfrm>
            <a:off x="3108960" y="4069080"/>
            <a:ext cx="1426464" cy="457200"/>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Find similar authorized chunks</a:t>
            </a:r>
            <a:endParaRPr lang="en-US" sz="880" dirty="0"/>
          </a:p>
        </p:txBody>
      </p:sp>
      <p:sp>
        <p:nvSpPr>
          <p:cNvPr id="20" name="Shape 18"/>
          <p:cNvSpPr/>
          <p:nvPr/>
        </p:nvSpPr>
        <p:spPr>
          <a:xfrm>
            <a:off x="4736592" y="3822192"/>
            <a:ext cx="457200" cy="0"/>
          </a:xfrm>
          <a:prstGeom prst="line">
            <a:avLst/>
          </a:prstGeom>
          <a:noFill/>
          <a:ln w="20320">
            <a:solidFill>
              <a:srgbClr val="D9E1EC"/>
            </a:solidFill>
            <a:prstDash val="solid"/>
            <a:headEnd type="none"/>
            <a:tailEnd type="triangle"/>
          </a:ln>
        </p:spPr>
      </p:sp>
      <p:sp>
        <p:nvSpPr>
          <p:cNvPr id="21" name="Shape 19"/>
          <p:cNvSpPr/>
          <p:nvPr/>
        </p:nvSpPr>
        <p:spPr>
          <a:xfrm>
            <a:off x="5230368" y="2907792"/>
            <a:ext cx="1792224" cy="1828800"/>
          </a:xfrm>
          <a:prstGeom prst="roundRect">
            <a:avLst>
              <a:gd name="adj" fmla="val 9184"/>
            </a:avLst>
          </a:prstGeom>
          <a:solidFill>
            <a:srgbClr val="FFFFFF"/>
          </a:solidFill>
          <a:ln w="12700">
            <a:solidFill>
              <a:srgbClr val="DCE3ED"/>
            </a:solidFill>
            <a:prstDash val="solid"/>
          </a:ln>
        </p:spPr>
      </p:sp>
      <p:sp>
        <p:nvSpPr>
          <p:cNvPr id="22" name="Shape 20"/>
          <p:cNvSpPr/>
          <p:nvPr/>
        </p:nvSpPr>
        <p:spPr>
          <a:xfrm>
            <a:off x="5394960" y="3127248"/>
            <a:ext cx="384048" cy="384048"/>
          </a:xfrm>
          <a:prstGeom prst="ellipse">
            <a:avLst/>
          </a:prstGeom>
          <a:solidFill>
            <a:srgbClr val="7C3AED"/>
          </a:solidFill>
          <a:ln w="12700">
            <a:solidFill>
              <a:srgbClr val="7C3AED"/>
            </a:solidFill>
            <a:prstDash val="solid"/>
          </a:ln>
        </p:spPr>
      </p:sp>
      <p:sp>
        <p:nvSpPr>
          <p:cNvPr id="23" name="Text 21"/>
          <p:cNvSpPr/>
          <p:nvPr/>
        </p:nvSpPr>
        <p:spPr>
          <a:xfrm>
            <a:off x="5404104" y="3154680"/>
            <a:ext cx="365760" cy="329184"/>
          </a:xfrm>
          <a:prstGeom prst="rect">
            <a:avLst/>
          </a:prstGeom>
          <a:noFill/>
          <a:ln/>
        </p:spPr>
        <p:txBody>
          <a:bodyPr wrap="square" lIns="0" tIns="0" rIns="0" bIns="0" rtlCol="0" anchor="ctr"/>
          <a:lstStyle/>
          <a:p>
            <a:pPr marL="0" indent="0" algn="ctr">
              <a:buNone/>
            </a:pPr>
            <a:r>
              <a:rPr lang="en-US" sz="600" b="1" dirty="0">
                <a:solidFill>
                  <a:srgbClr val="FFFFFF"/>
                </a:solidFill>
              </a:rPr>
              <a:t>CONTEXT</a:t>
            </a:r>
            <a:endParaRPr lang="en-US" sz="600" dirty="0"/>
          </a:p>
        </p:txBody>
      </p:sp>
      <p:sp>
        <p:nvSpPr>
          <p:cNvPr id="24" name="Text 22"/>
          <p:cNvSpPr/>
          <p:nvPr/>
        </p:nvSpPr>
        <p:spPr>
          <a:xfrm>
            <a:off x="5394960" y="3685032"/>
            <a:ext cx="1426464" cy="228600"/>
          </a:xfrm>
          <a:prstGeom prst="rect">
            <a:avLst/>
          </a:prstGeom>
          <a:noFill/>
          <a:ln/>
        </p:spPr>
        <p:txBody>
          <a:bodyPr wrap="square" lIns="0" tIns="0" rIns="0" bIns="0" rtlCol="0" anchor="ctr"/>
          <a:lstStyle/>
          <a:p>
            <a:pPr marL="0" indent="0">
              <a:buNone/>
            </a:pPr>
            <a:r>
              <a:rPr lang="en-US" sz="1100" b="1" dirty="0">
                <a:solidFill>
                  <a:srgbClr val="0F172A"/>
                </a:solidFill>
                <a:latin typeface="Aptos" pitchFamily="34" charset="0"/>
                <a:ea typeface="Aptos" pitchFamily="34" charset="-122"/>
                <a:cs typeface="Aptos" pitchFamily="34" charset="-120"/>
              </a:rPr>
              <a:t>3. Augment</a:t>
            </a:r>
            <a:endParaRPr lang="en-US" sz="1100" dirty="0"/>
          </a:p>
        </p:txBody>
      </p:sp>
      <p:sp>
        <p:nvSpPr>
          <p:cNvPr id="25" name="Text 23"/>
          <p:cNvSpPr/>
          <p:nvPr/>
        </p:nvSpPr>
        <p:spPr>
          <a:xfrm>
            <a:off x="5394960" y="4069080"/>
            <a:ext cx="1426464" cy="457200"/>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Build context from top matches</a:t>
            </a:r>
            <a:endParaRPr lang="en-US" sz="880" dirty="0"/>
          </a:p>
        </p:txBody>
      </p:sp>
      <p:sp>
        <p:nvSpPr>
          <p:cNvPr id="26" name="Shape 24"/>
          <p:cNvSpPr/>
          <p:nvPr/>
        </p:nvSpPr>
        <p:spPr>
          <a:xfrm>
            <a:off x="7022592" y="3822192"/>
            <a:ext cx="457200" cy="0"/>
          </a:xfrm>
          <a:prstGeom prst="line">
            <a:avLst/>
          </a:prstGeom>
          <a:noFill/>
          <a:ln w="20320">
            <a:solidFill>
              <a:srgbClr val="D9E1EC"/>
            </a:solidFill>
            <a:prstDash val="solid"/>
            <a:headEnd type="none"/>
            <a:tailEnd type="triangle"/>
          </a:ln>
        </p:spPr>
      </p:sp>
      <p:sp>
        <p:nvSpPr>
          <p:cNvPr id="27" name="Shape 25"/>
          <p:cNvSpPr/>
          <p:nvPr/>
        </p:nvSpPr>
        <p:spPr>
          <a:xfrm>
            <a:off x="7516368" y="2907792"/>
            <a:ext cx="1792224" cy="1828800"/>
          </a:xfrm>
          <a:prstGeom prst="roundRect">
            <a:avLst>
              <a:gd name="adj" fmla="val 9184"/>
            </a:avLst>
          </a:prstGeom>
          <a:solidFill>
            <a:srgbClr val="FFFFFF"/>
          </a:solidFill>
          <a:ln w="12700">
            <a:solidFill>
              <a:srgbClr val="DCE3ED"/>
            </a:solidFill>
            <a:prstDash val="solid"/>
          </a:ln>
        </p:spPr>
      </p:sp>
      <p:sp>
        <p:nvSpPr>
          <p:cNvPr id="28" name="Shape 26"/>
          <p:cNvSpPr/>
          <p:nvPr/>
        </p:nvSpPr>
        <p:spPr>
          <a:xfrm>
            <a:off x="7680960" y="3127248"/>
            <a:ext cx="384048" cy="384048"/>
          </a:xfrm>
          <a:prstGeom prst="ellipse">
            <a:avLst/>
          </a:prstGeom>
          <a:solidFill>
            <a:srgbClr val="F59E0B"/>
          </a:solidFill>
          <a:ln w="12700">
            <a:solidFill>
              <a:srgbClr val="F59E0B"/>
            </a:solidFill>
            <a:prstDash val="solid"/>
          </a:ln>
        </p:spPr>
      </p:sp>
      <p:sp>
        <p:nvSpPr>
          <p:cNvPr id="29" name="Text 27"/>
          <p:cNvSpPr/>
          <p:nvPr/>
        </p:nvSpPr>
        <p:spPr>
          <a:xfrm>
            <a:off x="7690104" y="3154680"/>
            <a:ext cx="365760" cy="329184"/>
          </a:xfrm>
          <a:prstGeom prst="rect">
            <a:avLst/>
          </a:prstGeom>
          <a:noFill/>
          <a:ln/>
        </p:spPr>
        <p:txBody>
          <a:bodyPr wrap="square" lIns="0" tIns="0" rIns="0" bIns="0" rtlCol="0" anchor="ctr"/>
          <a:lstStyle/>
          <a:p>
            <a:pPr marL="0" indent="0" algn="ctr">
              <a:buNone/>
            </a:pPr>
            <a:r>
              <a:rPr lang="en-US" sz="700" b="1" dirty="0">
                <a:solidFill>
                  <a:srgbClr val="FFFFFF"/>
                </a:solidFill>
              </a:rPr>
              <a:t>LLM</a:t>
            </a:r>
            <a:endParaRPr lang="en-US" sz="700" dirty="0"/>
          </a:p>
        </p:txBody>
      </p:sp>
      <p:sp>
        <p:nvSpPr>
          <p:cNvPr id="30" name="Text 28"/>
          <p:cNvSpPr/>
          <p:nvPr/>
        </p:nvSpPr>
        <p:spPr>
          <a:xfrm>
            <a:off x="7680960" y="3685032"/>
            <a:ext cx="1426464" cy="228600"/>
          </a:xfrm>
          <a:prstGeom prst="rect">
            <a:avLst/>
          </a:prstGeom>
          <a:noFill/>
          <a:ln/>
        </p:spPr>
        <p:txBody>
          <a:bodyPr wrap="square" lIns="0" tIns="0" rIns="0" bIns="0" rtlCol="0" anchor="ctr"/>
          <a:lstStyle/>
          <a:p>
            <a:pPr marL="0" indent="0">
              <a:buNone/>
            </a:pPr>
            <a:r>
              <a:rPr lang="en-US" sz="1100" b="1" dirty="0">
                <a:solidFill>
                  <a:srgbClr val="0F172A"/>
                </a:solidFill>
                <a:latin typeface="Aptos" pitchFamily="34" charset="0"/>
                <a:ea typeface="Aptos" pitchFamily="34" charset="-122"/>
                <a:cs typeface="Aptos" pitchFamily="34" charset="-120"/>
              </a:rPr>
              <a:t>4. Generate</a:t>
            </a:r>
            <a:endParaRPr lang="en-US" sz="1100" dirty="0"/>
          </a:p>
        </p:txBody>
      </p:sp>
      <p:sp>
        <p:nvSpPr>
          <p:cNvPr id="31" name="Text 29"/>
          <p:cNvSpPr/>
          <p:nvPr/>
        </p:nvSpPr>
        <p:spPr>
          <a:xfrm>
            <a:off x="7680960" y="4069080"/>
            <a:ext cx="1426464" cy="457200"/>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LLM writes a grounded response</a:t>
            </a:r>
            <a:endParaRPr lang="en-US" sz="880" dirty="0"/>
          </a:p>
        </p:txBody>
      </p:sp>
      <p:sp>
        <p:nvSpPr>
          <p:cNvPr id="32" name="Shape 30"/>
          <p:cNvSpPr/>
          <p:nvPr/>
        </p:nvSpPr>
        <p:spPr>
          <a:xfrm>
            <a:off x="9308592" y="3822192"/>
            <a:ext cx="457200" cy="0"/>
          </a:xfrm>
          <a:prstGeom prst="line">
            <a:avLst/>
          </a:prstGeom>
          <a:noFill/>
          <a:ln w="20320">
            <a:solidFill>
              <a:srgbClr val="D9E1EC"/>
            </a:solidFill>
            <a:prstDash val="solid"/>
            <a:headEnd type="none"/>
            <a:tailEnd type="triangle"/>
          </a:ln>
        </p:spPr>
      </p:sp>
      <p:sp>
        <p:nvSpPr>
          <p:cNvPr id="33" name="Shape 31"/>
          <p:cNvSpPr/>
          <p:nvPr/>
        </p:nvSpPr>
        <p:spPr>
          <a:xfrm>
            <a:off x="9802368" y="2907792"/>
            <a:ext cx="1792224" cy="1828800"/>
          </a:xfrm>
          <a:prstGeom prst="roundRect">
            <a:avLst>
              <a:gd name="adj" fmla="val 9184"/>
            </a:avLst>
          </a:prstGeom>
          <a:solidFill>
            <a:srgbClr val="FFFFFF"/>
          </a:solidFill>
          <a:ln w="12700">
            <a:solidFill>
              <a:srgbClr val="DCE3ED"/>
            </a:solidFill>
            <a:prstDash val="solid"/>
          </a:ln>
        </p:spPr>
      </p:sp>
      <p:sp>
        <p:nvSpPr>
          <p:cNvPr id="34" name="Shape 32"/>
          <p:cNvSpPr/>
          <p:nvPr/>
        </p:nvSpPr>
        <p:spPr>
          <a:xfrm>
            <a:off x="9966960" y="3127248"/>
            <a:ext cx="384048" cy="384048"/>
          </a:xfrm>
          <a:prstGeom prst="ellipse">
            <a:avLst/>
          </a:prstGeom>
          <a:solidFill>
            <a:srgbClr val="16A34A"/>
          </a:solidFill>
          <a:ln w="12700">
            <a:solidFill>
              <a:srgbClr val="16A34A"/>
            </a:solidFill>
            <a:prstDash val="solid"/>
          </a:ln>
        </p:spPr>
      </p:sp>
      <p:sp>
        <p:nvSpPr>
          <p:cNvPr id="35" name="Text 33"/>
          <p:cNvSpPr/>
          <p:nvPr/>
        </p:nvSpPr>
        <p:spPr>
          <a:xfrm>
            <a:off x="9976104" y="3154680"/>
            <a:ext cx="365760" cy="329184"/>
          </a:xfrm>
          <a:prstGeom prst="rect">
            <a:avLst/>
          </a:prstGeom>
          <a:noFill/>
          <a:ln/>
        </p:spPr>
        <p:txBody>
          <a:bodyPr wrap="square" lIns="0" tIns="0" rIns="0" bIns="0" rtlCol="0" anchor="ctr"/>
          <a:lstStyle/>
          <a:p>
            <a:pPr marL="0" indent="0" algn="ctr">
              <a:buNone/>
            </a:pPr>
            <a:r>
              <a:rPr lang="en-US" sz="600" b="1" dirty="0">
                <a:solidFill>
                  <a:srgbClr val="FFFFFF"/>
                </a:solidFill>
              </a:rPr>
              <a:t>VERIFY</a:t>
            </a:r>
            <a:endParaRPr lang="en-US" sz="600" dirty="0"/>
          </a:p>
        </p:txBody>
      </p:sp>
      <p:sp>
        <p:nvSpPr>
          <p:cNvPr id="36" name="Text 34"/>
          <p:cNvSpPr/>
          <p:nvPr/>
        </p:nvSpPr>
        <p:spPr>
          <a:xfrm>
            <a:off x="9966960" y="3685032"/>
            <a:ext cx="1426464" cy="228600"/>
          </a:xfrm>
          <a:prstGeom prst="rect">
            <a:avLst/>
          </a:prstGeom>
          <a:noFill/>
          <a:ln/>
        </p:spPr>
        <p:txBody>
          <a:bodyPr wrap="square" lIns="0" tIns="0" rIns="0" bIns="0" rtlCol="0" anchor="ctr"/>
          <a:lstStyle/>
          <a:p>
            <a:pPr marL="0" indent="0">
              <a:buNone/>
            </a:pPr>
            <a:r>
              <a:rPr lang="en-US" sz="1100" b="1" dirty="0">
                <a:solidFill>
                  <a:srgbClr val="0F172A"/>
                </a:solidFill>
                <a:latin typeface="Aptos" pitchFamily="34" charset="0"/>
                <a:ea typeface="Aptos" pitchFamily="34" charset="-122"/>
                <a:cs typeface="Aptos" pitchFamily="34" charset="-120"/>
              </a:rPr>
              <a:t>5. Cite</a:t>
            </a:r>
            <a:endParaRPr lang="en-US" sz="1100" dirty="0"/>
          </a:p>
        </p:txBody>
      </p:sp>
      <p:sp>
        <p:nvSpPr>
          <p:cNvPr id="37" name="Text 35"/>
          <p:cNvSpPr/>
          <p:nvPr/>
        </p:nvSpPr>
        <p:spPr>
          <a:xfrm>
            <a:off x="9966960" y="4069080"/>
            <a:ext cx="1426464" cy="457200"/>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Show supporting sources</a:t>
            </a:r>
            <a:endParaRPr lang="en-US" sz="880" dirty="0"/>
          </a:p>
        </p:txBody>
      </p:sp>
      <p:sp>
        <p:nvSpPr>
          <p:cNvPr id="38" name="Shape 36"/>
          <p:cNvSpPr/>
          <p:nvPr/>
        </p:nvSpPr>
        <p:spPr>
          <a:xfrm>
            <a:off x="1371600" y="5193792"/>
            <a:ext cx="9464040" cy="621792"/>
          </a:xfrm>
          <a:prstGeom prst="roundRect">
            <a:avLst>
              <a:gd name="adj" fmla="val 26471"/>
            </a:avLst>
          </a:prstGeom>
          <a:solidFill>
            <a:srgbClr val="EAF8EF"/>
          </a:solidFill>
          <a:ln w="12700">
            <a:solidFill>
              <a:srgbClr val="CDEDDD"/>
            </a:solidFill>
            <a:prstDash val="solid"/>
          </a:ln>
        </p:spPr>
      </p:sp>
      <p:sp>
        <p:nvSpPr>
          <p:cNvPr id="39" name="Text 37"/>
          <p:cNvSpPr/>
          <p:nvPr/>
        </p:nvSpPr>
        <p:spPr>
          <a:xfrm>
            <a:off x="1664208" y="5385816"/>
            <a:ext cx="8887968" cy="201168"/>
          </a:xfrm>
          <a:prstGeom prst="rect">
            <a:avLst/>
          </a:prstGeom>
          <a:noFill/>
          <a:ln/>
        </p:spPr>
        <p:txBody>
          <a:bodyPr wrap="square" lIns="0" tIns="0" rIns="0" bIns="0" rtlCol="0" anchor="ctr"/>
          <a:lstStyle/>
          <a:p>
            <a:pPr marL="0" indent="0" algn="ctr">
              <a:buNone/>
            </a:pPr>
            <a:r>
              <a:rPr lang="en-US" sz="1020" b="1" dirty="0">
                <a:solidFill>
                  <a:srgbClr val="176B52"/>
                </a:solidFill>
                <a:latin typeface="Aptos" pitchFamily="34" charset="0"/>
                <a:ea typeface="Aptos" pitchFamily="34" charset="-122"/>
                <a:cs typeface="Aptos" pitchFamily="34" charset="-120"/>
              </a:rPr>
              <a:t>Key idea: the LLM does not search the company on its own—the RAG layer retrieves authorized evidence first.</a:t>
            </a:r>
            <a:endParaRPr lang="en-US" sz="1020" dirty="0"/>
          </a:p>
        </p:txBody>
      </p:sp>
      <p:sp>
        <p:nvSpPr>
          <p:cNvPr id="40"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6. RAG lifecycle — two flows working together</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One flow prepares the knowledge base; the other answers user questions.</a:t>
            </a:r>
            <a:endParaRPr lang="en-US" sz="1150" dirty="0"/>
          </a:p>
        </p:txBody>
      </p:sp>
      <p:sp>
        <p:nvSpPr>
          <p:cNvPr id="4" name="Shape 2"/>
          <p:cNvSpPr/>
          <p:nvPr/>
        </p:nvSpPr>
        <p:spPr>
          <a:xfrm>
            <a:off x="566928" y="1353312"/>
            <a:ext cx="1993392" cy="301752"/>
          </a:xfrm>
          <a:prstGeom prst="roundRect">
            <a:avLst>
              <a:gd name="adj" fmla="val 48485"/>
            </a:avLst>
          </a:prstGeom>
          <a:solidFill>
            <a:srgbClr val="EAF2FF"/>
          </a:solidFill>
          <a:ln w="12700">
            <a:solidFill>
              <a:srgbClr val="EAF2FF"/>
            </a:solidFill>
            <a:prstDash val="solid"/>
          </a:ln>
        </p:spPr>
      </p:sp>
      <p:sp>
        <p:nvSpPr>
          <p:cNvPr id="5" name="Text 3"/>
          <p:cNvSpPr/>
          <p:nvPr/>
        </p:nvSpPr>
        <p:spPr>
          <a:xfrm>
            <a:off x="640080" y="1421892"/>
            <a:ext cx="1847088" cy="137160"/>
          </a:xfrm>
          <a:prstGeom prst="rect">
            <a:avLst/>
          </a:prstGeom>
          <a:noFill/>
          <a:ln/>
        </p:spPr>
        <p:txBody>
          <a:bodyPr wrap="square" lIns="0" tIns="0" rIns="0" bIns="0" rtlCol="0" anchor="ctr"/>
          <a:lstStyle/>
          <a:p>
            <a:pPr marL="0" indent="0" algn="ctr">
              <a:buNone/>
            </a:pPr>
            <a:r>
              <a:rPr lang="en-US" sz="850" b="1" dirty="0">
                <a:solidFill>
                  <a:srgbClr val="2563EB"/>
                </a:solidFill>
              </a:rPr>
              <a:t>A  •  DOCUMENT INGESTION</a:t>
            </a:r>
            <a:endParaRPr lang="en-US" sz="850" dirty="0"/>
          </a:p>
        </p:txBody>
      </p:sp>
      <p:sp>
        <p:nvSpPr>
          <p:cNvPr id="6" name="Shape 4"/>
          <p:cNvSpPr/>
          <p:nvPr/>
        </p:nvSpPr>
        <p:spPr>
          <a:xfrm>
            <a:off x="658368" y="1856232"/>
            <a:ext cx="4315968" cy="530352"/>
          </a:xfrm>
          <a:prstGeom prst="roundRect">
            <a:avLst>
              <a:gd name="adj" fmla="val 31034"/>
            </a:avLst>
          </a:prstGeom>
          <a:solidFill>
            <a:srgbClr val="FFFFFF"/>
          </a:solidFill>
          <a:ln w="12700">
            <a:solidFill>
              <a:srgbClr val="DCE3ED"/>
            </a:solidFill>
            <a:prstDash val="solid"/>
          </a:ln>
        </p:spPr>
      </p:sp>
      <p:sp>
        <p:nvSpPr>
          <p:cNvPr id="7" name="Shape 5"/>
          <p:cNvSpPr/>
          <p:nvPr/>
        </p:nvSpPr>
        <p:spPr>
          <a:xfrm>
            <a:off x="832104" y="1956816"/>
            <a:ext cx="310896" cy="310896"/>
          </a:xfrm>
          <a:prstGeom prst="ellipse">
            <a:avLst/>
          </a:prstGeom>
          <a:solidFill>
            <a:srgbClr val="2563EB"/>
          </a:solidFill>
          <a:ln w="12700">
            <a:solidFill>
              <a:srgbClr val="2563EB"/>
            </a:solidFill>
            <a:prstDash val="solid"/>
          </a:ln>
        </p:spPr>
      </p:sp>
      <p:sp>
        <p:nvSpPr>
          <p:cNvPr id="8" name="Text 6"/>
          <p:cNvSpPr/>
          <p:nvPr/>
        </p:nvSpPr>
        <p:spPr>
          <a:xfrm>
            <a:off x="841248" y="1984248"/>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9" name="Text 7"/>
          <p:cNvSpPr/>
          <p:nvPr/>
        </p:nvSpPr>
        <p:spPr>
          <a:xfrm>
            <a:off x="1307592" y="1984248"/>
            <a:ext cx="1078992"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Upload</a:t>
            </a:r>
            <a:endParaRPr lang="en-US" sz="980" dirty="0"/>
          </a:p>
        </p:txBody>
      </p:sp>
      <p:sp>
        <p:nvSpPr>
          <p:cNvPr id="10" name="Text 8"/>
          <p:cNvSpPr/>
          <p:nvPr/>
        </p:nvSpPr>
        <p:spPr>
          <a:xfrm>
            <a:off x="2331720" y="1984248"/>
            <a:ext cx="2359152"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PDF / policy / manual</a:t>
            </a:r>
            <a:endParaRPr lang="en-US" sz="880" dirty="0"/>
          </a:p>
        </p:txBody>
      </p:sp>
      <p:sp>
        <p:nvSpPr>
          <p:cNvPr id="11" name="Shape 9"/>
          <p:cNvSpPr/>
          <p:nvPr/>
        </p:nvSpPr>
        <p:spPr>
          <a:xfrm>
            <a:off x="658368" y="2569464"/>
            <a:ext cx="4315968" cy="530352"/>
          </a:xfrm>
          <a:prstGeom prst="roundRect">
            <a:avLst>
              <a:gd name="adj" fmla="val 31034"/>
            </a:avLst>
          </a:prstGeom>
          <a:solidFill>
            <a:srgbClr val="FFFFFF"/>
          </a:solidFill>
          <a:ln w="12700">
            <a:solidFill>
              <a:srgbClr val="DCE3ED"/>
            </a:solidFill>
            <a:prstDash val="solid"/>
          </a:ln>
        </p:spPr>
      </p:sp>
      <p:sp>
        <p:nvSpPr>
          <p:cNvPr id="12" name="Shape 10"/>
          <p:cNvSpPr/>
          <p:nvPr/>
        </p:nvSpPr>
        <p:spPr>
          <a:xfrm>
            <a:off x="832104" y="2670048"/>
            <a:ext cx="310896" cy="310896"/>
          </a:xfrm>
          <a:prstGeom prst="ellipse">
            <a:avLst/>
          </a:prstGeom>
          <a:solidFill>
            <a:srgbClr val="2563EB"/>
          </a:solidFill>
          <a:ln w="12700">
            <a:solidFill>
              <a:srgbClr val="2563EB"/>
            </a:solidFill>
            <a:prstDash val="solid"/>
          </a:ln>
        </p:spPr>
      </p:sp>
      <p:sp>
        <p:nvSpPr>
          <p:cNvPr id="13" name="Text 11"/>
          <p:cNvSpPr/>
          <p:nvPr/>
        </p:nvSpPr>
        <p:spPr>
          <a:xfrm>
            <a:off x="841248" y="2697480"/>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4" name="Text 12"/>
          <p:cNvSpPr/>
          <p:nvPr/>
        </p:nvSpPr>
        <p:spPr>
          <a:xfrm>
            <a:off x="1307592" y="2697480"/>
            <a:ext cx="1078992"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Extract</a:t>
            </a:r>
            <a:endParaRPr lang="en-US" sz="980" dirty="0"/>
          </a:p>
        </p:txBody>
      </p:sp>
      <p:sp>
        <p:nvSpPr>
          <p:cNvPr id="15" name="Text 13"/>
          <p:cNvSpPr/>
          <p:nvPr/>
        </p:nvSpPr>
        <p:spPr>
          <a:xfrm>
            <a:off x="2331720" y="2697480"/>
            <a:ext cx="2359152"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Read document text</a:t>
            </a:r>
            <a:endParaRPr lang="en-US" sz="880" dirty="0"/>
          </a:p>
        </p:txBody>
      </p:sp>
      <p:sp>
        <p:nvSpPr>
          <p:cNvPr id="16" name="Shape 14"/>
          <p:cNvSpPr/>
          <p:nvPr/>
        </p:nvSpPr>
        <p:spPr>
          <a:xfrm>
            <a:off x="658368" y="3282696"/>
            <a:ext cx="4315968" cy="530352"/>
          </a:xfrm>
          <a:prstGeom prst="roundRect">
            <a:avLst>
              <a:gd name="adj" fmla="val 31034"/>
            </a:avLst>
          </a:prstGeom>
          <a:solidFill>
            <a:srgbClr val="FFFFFF"/>
          </a:solidFill>
          <a:ln w="12700">
            <a:solidFill>
              <a:srgbClr val="DCE3ED"/>
            </a:solidFill>
            <a:prstDash val="solid"/>
          </a:ln>
        </p:spPr>
      </p:sp>
      <p:sp>
        <p:nvSpPr>
          <p:cNvPr id="17" name="Shape 15"/>
          <p:cNvSpPr/>
          <p:nvPr/>
        </p:nvSpPr>
        <p:spPr>
          <a:xfrm>
            <a:off x="832104" y="3383280"/>
            <a:ext cx="310896" cy="310896"/>
          </a:xfrm>
          <a:prstGeom prst="ellipse">
            <a:avLst/>
          </a:prstGeom>
          <a:solidFill>
            <a:srgbClr val="2563EB"/>
          </a:solidFill>
          <a:ln w="12700">
            <a:solidFill>
              <a:srgbClr val="2563EB"/>
            </a:solidFill>
            <a:prstDash val="solid"/>
          </a:ln>
        </p:spPr>
      </p:sp>
      <p:sp>
        <p:nvSpPr>
          <p:cNvPr id="18" name="Text 16"/>
          <p:cNvSpPr/>
          <p:nvPr/>
        </p:nvSpPr>
        <p:spPr>
          <a:xfrm>
            <a:off x="841248" y="3410712"/>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19" name="Text 17"/>
          <p:cNvSpPr/>
          <p:nvPr/>
        </p:nvSpPr>
        <p:spPr>
          <a:xfrm>
            <a:off x="1307592" y="3410712"/>
            <a:ext cx="1078992"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Chunk</a:t>
            </a:r>
            <a:endParaRPr lang="en-US" sz="980" dirty="0"/>
          </a:p>
        </p:txBody>
      </p:sp>
      <p:sp>
        <p:nvSpPr>
          <p:cNvPr id="20" name="Text 18"/>
          <p:cNvSpPr/>
          <p:nvPr/>
        </p:nvSpPr>
        <p:spPr>
          <a:xfrm>
            <a:off x="2331720" y="3410712"/>
            <a:ext cx="2359152"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Split into useful passages</a:t>
            </a:r>
            <a:endParaRPr lang="en-US" sz="880" dirty="0"/>
          </a:p>
        </p:txBody>
      </p:sp>
      <p:sp>
        <p:nvSpPr>
          <p:cNvPr id="21" name="Shape 19"/>
          <p:cNvSpPr/>
          <p:nvPr/>
        </p:nvSpPr>
        <p:spPr>
          <a:xfrm>
            <a:off x="658368" y="3995928"/>
            <a:ext cx="4315968" cy="530352"/>
          </a:xfrm>
          <a:prstGeom prst="roundRect">
            <a:avLst>
              <a:gd name="adj" fmla="val 31034"/>
            </a:avLst>
          </a:prstGeom>
          <a:solidFill>
            <a:srgbClr val="FFFFFF"/>
          </a:solidFill>
          <a:ln w="12700">
            <a:solidFill>
              <a:srgbClr val="DCE3ED"/>
            </a:solidFill>
            <a:prstDash val="solid"/>
          </a:ln>
        </p:spPr>
      </p:sp>
      <p:sp>
        <p:nvSpPr>
          <p:cNvPr id="22" name="Shape 20"/>
          <p:cNvSpPr/>
          <p:nvPr/>
        </p:nvSpPr>
        <p:spPr>
          <a:xfrm>
            <a:off x="832104" y="4096512"/>
            <a:ext cx="310896" cy="310896"/>
          </a:xfrm>
          <a:prstGeom prst="ellipse">
            <a:avLst/>
          </a:prstGeom>
          <a:solidFill>
            <a:srgbClr val="2563EB"/>
          </a:solidFill>
          <a:ln w="12700">
            <a:solidFill>
              <a:srgbClr val="2563EB"/>
            </a:solidFill>
            <a:prstDash val="solid"/>
          </a:ln>
        </p:spPr>
      </p:sp>
      <p:sp>
        <p:nvSpPr>
          <p:cNvPr id="23" name="Text 21"/>
          <p:cNvSpPr/>
          <p:nvPr/>
        </p:nvSpPr>
        <p:spPr>
          <a:xfrm>
            <a:off x="841248" y="4123944"/>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24" name="Text 22"/>
          <p:cNvSpPr/>
          <p:nvPr/>
        </p:nvSpPr>
        <p:spPr>
          <a:xfrm>
            <a:off x="1307592" y="4123944"/>
            <a:ext cx="1078992"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Embed</a:t>
            </a:r>
            <a:endParaRPr lang="en-US" sz="980" dirty="0"/>
          </a:p>
        </p:txBody>
      </p:sp>
      <p:sp>
        <p:nvSpPr>
          <p:cNvPr id="25" name="Text 23"/>
          <p:cNvSpPr/>
          <p:nvPr/>
        </p:nvSpPr>
        <p:spPr>
          <a:xfrm>
            <a:off x="2331720" y="4123944"/>
            <a:ext cx="2359152"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Convert passages to vectors</a:t>
            </a:r>
            <a:endParaRPr lang="en-US" sz="880" dirty="0"/>
          </a:p>
        </p:txBody>
      </p:sp>
      <p:sp>
        <p:nvSpPr>
          <p:cNvPr id="26" name="Shape 24"/>
          <p:cNvSpPr/>
          <p:nvPr/>
        </p:nvSpPr>
        <p:spPr>
          <a:xfrm>
            <a:off x="658368" y="4709160"/>
            <a:ext cx="4315968" cy="530352"/>
          </a:xfrm>
          <a:prstGeom prst="roundRect">
            <a:avLst>
              <a:gd name="adj" fmla="val 31034"/>
            </a:avLst>
          </a:prstGeom>
          <a:solidFill>
            <a:srgbClr val="FFFFFF"/>
          </a:solidFill>
          <a:ln w="12700">
            <a:solidFill>
              <a:srgbClr val="DCE3ED"/>
            </a:solidFill>
            <a:prstDash val="solid"/>
          </a:ln>
        </p:spPr>
      </p:sp>
      <p:sp>
        <p:nvSpPr>
          <p:cNvPr id="27" name="Shape 25"/>
          <p:cNvSpPr/>
          <p:nvPr/>
        </p:nvSpPr>
        <p:spPr>
          <a:xfrm>
            <a:off x="832104" y="4809744"/>
            <a:ext cx="310896" cy="310896"/>
          </a:xfrm>
          <a:prstGeom prst="ellipse">
            <a:avLst/>
          </a:prstGeom>
          <a:solidFill>
            <a:srgbClr val="2563EB"/>
          </a:solidFill>
          <a:ln w="12700">
            <a:solidFill>
              <a:srgbClr val="2563EB"/>
            </a:solidFill>
            <a:prstDash val="solid"/>
          </a:ln>
        </p:spPr>
      </p:sp>
      <p:sp>
        <p:nvSpPr>
          <p:cNvPr id="28" name="Text 26"/>
          <p:cNvSpPr/>
          <p:nvPr/>
        </p:nvSpPr>
        <p:spPr>
          <a:xfrm>
            <a:off x="841248" y="4837176"/>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29" name="Text 27"/>
          <p:cNvSpPr/>
          <p:nvPr/>
        </p:nvSpPr>
        <p:spPr>
          <a:xfrm>
            <a:off x="1307592" y="4837176"/>
            <a:ext cx="1078992"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Index</a:t>
            </a:r>
            <a:endParaRPr lang="en-US" sz="980" dirty="0"/>
          </a:p>
        </p:txBody>
      </p:sp>
      <p:sp>
        <p:nvSpPr>
          <p:cNvPr id="30" name="Text 28"/>
          <p:cNvSpPr/>
          <p:nvPr/>
        </p:nvSpPr>
        <p:spPr>
          <a:xfrm>
            <a:off x="2331720" y="4837176"/>
            <a:ext cx="2359152"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Store in vector DB</a:t>
            </a:r>
            <a:endParaRPr lang="en-US" sz="880" dirty="0"/>
          </a:p>
        </p:txBody>
      </p:sp>
      <p:sp>
        <p:nvSpPr>
          <p:cNvPr id="31" name="Shape 29"/>
          <p:cNvSpPr/>
          <p:nvPr/>
        </p:nvSpPr>
        <p:spPr>
          <a:xfrm>
            <a:off x="6071616" y="1353312"/>
            <a:ext cx="1993392" cy="301752"/>
          </a:xfrm>
          <a:prstGeom prst="roundRect">
            <a:avLst>
              <a:gd name="adj" fmla="val 48485"/>
            </a:avLst>
          </a:prstGeom>
          <a:solidFill>
            <a:srgbClr val="E8FBF7"/>
          </a:solidFill>
          <a:ln w="12700">
            <a:solidFill>
              <a:srgbClr val="E8FBF7"/>
            </a:solidFill>
            <a:prstDash val="solid"/>
          </a:ln>
        </p:spPr>
      </p:sp>
      <p:sp>
        <p:nvSpPr>
          <p:cNvPr id="32" name="Text 30"/>
          <p:cNvSpPr/>
          <p:nvPr/>
        </p:nvSpPr>
        <p:spPr>
          <a:xfrm>
            <a:off x="6144768" y="1421892"/>
            <a:ext cx="1847088" cy="137160"/>
          </a:xfrm>
          <a:prstGeom prst="rect">
            <a:avLst/>
          </a:prstGeom>
          <a:noFill/>
          <a:ln/>
        </p:spPr>
        <p:txBody>
          <a:bodyPr wrap="square" lIns="0" tIns="0" rIns="0" bIns="0" rtlCol="0" anchor="ctr"/>
          <a:lstStyle/>
          <a:p>
            <a:pPr marL="0" indent="0" algn="ctr">
              <a:buNone/>
            </a:pPr>
            <a:r>
              <a:rPr lang="en-US" sz="850" b="1" dirty="0">
                <a:solidFill>
                  <a:srgbClr val="0F9D8C"/>
                </a:solidFill>
              </a:rPr>
              <a:t>B  •  QUESTION ANSWERING</a:t>
            </a:r>
            <a:endParaRPr lang="en-US" sz="850" dirty="0"/>
          </a:p>
        </p:txBody>
      </p:sp>
      <p:sp>
        <p:nvSpPr>
          <p:cNvPr id="33" name="Shape 31"/>
          <p:cNvSpPr/>
          <p:nvPr/>
        </p:nvSpPr>
        <p:spPr>
          <a:xfrm>
            <a:off x="6163056" y="1856232"/>
            <a:ext cx="4663440" cy="530352"/>
          </a:xfrm>
          <a:prstGeom prst="roundRect">
            <a:avLst>
              <a:gd name="adj" fmla="val 31034"/>
            </a:avLst>
          </a:prstGeom>
          <a:solidFill>
            <a:srgbClr val="FFFFFF"/>
          </a:solidFill>
          <a:ln w="12700">
            <a:solidFill>
              <a:srgbClr val="DCE3ED"/>
            </a:solidFill>
            <a:prstDash val="solid"/>
          </a:ln>
        </p:spPr>
      </p:sp>
      <p:sp>
        <p:nvSpPr>
          <p:cNvPr id="34" name="Shape 32"/>
          <p:cNvSpPr/>
          <p:nvPr/>
        </p:nvSpPr>
        <p:spPr>
          <a:xfrm>
            <a:off x="6336792" y="1956816"/>
            <a:ext cx="310896" cy="310896"/>
          </a:xfrm>
          <a:prstGeom prst="ellipse">
            <a:avLst/>
          </a:prstGeom>
          <a:solidFill>
            <a:srgbClr val="0F9D8C"/>
          </a:solidFill>
          <a:ln w="12700">
            <a:solidFill>
              <a:srgbClr val="0F9D8C"/>
            </a:solidFill>
            <a:prstDash val="solid"/>
          </a:ln>
        </p:spPr>
      </p:sp>
      <p:sp>
        <p:nvSpPr>
          <p:cNvPr id="35" name="Text 33"/>
          <p:cNvSpPr/>
          <p:nvPr/>
        </p:nvSpPr>
        <p:spPr>
          <a:xfrm>
            <a:off x="6345936" y="1984248"/>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36" name="Text 34"/>
          <p:cNvSpPr/>
          <p:nvPr/>
        </p:nvSpPr>
        <p:spPr>
          <a:xfrm>
            <a:off x="6821424" y="1984248"/>
            <a:ext cx="1051560"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Ask</a:t>
            </a:r>
            <a:endParaRPr lang="en-US" sz="980" dirty="0"/>
          </a:p>
        </p:txBody>
      </p:sp>
      <p:sp>
        <p:nvSpPr>
          <p:cNvPr id="37" name="Text 35"/>
          <p:cNvSpPr/>
          <p:nvPr/>
        </p:nvSpPr>
        <p:spPr>
          <a:xfrm>
            <a:off x="7818120" y="1984248"/>
            <a:ext cx="2615184"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Employee asks a question</a:t>
            </a:r>
            <a:endParaRPr lang="en-US" sz="880" dirty="0"/>
          </a:p>
        </p:txBody>
      </p:sp>
      <p:sp>
        <p:nvSpPr>
          <p:cNvPr id="38" name="Shape 36"/>
          <p:cNvSpPr/>
          <p:nvPr/>
        </p:nvSpPr>
        <p:spPr>
          <a:xfrm>
            <a:off x="6163056" y="2569464"/>
            <a:ext cx="4663440" cy="530352"/>
          </a:xfrm>
          <a:prstGeom prst="roundRect">
            <a:avLst>
              <a:gd name="adj" fmla="val 31034"/>
            </a:avLst>
          </a:prstGeom>
          <a:solidFill>
            <a:srgbClr val="FFFFFF"/>
          </a:solidFill>
          <a:ln w="12700">
            <a:solidFill>
              <a:srgbClr val="DCE3ED"/>
            </a:solidFill>
            <a:prstDash val="solid"/>
          </a:ln>
        </p:spPr>
      </p:sp>
      <p:sp>
        <p:nvSpPr>
          <p:cNvPr id="39" name="Shape 37"/>
          <p:cNvSpPr/>
          <p:nvPr/>
        </p:nvSpPr>
        <p:spPr>
          <a:xfrm>
            <a:off x="6336792" y="2670048"/>
            <a:ext cx="310896" cy="310896"/>
          </a:xfrm>
          <a:prstGeom prst="ellipse">
            <a:avLst/>
          </a:prstGeom>
          <a:solidFill>
            <a:srgbClr val="0F9D8C"/>
          </a:solidFill>
          <a:ln w="12700">
            <a:solidFill>
              <a:srgbClr val="0F9D8C"/>
            </a:solidFill>
            <a:prstDash val="solid"/>
          </a:ln>
        </p:spPr>
      </p:sp>
      <p:sp>
        <p:nvSpPr>
          <p:cNvPr id="40" name="Text 38"/>
          <p:cNvSpPr/>
          <p:nvPr/>
        </p:nvSpPr>
        <p:spPr>
          <a:xfrm>
            <a:off x="6345936" y="2697480"/>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41" name="Text 39"/>
          <p:cNvSpPr/>
          <p:nvPr/>
        </p:nvSpPr>
        <p:spPr>
          <a:xfrm>
            <a:off x="6821424" y="2697480"/>
            <a:ext cx="1051560"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Search</a:t>
            </a:r>
            <a:endParaRPr lang="en-US" sz="980" dirty="0"/>
          </a:p>
        </p:txBody>
      </p:sp>
      <p:sp>
        <p:nvSpPr>
          <p:cNvPr id="42" name="Text 40"/>
          <p:cNvSpPr/>
          <p:nvPr/>
        </p:nvSpPr>
        <p:spPr>
          <a:xfrm>
            <a:off x="7818120" y="2697480"/>
            <a:ext cx="2615184"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Retrieve similar chunks</a:t>
            </a:r>
            <a:endParaRPr lang="en-US" sz="880" dirty="0"/>
          </a:p>
        </p:txBody>
      </p:sp>
      <p:sp>
        <p:nvSpPr>
          <p:cNvPr id="43" name="Shape 41"/>
          <p:cNvSpPr/>
          <p:nvPr/>
        </p:nvSpPr>
        <p:spPr>
          <a:xfrm>
            <a:off x="6163056" y="3282696"/>
            <a:ext cx="4663440" cy="530352"/>
          </a:xfrm>
          <a:prstGeom prst="roundRect">
            <a:avLst>
              <a:gd name="adj" fmla="val 31034"/>
            </a:avLst>
          </a:prstGeom>
          <a:solidFill>
            <a:srgbClr val="FFFFFF"/>
          </a:solidFill>
          <a:ln w="12700">
            <a:solidFill>
              <a:srgbClr val="DCE3ED"/>
            </a:solidFill>
            <a:prstDash val="solid"/>
          </a:ln>
        </p:spPr>
      </p:sp>
      <p:sp>
        <p:nvSpPr>
          <p:cNvPr id="44" name="Shape 42"/>
          <p:cNvSpPr/>
          <p:nvPr/>
        </p:nvSpPr>
        <p:spPr>
          <a:xfrm>
            <a:off x="6336792" y="3383280"/>
            <a:ext cx="310896" cy="310896"/>
          </a:xfrm>
          <a:prstGeom prst="ellipse">
            <a:avLst/>
          </a:prstGeom>
          <a:solidFill>
            <a:srgbClr val="0F9D8C"/>
          </a:solidFill>
          <a:ln w="12700">
            <a:solidFill>
              <a:srgbClr val="0F9D8C"/>
            </a:solidFill>
            <a:prstDash val="solid"/>
          </a:ln>
        </p:spPr>
      </p:sp>
      <p:sp>
        <p:nvSpPr>
          <p:cNvPr id="45" name="Text 43"/>
          <p:cNvSpPr/>
          <p:nvPr/>
        </p:nvSpPr>
        <p:spPr>
          <a:xfrm>
            <a:off x="6345936" y="3410712"/>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46" name="Text 44"/>
          <p:cNvSpPr/>
          <p:nvPr/>
        </p:nvSpPr>
        <p:spPr>
          <a:xfrm>
            <a:off x="6821424" y="3410712"/>
            <a:ext cx="1051560"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Filter</a:t>
            </a:r>
            <a:endParaRPr lang="en-US" sz="980" dirty="0"/>
          </a:p>
        </p:txBody>
      </p:sp>
      <p:sp>
        <p:nvSpPr>
          <p:cNvPr id="47" name="Text 45"/>
          <p:cNvSpPr/>
          <p:nvPr/>
        </p:nvSpPr>
        <p:spPr>
          <a:xfrm>
            <a:off x="7818120" y="3410712"/>
            <a:ext cx="2615184"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Apply user permissions</a:t>
            </a:r>
            <a:endParaRPr lang="en-US" sz="880" dirty="0"/>
          </a:p>
        </p:txBody>
      </p:sp>
      <p:sp>
        <p:nvSpPr>
          <p:cNvPr id="48" name="Shape 46"/>
          <p:cNvSpPr/>
          <p:nvPr/>
        </p:nvSpPr>
        <p:spPr>
          <a:xfrm>
            <a:off x="6163056" y="3995928"/>
            <a:ext cx="4663440" cy="530352"/>
          </a:xfrm>
          <a:prstGeom prst="roundRect">
            <a:avLst>
              <a:gd name="adj" fmla="val 31034"/>
            </a:avLst>
          </a:prstGeom>
          <a:solidFill>
            <a:srgbClr val="FFFFFF"/>
          </a:solidFill>
          <a:ln w="12700">
            <a:solidFill>
              <a:srgbClr val="DCE3ED"/>
            </a:solidFill>
            <a:prstDash val="solid"/>
          </a:ln>
        </p:spPr>
      </p:sp>
      <p:sp>
        <p:nvSpPr>
          <p:cNvPr id="49" name="Shape 47"/>
          <p:cNvSpPr/>
          <p:nvPr/>
        </p:nvSpPr>
        <p:spPr>
          <a:xfrm>
            <a:off x="6336792" y="4096512"/>
            <a:ext cx="310896" cy="310896"/>
          </a:xfrm>
          <a:prstGeom prst="ellipse">
            <a:avLst/>
          </a:prstGeom>
          <a:solidFill>
            <a:srgbClr val="0F9D8C"/>
          </a:solidFill>
          <a:ln w="12700">
            <a:solidFill>
              <a:srgbClr val="0F9D8C"/>
            </a:solidFill>
            <a:prstDash val="solid"/>
          </a:ln>
        </p:spPr>
      </p:sp>
      <p:sp>
        <p:nvSpPr>
          <p:cNvPr id="50" name="Text 48"/>
          <p:cNvSpPr/>
          <p:nvPr/>
        </p:nvSpPr>
        <p:spPr>
          <a:xfrm>
            <a:off x="6345936" y="4123944"/>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51" name="Text 49"/>
          <p:cNvSpPr/>
          <p:nvPr/>
        </p:nvSpPr>
        <p:spPr>
          <a:xfrm>
            <a:off x="6821424" y="4123944"/>
            <a:ext cx="1051560"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Generate</a:t>
            </a:r>
            <a:endParaRPr lang="en-US" sz="980" dirty="0"/>
          </a:p>
        </p:txBody>
      </p:sp>
      <p:sp>
        <p:nvSpPr>
          <p:cNvPr id="52" name="Text 50"/>
          <p:cNvSpPr/>
          <p:nvPr/>
        </p:nvSpPr>
        <p:spPr>
          <a:xfrm>
            <a:off x="7818120" y="4123944"/>
            <a:ext cx="2615184"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LLM answers with context</a:t>
            </a:r>
            <a:endParaRPr lang="en-US" sz="880" dirty="0"/>
          </a:p>
        </p:txBody>
      </p:sp>
      <p:sp>
        <p:nvSpPr>
          <p:cNvPr id="53" name="Shape 51"/>
          <p:cNvSpPr/>
          <p:nvPr/>
        </p:nvSpPr>
        <p:spPr>
          <a:xfrm>
            <a:off x="6163056" y="4709160"/>
            <a:ext cx="4663440" cy="530352"/>
          </a:xfrm>
          <a:prstGeom prst="roundRect">
            <a:avLst>
              <a:gd name="adj" fmla="val 31034"/>
            </a:avLst>
          </a:prstGeom>
          <a:solidFill>
            <a:srgbClr val="FFFFFF"/>
          </a:solidFill>
          <a:ln w="12700">
            <a:solidFill>
              <a:srgbClr val="DCE3ED"/>
            </a:solidFill>
            <a:prstDash val="solid"/>
          </a:ln>
        </p:spPr>
      </p:sp>
      <p:sp>
        <p:nvSpPr>
          <p:cNvPr id="54" name="Shape 52"/>
          <p:cNvSpPr/>
          <p:nvPr/>
        </p:nvSpPr>
        <p:spPr>
          <a:xfrm>
            <a:off x="6336792" y="4809744"/>
            <a:ext cx="310896" cy="310896"/>
          </a:xfrm>
          <a:prstGeom prst="ellipse">
            <a:avLst/>
          </a:prstGeom>
          <a:solidFill>
            <a:srgbClr val="0F9D8C"/>
          </a:solidFill>
          <a:ln w="12700">
            <a:solidFill>
              <a:srgbClr val="0F9D8C"/>
            </a:solidFill>
            <a:prstDash val="solid"/>
          </a:ln>
        </p:spPr>
      </p:sp>
      <p:sp>
        <p:nvSpPr>
          <p:cNvPr id="55" name="Text 53"/>
          <p:cNvSpPr/>
          <p:nvPr/>
        </p:nvSpPr>
        <p:spPr>
          <a:xfrm>
            <a:off x="6345936" y="4837176"/>
            <a:ext cx="292608" cy="256032"/>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56" name="Text 54"/>
          <p:cNvSpPr/>
          <p:nvPr/>
        </p:nvSpPr>
        <p:spPr>
          <a:xfrm>
            <a:off x="6821424" y="4837176"/>
            <a:ext cx="1051560" cy="164592"/>
          </a:xfrm>
          <a:prstGeom prst="rect">
            <a:avLst/>
          </a:prstGeom>
          <a:noFill/>
          <a:ln/>
        </p:spPr>
        <p:txBody>
          <a:bodyPr wrap="square" lIns="0" tIns="0" rIns="0" bIns="0" rtlCol="0" anchor="ctr"/>
          <a:lstStyle/>
          <a:p>
            <a:pPr marL="0" indent="0">
              <a:buNone/>
            </a:pPr>
            <a:r>
              <a:rPr lang="en-US" sz="980" b="1" dirty="0">
                <a:solidFill>
                  <a:srgbClr val="0F172A"/>
                </a:solidFill>
                <a:latin typeface="Aptos" pitchFamily="34" charset="0"/>
                <a:ea typeface="Aptos" pitchFamily="34" charset="-122"/>
                <a:cs typeface="Aptos" pitchFamily="34" charset="-120"/>
              </a:rPr>
              <a:t>Cite</a:t>
            </a:r>
            <a:endParaRPr lang="en-US" sz="980" dirty="0"/>
          </a:p>
        </p:txBody>
      </p:sp>
      <p:sp>
        <p:nvSpPr>
          <p:cNvPr id="57" name="Text 55"/>
          <p:cNvSpPr/>
          <p:nvPr/>
        </p:nvSpPr>
        <p:spPr>
          <a:xfrm>
            <a:off x="7818120" y="4837176"/>
            <a:ext cx="2615184" cy="164592"/>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Return sources + answer</a:t>
            </a:r>
            <a:endParaRPr lang="en-US" sz="880" dirty="0"/>
          </a:p>
        </p:txBody>
      </p:sp>
      <p:sp>
        <p:nvSpPr>
          <p:cNvPr id="58" name="Shape 56"/>
          <p:cNvSpPr/>
          <p:nvPr/>
        </p:nvSpPr>
        <p:spPr>
          <a:xfrm>
            <a:off x="4992624" y="4325112"/>
            <a:ext cx="1115568" cy="0"/>
          </a:xfrm>
          <a:prstGeom prst="line">
            <a:avLst/>
          </a:prstGeom>
          <a:noFill/>
          <a:ln w="25400">
            <a:solidFill>
              <a:srgbClr val="F59E0B"/>
            </a:solidFill>
            <a:prstDash val="solid"/>
            <a:headEnd type="none"/>
            <a:tailEnd type="triangle"/>
          </a:ln>
        </p:spPr>
      </p:sp>
      <p:sp>
        <p:nvSpPr>
          <p:cNvPr id="59" name="Text 57"/>
          <p:cNvSpPr/>
          <p:nvPr/>
        </p:nvSpPr>
        <p:spPr>
          <a:xfrm>
            <a:off x="5074920" y="4014216"/>
            <a:ext cx="1005840" cy="146304"/>
          </a:xfrm>
          <a:prstGeom prst="rect">
            <a:avLst/>
          </a:prstGeom>
          <a:noFill/>
          <a:ln/>
        </p:spPr>
        <p:txBody>
          <a:bodyPr wrap="square" lIns="0" tIns="0" rIns="0" bIns="0" rtlCol="0" anchor="ctr"/>
          <a:lstStyle/>
          <a:p>
            <a:pPr marL="0" indent="0" algn="ctr">
              <a:buNone/>
            </a:pPr>
            <a:r>
              <a:rPr lang="en-US" sz="750" b="1" dirty="0">
                <a:solidFill>
                  <a:srgbClr val="F59E0B"/>
                </a:solidFill>
                <a:latin typeface="Aptos" pitchFamily="34" charset="0"/>
                <a:ea typeface="Aptos" pitchFamily="34" charset="-122"/>
                <a:cs typeface="Aptos" pitchFamily="34" charset="-120"/>
              </a:rPr>
              <a:t>knowledge base</a:t>
            </a:r>
            <a:endParaRPr lang="en-US" sz="750" dirty="0"/>
          </a:p>
        </p:txBody>
      </p:sp>
      <p:sp>
        <p:nvSpPr>
          <p:cNvPr id="60"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7. Trust, security and control</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Enterprise usefulness depends on getting the right answer to the right person.</a:t>
            </a:r>
            <a:endParaRPr lang="en-US" sz="1150" dirty="0"/>
          </a:p>
        </p:txBody>
      </p:sp>
      <p:sp>
        <p:nvSpPr>
          <p:cNvPr id="4" name="Shape 2"/>
          <p:cNvSpPr/>
          <p:nvPr/>
        </p:nvSpPr>
        <p:spPr>
          <a:xfrm>
            <a:off x="566928" y="1417320"/>
            <a:ext cx="2560320" cy="1874520"/>
          </a:xfrm>
          <a:prstGeom prst="roundRect">
            <a:avLst>
              <a:gd name="adj" fmla="val 8780"/>
            </a:avLst>
          </a:prstGeom>
          <a:solidFill>
            <a:srgbClr val="FFFFFF"/>
          </a:solidFill>
          <a:ln w="12700">
            <a:solidFill>
              <a:srgbClr val="DCE3ED"/>
            </a:solidFill>
            <a:prstDash val="solid"/>
          </a:ln>
        </p:spPr>
      </p:sp>
      <p:sp>
        <p:nvSpPr>
          <p:cNvPr id="5" name="Shape 3"/>
          <p:cNvSpPr/>
          <p:nvPr/>
        </p:nvSpPr>
        <p:spPr>
          <a:xfrm>
            <a:off x="740664" y="1618488"/>
            <a:ext cx="411480" cy="411480"/>
          </a:xfrm>
          <a:prstGeom prst="ellipse">
            <a:avLst/>
          </a:prstGeom>
          <a:solidFill>
            <a:srgbClr val="2563EB"/>
          </a:solidFill>
          <a:ln w="12700">
            <a:solidFill>
              <a:srgbClr val="2563EB"/>
            </a:solidFill>
            <a:prstDash val="solid"/>
          </a:ln>
        </p:spPr>
      </p:sp>
      <p:sp>
        <p:nvSpPr>
          <p:cNvPr id="6" name="Text 4"/>
          <p:cNvSpPr/>
          <p:nvPr/>
        </p:nvSpPr>
        <p:spPr>
          <a:xfrm>
            <a:off x="749808" y="1645920"/>
            <a:ext cx="393192" cy="356616"/>
          </a:xfrm>
          <a:prstGeom prst="rect">
            <a:avLst/>
          </a:prstGeom>
          <a:noFill/>
          <a:ln/>
        </p:spPr>
        <p:txBody>
          <a:bodyPr wrap="square" lIns="0" tIns="0" rIns="0" bIns="0" rtlCol="0" anchor="ctr"/>
          <a:lstStyle/>
          <a:p>
            <a:pPr marL="0" indent="0" algn="ctr">
              <a:buNone/>
            </a:pPr>
            <a:r>
              <a:rPr lang="en-US" sz="670" b="1" dirty="0">
                <a:solidFill>
                  <a:srgbClr val="FFFFFF"/>
                </a:solidFill>
              </a:rPr>
              <a:t>AUTH</a:t>
            </a:r>
            <a:endParaRPr lang="en-US" sz="670" dirty="0"/>
          </a:p>
        </p:txBody>
      </p:sp>
      <p:sp>
        <p:nvSpPr>
          <p:cNvPr id="7" name="Text 5"/>
          <p:cNvSpPr/>
          <p:nvPr/>
        </p:nvSpPr>
        <p:spPr>
          <a:xfrm>
            <a:off x="1280160" y="1636776"/>
            <a:ext cx="1645920"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Authentication</a:t>
            </a:r>
            <a:endParaRPr lang="en-US" sz="1150" dirty="0"/>
          </a:p>
        </p:txBody>
      </p:sp>
      <p:sp>
        <p:nvSpPr>
          <p:cNvPr id="8" name="Text 6"/>
          <p:cNvSpPr/>
          <p:nvPr/>
        </p:nvSpPr>
        <p:spPr>
          <a:xfrm>
            <a:off x="740664" y="2240280"/>
            <a:ext cx="2148840" cy="530352"/>
          </a:xfrm>
          <a:prstGeom prst="rect">
            <a:avLst/>
          </a:prstGeom>
          <a:noFill/>
          <a:ln/>
        </p:spPr>
        <p:txBody>
          <a:bodyPr wrap="square" lIns="0" tIns="0" rIns="0" bIns="0" rtlCol="0" anchor="ctr"/>
          <a:lstStyle/>
          <a:p>
            <a:pPr marL="0" indent="0">
              <a:buNone/>
            </a:pPr>
            <a:r>
              <a:rPr lang="en-US" sz="960" dirty="0">
                <a:solidFill>
                  <a:srgbClr val="64748B"/>
                </a:solidFill>
                <a:latin typeface="Aptos" pitchFamily="34" charset="0"/>
                <a:ea typeface="Aptos" pitchFamily="34" charset="-122"/>
                <a:cs typeface="Aptos" pitchFamily="34" charset="-120"/>
              </a:rPr>
              <a:t>Verify who the user is before access</a:t>
            </a:r>
            <a:endParaRPr lang="en-US" sz="960" dirty="0"/>
          </a:p>
        </p:txBody>
      </p:sp>
      <p:sp>
        <p:nvSpPr>
          <p:cNvPr id="9" name="Shape 7"/>
          <p:cNvSpPr/>
          <p:nvPr/>
        </p:nvSpPr>
        <p:spPr>
          <a:xfrm>
            <a:off x="3419856" y="1417320"/>
            <a:ext cx="2560320" cy="1874520"/>
          </a:xfrm>
          <a:prstGeom prst="roundRect">
            <a:avLst>
              <a:gd name="adj" fmla="val 8780"/>
            </a:avLst>
          </a:prstGeom>
          <a:solidFill>
            <a:srgbClr val="FFFFFF"/>
          </a:solidFill>
          <a:ln w="12700">
            <a:solidFill>
              <a:srgbClr val="DCE3ED"/>
            </a:solidFill>
            <a:prstDash val="solid"/>
          </a:ln>
        </p:spPr>
      </p:sp>
      <p:sp>
        <p:nvSpPr>
          <p:cNvPr id="10" name="Shape 8"/>
          <p:cNvSpPr/>
          <p:nvPr/>
        </p:nvSpPr>
        <p:spPr>
          <a:xfrm>
            <a:off x="3593592" y="1618488"/>
            <a:ext cx="411480" cy="411480"/>
          </a:xfrm>
          <a:prstGeom prst="ellipse">
            <a:avLst/>
          </a:prstGeom>
          <a:solidFill>
            <a:srgbClr val="7C3AED"/>
          </a:solidFill>
          <a:ln w="12700">
            <a:solidFill>
              <a:srgbClr val="7C3AED"/>
            </a:solidFill>
            <a:prstDash val="solid"/>
          </a:ln>
        </p:spPr>
      </p:sp>
      <p:sp>
        <p:nvSpPr>
          <p:cNvPr id="11" name="Text 9"/>
          <p:cNvSpPr/>
          <p:nvPr/>
        </p:nvSpPr>
        <p:spPr>
          <a:xfrm>
            <a:off x="3602736" y="1645920"/>
            <a:ext cx="393192" cy="356616"/>
          </a:xfrm>
          <a:prstGeom prst="rect">
            <a:avLst/>
          </a:prstGeom>
          <a:noFill/>
          <a:ln/>
        </p:spPr>
        <p:txBody>
          <a:bodyPr wrap="square" lIns="0" tIns="0" rIns="0" bIns="0" rtlCol="0" anchor="ctr"/>
          <a:lstStyle/>
          <a:p>
            <a:pPr marL="0" indent="0" algn="ctr">
              <a:buNone/>
            </a:pPr>
            <a:r>
              <a:rPr lang="en-US" sz="800" b="1" dirty="0">
                <a:solidFill>
                  <a:srgbClr val="FFFFFF"/>
                </a:solidFill>
              </a:rPr>
              <a:t>ACL</a:t>
            </a:r>
            <a:endParaRPr lang="en-US" sz="800" dirty="0"/>
          </a:p>
        </p:txBody>
      </p:sp>
      <p:sp>
        <p:nvSpPr>
          <p:cNvPr id="12" name="Text 10"/>
          <p:cNvSpPr/>
          <p:nvPr/>
        </p:nvSpPr>
        <p:spPr>
          <a:xfrm>
            <a:off x="4133088" y="1636776"/>
            <a:ext cx="1645920"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Document-level access</a:t>
            </a:r>
            <a:endParaRPr lang="en-US" sz="1150" dirty="0"/>
          </a:p>
        </p:txBody>
      </p:sp>
      <p:sp>
        <p:nvSpPr>
          <p:cNvPr id="13" name="Text 11"/>
          <p:cNvSpPr/>
          <p:nvPr/>
        </p:nvSpPr>
        <p:spPr>
          <a:xfrm>
            <a:off x="3593592" y="2240280"/>
            <a:ext cx="2148840" cy="530352"/>
          </a:xfrm>
          <a:prstGeom prst="rect">
            <a:avLst/>
          </a:prstGeom>
          <a:noFill/>
          <a:ln/>
        </p:spPr>
        <p:txBody>
          <a:bodyPr wrap="square" lIns="0" tIns="0" rIns="0" bIns="0" rtlCol="0" anchor="ctr"/>
          <a:lstStyle/>
          <a:p>
            <a:pPr marL="0" indent="0">
              <a:buNone/>
            </a:pPr>
            <a:r>
              <a:rPr lang="en-US" sz="960" dirty="0">
                <a:solidFill>
                  <a:srgbClr val="64748B"/>
                </a:solidFill>
                <a:latin typeface="Aptos" pitchFamily="34" charset="0"/>
                <a:ea typeface="Aptos" pitchFamily="34" charset="-122"/>
                <a:cs typeface="Aptos" pitchFamily="34" charset="-120"/>
              </a:rPr>
              <a:t>Filter retrieval by permissions</a:t>
            </a:r>
            <a:endParaRPr lang="en-US" sz="960" dirty="0"/>
          </a:p>
        </p:txBody>
      </p:sp>
      <p:sp>
        <p:nvSpPr>
          <p:cNvPr id="14" name="Shape 12"/>
          <p:cNvSpPr/>
          <p:nvPr/>
        </p:nvSpPr>
        <p:spPr>
          <a:xfrm>
            <a:off x="6272784" y="1417320"/>
            <a:ext cx="2560320" cy="1874520"/>
          </a:xfrm>
          <a:prstGeom prst="roundRect">
            <a:avLst>
              <a:gd name="adj" fmla="val 8780"/>
            </a:avLst>
          </a:prstGeom>
          <a:solidFill>
            <a:srgbClr val="FFFFFF"/>
          </a:solidFill>
          <a:ln w="12700">
            <a:solidFill>
              <a:srgbClr val="DCE3ED"/>
            </a:solidFill>
            <a:prstDash val="solid"/>
          </a:ln>
        </p:spPr>
      </p:sp>
      <p:sp>
        <p:nvSpPr>
          <p:cNvPr id="15" name="Shape 13"/>
          <p:cNvSpPr/>
          <p:nvPr/>
        </p:nvSpPr>
        <p:spPr>
          <a:xfrm>
            <a:off x="6446520" y="1618488"/>
            <a:ext cx="411480" cy="411480"/>
          </a:xfrm>
          <a:prstGeom prst="ellipse">
            <a:avLst/>
          </a:prstGeom>
          <a:solidFill>
            <a:srgbClr val="F59E0B"/>
          </a:solidFill>
          <a:ln w="12700">
            <a:solidFill>
              <a:srgbClr val="F59E0B"/>
            </a:solidFill>
            <a:prstDash val="solid"/>
          </a:ln>
        </p:spPr>
      </p:sp>
      <p:sp>
        <p:nvSpPr>
          <p:cNvPr id="16" name="Text 14"/>
          <p:cNvSpPr/>
          <p:nvPr/>
        </p:nvSpPr>
        <p:spPr>
          <a:xfrm>
            <a:off x="6455664" y="1645920"/>
            <a:ext cx="393192" cy="356616"/>
          </a:xfrm>
          <a:prstGeom prst="rect">
            <a:avLst/>
          </a:prstGeom>
          <a:noFill/>
          <a:ln/>
        </p:spPr>
        <p:txBody>
          <a:bodyPr wrap="square" lIns="0" tIns="0" rIns="0" bIns="0" rtlCol="0" anchor="ctr"/>
          <a:lstStyle/>
          <a:p>
            <a:pPr marL="0" indent="0" algn="ctr">
              <a:buNone/>
            </a:pPr>
            <a:r>
              <a:rPr lang="en-US" sz="800" b="1" dirty="0">
                <a:solidFill>
                  <a:srgbClr val="FFFFFF"/>
                </a:solidFill>
              </a:rPr>
              <a:t>SRC</a:t>
            </a:r>
            <a:endParaRPr lang="en-US" sz="800" dirty="0"/>
          </a:p>
        </p:txBody>
      </p:sp>
      <p:sp>
        <p:nvSpPr>
          <p:cNvPr id="17" name="Text 15"/>
          <p:cNvSpPr/>
          <p:nvPr/>
        </p:nvSpPr>
        <p:spPr>
          <a:xfrm>
            <a:off x="6986016" y="1636776"/>
            <a:ext cx="1645920"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Source citations</a:t>
            </a:r>
            <a:endParaRPr lang="en-US" sz="1150" dirty="0"/>
          </a:p>
        </p:txBody>
      </p:sp>
      <p:sp>
        <p:nvSpPr>
          <p:cNvPr id="18" name="Text 16"/>
          <p:cNvSpPr/>
          <p:nvPr/>
        </p:nvSpPr>
        <p:spPr>
          <a:xfrm>
            <a:off x="6446520" y="2240280"/>
            <a:ext cx="2148840" cy="530352"/>
          </a:xfrm>
          <a:prstGeom prst="rect">
            <a:avLst/>
          </a:prstGeom>
          <a:noFill/>
          <a:ln/>
        </p:spPr>
        <p:txBody>
          <a:bodyPr wrap="square" lIns="0" tIns="0" rIns="0" bIns="0" rtlCol="0" anchor="ctr"/>
          <a:lstStyle/>
          <a:p>
            <a:pPr marL="0" indent="0">
              <a:buNone/>
            </a:pPr>
            <a:r>
              <a:rPr lang="en-US" sz="960" dirty="0">
                <a:solidFill>
                  <a:srgbClr val="64748B"/>
                </a:solidFill>
                <a:latin typeface="Aptos" pitchFamily="34" charset="0"/>
                <a:ea typeface="Aptos" pitchFamily="34" charset="-122"/>
                <a:cs typeface="Aptos" pitchFamily="34" charset="-120"/>
              </a:rPr>
              <a:t>Show the evidence behind the answer</a:t>
            </a:r>
            <a:endParaRPr lang="en-US" sz="960" dirty="0"/>
          </a:p>
        </p:txBody>
      </p:sp>
      <p:sp>
        <p:nvSpPr>
          <p:cNvPr id="19" name="Shape 17"/>
          <p:cNvSpPr/>
          <p:nvPr/>
        </p:nvSpPr>
        <p:spPr>
          <a:xfrm>
            <a:off x="9125712" y="1417320"/>
            <a:ext cx="2560320" cy="1874520"/>
          </a:xfrm>
          <a:prstGeom prst="roundRect">
            <a:avLst>
              <a:gd name="adj" fmla="val 8780"/>
            </a:avLst>
          </a:prstGeom>
          <a:solidFill>
            <a:srgbClr val="FFFFFF"/>
          </a:solidFill>
          <a:ln w="12700">
            <a:solidFill>
              <a:srgbClr val="DCE3ED"/>
            </a:solidFill>
            <a:prstDash val="solid"/>
          </a:ln>
        </p:spPr>
      </p:sp>
      <p:sp>
        <p:nvSpPr>
          <p:cNvPr id="20" name="Shape 18"/>
          <p:cNvSpPr/>
          <p:nvPr/>
        </p:nvSpPr>
        <p:spPr>
          <a:xfrm>
            <a:off x="9299448" y="1618488"/>
            <a:ext cx="411480" cy="411480"/>
          </a:xfrm>
          <a:prstGeom prst="ellipse">
            <a:avLst/>
          </a:prstGeom>
          <a:solidFill>
            <a:srgbClr val="0F9D8C"/>
          </a:solidFill>
          <a:ln w="12700">
            <a:solidFill>
              <a:srgbClr val="0F9D8C"/>
            </a:solidFill>
            <a:prstDash val="solid"/>
          </a:ln>
        </p:spPr>
      </p:sp>
      <p:sp>
        <p:nvSpPr>
          <p:cNvPr id="21" name="Text 19"/>
          <p:cNvSpPr/>
          <p:nvPr/>
        </p:nvSpPr>
        <p:spPr>
          <a:xfrm>
            <a:off x="9308592" y="1645920"/>
            <a:ext cx="393192" cy="356616"/>
          </a:xfrm>
          <a:prstGeom prst="rect">
            <a:avLst/>
          </a:prstGeom>
          <a:noFill/>
          <a:ln/>
        </p:spPr>
        <p:txBody>
          <a:bodyPr wrap="square" lIns="0" tIns="0" rIns="0" bIns="0" rtlCol="0" anchor="ctr"/>
          <a:lstStyle/>
          <a:p>
            <a:pPr marL="0" indent="0" algn="ctr">
              <a:buNone/>
            </a:pPr>
            <a:r>
              <a:rPr lang="en-US" sz="800" b="1" dirty="0">
                <a:solidFill>
                  <a:srgbClr val="FFFFFF"/>
                </a:solidFill>
              </a:rPr>
              <a:t>CTX</a:t>
            </a:r>
            <a:endParaRPr lang="en-US" sz="800" dirty="0"/>
          </a:p>
        </p:txBody>
      </p:sp>
      <p:sp>
        <p:nvSpPr>
          <p:cNvPr id="22" name="Text 20"/>
          <p:cNvSpPr/>
          <p:nvPr/>
        </p:nvSpPr>
        <p:spPr>
          <a:xfrm>
            <a:off x="9838944" y="1636776"/>
            <a:ext cx="1645920"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Conversation history</a:t>
            </a:r>
            <a:endParaRPr lang="en-US" sz="1150" dirty="0"/>
          </a:p>
        </p:txBody>
      </p:sp>
      <p:sp>
        <p:nvSpPr>
          <p:cNvPr id="23" name="Text 21"/>
          <p:cNvSpPr/>
          <p:nvPr/>
        </p:nvSpPr>
        <p:spPr>
          <a:xfrm>
            <a:off x="9299448" y="2240280"/>
            <a:ext cx="2148840" cy="530352"/>
          </a:xfrm>
          <a:prstGeom prst="rect">
            <a:avLst/>
          </a:prstGeom>
          <a:noFill/>
          <a:ln/>
        </p:spPr>
        <p:txBody>
          <a:bodyPr wrap="square" lIns="0" tIns="0" rIns="0" bIns="0" rtlCol="0" anchor="ctr"/>
          <a:lstStyle/>
          <a:p>
            <a:pPr marL="0" indent="0">
              <a:buNone/>
            </a:pPr>
            <a:r>
              <a:rPr lang="en-US" sz="960" dirty="0">
                <a:solidFill>
                  <a:srgbClr val="64748B"/>
                </a:solidFill>
                <a:latin typeface="Aptos" pitchFamily="34" charset="0"/>
                <a:ea typeface="Aptos" pitchFamily="34" charset="-122"/>
                <a:cs typeface="Aptos" pitchFamily="34" charset="-120"/>
              </a:rPr>
              <a:t>Keep context for follow-up questions</a:t>
            </a:r>
            <a:endParaRPr lang="en-US" sz="960" dirty="0"/>
          </a:p>
        </p:txBody>
      </p:sp>
      <p:sp>
        <p:nvSpPr>
          <p:cNvPr id="24" name="Text 22"/>
          <p:cNvSpPr/>
          <p:nvPr/>
        </p:nvSpPr>
        <p:spPr>
          <a:xfrm>
            <a:off x="612648" y="3703320"/>
            <a:ext cx="2286000" cy="201168"/>
          </a:xfrm>
          <a:prstGeom prst="rect">
            <a:avLst/>
          </a:prstGeom>
          <a:noFill/>
          <a:ln/>
        </p:spPr>
        <p:txBody>
          <a:bodyPr wrap="square" lIns="0" tIns="0" rIns="0" bIns="0" rtlCol="0" anchor="ctr"/>
          <a:lstStyle/>
          <a:p>
            <a:pPr marL="0" indent="0">
              <a:buNone/>
            </a:pPr>
            <a:r>
              <a:rPr lang="en-US" sz="1300" b="1" dirty="0">
                <a:solidFill>
                  <a:srgbClr val="0F172A"/>
                </a:solidFill>
                <a:latin typeface="Aptos" pitchFamily="34" charset="0"/>
                <a:ea typeface="Aptos" pitchFamily="34" charset="-122"/>
                <a:cs typeface="Aptos" pitchFamily="34" charset="-120"/>
              </a:rPr>
              <a:t>Example permission check</a:t>
            </a:r>
            <a:endParaRPr lang="en-US" sz="1300" dirty="0"/>
          </a:p>
        </p:txBody>
      </p:sp>
      <p:sp>
        <p:nvSpPr>
          <p:cNvPr id="25" name="Shape 23"/>
          <p:cNvSpPr/>
          <p:nvPr/>
        </p:nvSpPr>
        <p:spPr>
          <a:xfrm>
            <a:off x="640080" y="4160520"/>
            <a:ext cx="1874520" cy="932688"/>
          </a:xfrm>
          <a:prstGeom prst="roundRect">
            <a:avLst>
              <a:gd name="adj" fmla="val 17647"/>
            </a:avLst>
          </a:prstGeom>
          <a:solidFill>
            <a:srgbClr val="FFFFFF"/>
          </a:solidFill>
          <a:ln w="12700">
            <a:solidFill>
              <a:srgbClr val="DCE3ED"/>
            </a:solidFill>
            <a:prstDash val="solid"/>
          </a:ln>
        </p:spPr>
      </p:sp>
      <p:sp>
        <p:nvSpPr>
          <p:cNvPr id="26" name="Shape 24"/>
          <p:cNvSpPr/>
          <p:nvPr/>
        </p:nvSpPr>
        <p:spPr>
          <a:xfrm>
            <a:off x="786384" y="4315968"/>
            <a:ext cx="676656" cy="301752"/>
          </a:xfrm>
          <a:prstGeom prst="roundRect">
            <a:avLst>
              <a:gd name="adj" fmla="val 48485"/>
            </a:avLst>
          </a:prstGeom>
          <a:solidFill>
            <a:srgbClr val="2563EB"/>
          </a:solidFill>
          <a:ln w="12700">
            <a:solidFill>
              <a:srgbClr val="2563EB"/>
            </a:solidFill>
            <a:prstDash val="solid"/>
          </a:ln>
        </p:spPr>
      </p:sp>
      <p:sp>
        <p:nvSpPr>
          <p:cNvPr id="27" name="Text 25"/>
          <p:cNvSpPr/>
          <p:nvPr/>
        </p:nvSpPr>
        <p:spPr>
          <a:xfrm>
            <a:off x="859536" y="4384548"/>
            <a:ext cx="530352" cy="137160"/>
          </a:xfrm>
          <a:prstGeom prst="rect">
            <a:avLst/>
          </a:prstGeom>
          <a:noFill/>
          <a:ln/>
        </p:spPr>
        <p:txBody>
          <a:bodyPr wrap="square" lIns="0" tIns="0" rIns="0" bIns="0" rtlCol="0" anchor="ctr"/>
          <a:lstStyle/>
          <a:p>
            <a:pPr marL="0" indent="0" algn="ctr">
              <a:buNone/>
            </a:pPr>
            <a:r>
              <a:rPr lang="en-US" sz="850" b="1" dirty="0">
                <a:solidFill>
                  <a:srgbClr val="FFFFFF"/>
                </a:solidFill>
              </a:rPr>
              <a:t>Employee</a:t>
            </a:r>
            <a:endParaRPr lang="en-US" sz="850" dirty="0"/>
          </a:p>
        </p:txBody>
      </p:sp>
      <p:sp>
        <p:nvSpPr>
          <p:cNvPr id="28" name="Text 26"/>
          <p:cNvSpPr/>
          <p:nvPr/>
        </p:nvSpPr>
        <p:spPr>
          <a:xfrm>
            <a:off x="786384" y="4672584"/>
            <a:ext cx="1536192" cy="256032"/>
          </a:xfrm>
          <a:prstGeom prst="rect">
            <a:avLst/>
          </a:prstGeom>
          <a:noFill/>
          <a:ln/>
        </p:spPr>
        <p:txBody>
          <a:bodyPr wrap="square" lIns="0" tIns="0" rIns="0" bIns="0" rtlCol="0" anchor="ctr"/>
          <a:lstStyle/>
          <a:p>
            <a:pPr marL="0" indent="0" algn="ctr">
              <a:buNone/>
            </a:pPr>
            <a:r>
              <a:rPr lang="en-US" sz="840" dirty="0">
                <a:solidFill>
                  <a:srgbClr val="64748B"/>
                </a:solidFill>
                <a:latin typeface="Aptos" pitchFamily="34" charset="0"/>
                <a:ea typeface="Aptos" pitchFamily="34" charset="-122"/>
                <a:cs typeface="Aptos" pitchFamily="34" charset="-120"/>
              </a:rPr>
              <a:t>requested answer</a:t>
            </a:r>
            <a:endParaRPr lang="en-US" sz="840" dirty="0"/>
          </a:p>
        </p:txBody>
      </p:sp>
      <p:sp>
        <p:nvSpPr>
          <p:cNvPr id="29" name="Shape 27"/>
          <p:cNvSpPr/>
          <p:nvPr/>
        </p:nvSpPr>
        <p:spPr>
          <a:xfrm>
            <a:off x="2523744" y="4626864"/>
            <a:ext cx="301752" cy="0"/>
          </a:xfrm>
          <a:prstGeom prst="line">
            <a:avLst/>
          </a:prstGeom>
          <a:noFill/>
          <a:ln w="19050">
            <a:solidFill>
              <a:srgbClr val="D9E1EC"/>
            </a:solidFill>
            <a:prstDash val="solid"/>
            <a:headEnd type="none"/>
            <a:tailEnd type="triangle"/>
          </a:ln>
        </p:spPr>
      </p:sp>
      <p:sp>
        <p:nvSpPr>
          <p:cNvPr id="30" name="Shape 28"/>
          <p:cNvSpPr/>
          <p:nvPr/>
        </p:nvSpPr>
        <p:spPr>
          <a:xfrm>
            <a:off x="2880360" y="4160520"/>
            <a:ext cx="1874520" cy="932688"/>
          </a:xfrm>
          <a:prstGeom prst="roundRect">
            <a:avLst>
              <a:gd name="adj" fmla="val 17647"/>
            </a:avLst>
          </a:prstGeom>
          <a:solidFill>
            <a:srgbClr val="FFFFFF"/>
          </a:solidFill>
          <a:ln w="12700">
            <a:solidFill>
              <a:srgbClr val="DCE3ED"/>
            </a:solidFill>
            <a:prstDash val="solid"/>
          </a:ln>
        </p:spPr>
      </p:sp>
      <p:sp>
        <p:nvSpPr>
          <p:cNvPr id="31" name="Shape 29"/>
          <p:cNvSpPr/>
          <p:nvPr/>
        </p:nvSpPr>
        <p:spPr>
          <a:xfrm>
            <a:off x="3026664" y="4315968"/>
            <a:ext cx="676656" cy="301752"/>
          </a:xfrm>
          <a:prstGeom prst="roundRect">
            <a:avLst>
              <a:gd name="adj" fmla="val 48485"/>
            </a:avLst>
          </a:prstGeom>
          <a:solidFill>
            <a:srgbClr val="0F9D8C"/>
          </a:solidFill>
          <a:ln w="12700">
            <a:solidFill>
              <a:srgbClr val="0F9D8C"/>
            </a:solidFill>
            <a:prstDash val="solid"/>
          </a:ln>
        </p:spPr>
      </p:sp>
      <p:sp>
        <p:nvSpPr>
          <p:cNvPr id="32" name="Text 30"/>
          <p:cNvSpPr/>
          <p:nvPr/>
        </p:nvSpPr>
        <p:spPr>
          <a:xfrm>
            <a:off x="3099816" y="4384548"/>
            <a:ext cx="530352" cy="137160"/>
          </a:xfrm>
          <a:prstGeom prst="rect">
            <a:avLst/>
          </a:prstGeom>
          <a:noFill/>
          <a:ln/>
        </p:spPr>
        <p:txBody>
          <a:bodyPr wrap="square" lIns="0" tIns="0" rIns="0" bIns="0" rtlCol="0" anchor="ctr"/>
          <a:lstStyle/>
          <a:p>
            <a:pPr marL="0" indent="0" algn="ctr">
              <a:buNone/>
            </a:pPr>
            <a:r>
              <a:rPr lang="en-US" sz="850" b="1" dirty="0">
                <a:solidFill>
                  <a:srgbClr val="FFFFFF"/>
                </a:solidFill>
              </a:rPr>
              <a:t>Identity</a:t>
            </a:r>
            <a:endParaRPr lang="en-US" sz="850" dirty="0"/>
          </a:p>
        </p:txBody>
      </p:sp>
      <p:sp>
        <p:nvSpPr>
          <p:cNvPr id="33" name="Text 31"/>
          <p:cNvSpPr/>
          <p:nvPr/>
        </p:nvSpPr>
        <p:spPr>
          <a:xfrm>
            <a:off x="3026664" y="4672584"/>
            <a:ext cx="1536192" cy="256032"/>
          </a:xfrm>
          <a:prstGeom prst="rect">
            <a:avLst/>
          </a:prstGeom>
          <a:noFill/>
          <a:ln/>
        </p:spPr>
        <p:txBody>
          <a:bodyPr wrap="square" lIns="0" tIns="0" rIns="0" bIns="0" rtlCol="0" anchor="ctr"/>
          <a:lstStyle/>
          <a:p>
            <a:pPr marL="0" indent="0" algn="ctr">
              <a:buNone/>
            </a:pPr>
            <a:r>
              <a:rPr lang="en-US" sz="840" dirty="0">
                <a:solidFill>
                  <a:srgbClr val="64748B"/>
                </a:solidFill>
                <a:latin typeface="Aptos" pitchFamily="34" charset="0"/>
                <a:ea typeface="Aptos" pitchFamily="34" charset="-122"/>
                <a:cs typeface="Aptos" pitchFamily="34" charset="-120"/>
              </a:rPr>
              <a:t>who is this?</a:t>
            </a:r>
            <a:endParaRPr lang="en-US" sz="840" dirty="0"/>
          </a:p>
        </p:txBody>
      </p:sp>
      <p:sp>
        <p:nvSpPr>
          <p:cNvPr id="34" name="Shape 32"/>
          <p:cNvSpPr/>
          <p:nvPr/>
        </p:nvSpPr>
        <p:spPr>
          <a:xfrm>
            <a:off x="4764024" y="4626864"/>
            <a:ext cx="301752" cy="0"/>
          </a:xfrm>
          <a:prstGeom prst="line">
            <a:avLst/>
          </a:prstGeom>
          <a:noFill/>
          <a:ln w="19050">
            <a:solidFill>
              <a:srgbClr val="D9E1EC"/>
            </a:solidFill>
            <a:prstDash val="solid"/>
            <a:headEnd type="none"/>
            <a:tailEnd type="triangle"/>
          </a:ln>
        </p:spPr>
      </p:sp>
      <p:sp>
        <p:nvSpPr>
          <p:cNvPr id="35" name="Shape 33"/>
          <p:cNvSpPr/>
          <p:nvPr/>
        </p:nvSpPr>
        <p:spPr>
          <a:xfrm>
            <a:off x="5120640" y="4160520"/>
            <a:ext cx="1874520" cy="932688"/>
          </a:xfrm>
          <a:prstGeom prst="roundRect">
            <a:avLst>
              <a:gd name="adj" fmla="val 17647"/>
            </a:avLst>
          </a:prstGeom>
          <a:solidFill>
            <a:srgbClr val="FFFFFF"/>
          </a:solidFill>
          <a:ln w="12700">
            <a:solidFill>
              <a:srgbClr val="DCE3ED"/>
            </a:solidFill>
            <a:prstDash val="solid"/>
          </a:ln>
        </p:spPr>
      </p:sp>
      <p:sp>
        <p:nvSpPr>
          <p:cNvPr id="36" name="Shape 34"/>
          <p:cNvSpPr/>
          <p:nvPr/>
        </p:nvSpPr>
        <p:spPr>
          <a:xfrm>
            <a:off x="5266944" y="4315968"/>
            <a:ext cx="676656" cy="301752"/>
          </a:xfrm>
          <a:prstGeom prst="roundRect">
            <a:avLst>
              <a:gd name="adj" fmla="val 48485"/>
            </a:avLst>
          </a:prstGeom>
          <a:solidFill>
            <a:srgbClr val="7C3AED"/>
          </a:solidFill>
          <a:ln w="12700">
            <a:solidFill>
              <a:srgbClr val="7C3AED"/>
            </a:solidFill>
            <a:prstDash val="solid"/>
          </a:ln>
        </p:spPr>
      </p:sp>
      <p:sp>
        <p:nvSpPr>
          <p:cNvPr id="37" name="Text 35"/>
          <p:cNvSpPr/>
          <p:nvPr/>
        </p:nvSpPr>
        <p:spPr>
          <a:xfrm>
            <a:off x="5340096" y="4384548"/>
            <a:ext cx="530352" cy="137160"/>
          </a:xfrm>
          <a:prstGeom prst="rect">
            <a:avLst/>
          </a:prstGeom>
          <a:noFill/>
          <a:ln/>
        </p:spPr>
        <p:txBody>
          <a:bodyPr wrap="square" lIns="0" tIns="0" rIns="0" bIns="0" rtlCol="0" anchor="ctr"/>
          <a:lstStyle/>
          <a:p>
            <a:pPr marL="0" indent="0" algn="ctr">
              <a:buNone/>
            </a:pPr>
            <a:r>
              <a:rPr lang="en-US" sz="850" b="1" dirty="0">
                <a:solidFill>
                  <a:srgbClr val="FFFFFF"/>
                </a:solidFill>
              </a:rPr>
              <a:t>Policy</a:t>
            </a:r>
            <a:endParaRPr lang="en-US" sz="850" dirty="0"/>
          </a:p>
        </p:txBody>
      </p:sp>
      <p:sp>
        <p:nvSpPr>
          <p:cNvPr id="38" name="Text 36"/>
          <p:cNvSpPr/>
          <p:nvPr/>
        </p:nvSpPr>
        <p:spPr>
          <a:xfrm>
            <a:off x="5266944" y="4672584"/>
            <a:ext cx="1536192" cy="256032"/>
          </a:xfrm>
          <a:prstGeom prst="rect">
            <a:avLst/>
          </a:prstGeom>
          <a:noFill/>
          <a:ln/>
        </p:spPr>
        <p:txBody>
          <a:bodyPr wrap="square" lIns="0" tIns="0" rIns="0" bIns="0" rtlCol="0" anchor="ctr"/>
          <a:lstStyle/>
          <a:p>
            <a:pPr marL="0" indent="0" algn="ctr">
              <a:buNone/>
            </a:pPr>
            <a:r>
              <a:rPr lang="en-US" sz="840" dirty="0">
                <a:solidFill>
                  <a:srgbClr val="64748B"/>
                </a:solidFill>
                <a:latin typeface="Aptos" pitchFamily="34" charset="0"/>
                <a:ea typeface="Aptos" pitchFamily="34" charset="-122"/>
                <a:cs typeface="Aptos" pitchFamily="34" charset="-120"/>
              </a:rPr>
              <a:t>what can they read?</a:t>
            </a:r>
            <a:endParaRPr lang="en-US" sz="840" dirty="0"/>
          </a:p>
        </p:txBody>
      </p:sp>
      <p:sp>
        <p:nvSpPr>
          <p:cNvPr id="39" name="Shape 37"/>
          <p:cNvSpPr/>
          <p:nvPr/>
        </p:nvSpPr>
        <p:spPr>
          <a:xfrm>
            <a:off x="7004304" y="4626864"/>
            <a:ext cx="301752" cy="0"/>
          </a:xfrm>
          <a:prstGeom prst="line">
            <a:avLst/>
          </a:prstGeom>
          <a:noFill/>
          <a:ln w="19050">
            <a:solidFill>
              <a:srgbClr val="D9E1EC"/>
            </a:solidFill>
            <a:prstDash val="solid"/>
            <a:headEnd type="none"/>
            <a:tailEnd type="triangle"/>
          </a:ln>
        </p:spPr>
      </p:sp>
      <p:sp>
        <p:nvSpPr>
          <p:cNvPr id="40" name="Shape 38"/>
          <p:cNvSpPr/>
          <p:nvPr/>
        </p:nvSpPr>
        <p:spPr>
          <a:xfrm>
            <a:off x="7360920" y="4160520"/>
            <a:ext cx="1874520" cy="932688"/>
          </a:xfrm>
          <a:prstGeom prst="roundRect">
            <a:avLst>
              <a:gd name="adj" fmla="val 17647"/>
            </a:avLst>
          </a:prstGeom>
          <a:solidFill>
            <a:srgbClr val="FFFFFF"/>
          </a:solidFill>
          <a:ln w="12700">
            <a:solidFill>
              <a:srgbClr val="DCE3ED"/>
            </a:solidFill>
            <a:prstDash val="solid"/>
          </a:ln>
        </p:spPr>
      </p:sp>
      <p:sp>
        <p:nvSpPr>
          <p:cNvPr id="41" name="Shape 39"/>
          <p:cNvSpPr/>
          <p:nvPr/>
        </p:nvSpPr>
        <p:spPr>
          <a:xfrm>
            <a:off x="7507224" y="4315968"/>
            <a:ext cx="676656" cy="301752"/>
          </a:xfrm>
          <a:prstGeom prst="roundRect">
            <a:avLst>
              <a:gd name="adj" fmla="val 48485"/>
            </a:avLst>
          </a:prstGeom>
          <a:solidFill>
            <a:srgbClr val="F59E0B"/>
          </a:solidFill>
          <a:ln w="12700">
            <a:solidFill>
              <a:srgbClr val="F59E0B"/>
            </a:solidFill>
            <a:prstDash val="solid"/>
          </a:ln>
        </p:spPr>
      </p:sp>
      <p:sp>
        <p:nvSpPr>
          <p:cNvPr id="42" name="Text 40"/>
          <p:cNvSpPr/>
          <p:nvPr/>
        </p:nvSpPr>
        <p:spPr>
          <a:xfrm>
            <a:off x="7580376" y="4384548"/>
            <a:ext cx="530352" cy="137160"/>
          </a:xfrm>
          <a:prstGeom prst="rect">
            <a:avLst/>
          </a:prstGeom>
          <a:noFill/>
          <a:ln/>
        </p:spPr>
        <p:txBody>
          <a:bodyPr wrap="square" lIns="0" tIns="0" rIns="0" bIns="0" rtlCol="0" anchor="ctr"/>
          <a:lstStyle/>
          <a:p>
            <a:pPr marL="0" indent="0" algn="ctr">
              <a:buNone/>
            </a:pPr>
            <a:r>
              <a:rPr lang="en-US" sz="850" b="1" dirty="0">
                <a:solidFill>
                  <a:srgbClr val="FFFFFF"/>
                </a:solidFill>
              </a:rPr>
              <a:t>Retriever</a:t>
            </a:r>
            <a:endParaRPr lang="en-US" sz="850" dirty="0"/>
          </a:p>
        </p:txBody>
      </p:sp>
      <p:sp>
        <p:nvSpPr>
          <p:cNvPr id="43" name="Text 41"/>
          <p:cNvSpPr/>
          <p:nvPr/>
        </p:nvSpPr>
        <p:spPr>
          <a:xfrm>
            <a:off x="7507224" y="4672584"/>
            <a:ext cx="1536192" cy="256032"/>
          </a:xfrm>
          <a:prstGeom prst="rect">
            <a:avLst/>
          </a:prstGeom>
          <a:noFill/>
          <a:ln/>
        </p:spPr>
        <p:txBody>
          <a:bodyPr wrap="square" lIns="0" tIns="0" rIns="0" bIns="0" rtlCol="0" anchor="ctr"/>
          <a:lstStyle/>
          <a:p>
            <a:pPr marL="0" indent="0" algn="ctr">
              <a:buNone/>
            </a:pPr>
            <a:r>
              <a:rPr lang="en-US" sz="840" dirty="0">
                <a:solidFill>
                  <a:srgbClr val="64748B"/>
                </a:solidFill>
                <a:latin typeface="Aptos" pitchFamily="34" charset="0"/>
                <a:ea typeface="Aptos" pitchFamily="34" charset="-122"/>
                <a:cs typeface="Aptos" pitchFamily="34" charset="-120"/>
              </a:rPr>
              <a:t>search only allowed docs</a:t>
            </a:r>
            <a:endParaRPr lang="en-US" sz="840" dirty="0"/>
          </a:p>
        </p:txBody>
      </p:sp>
      <p:sp>
        <p:nvSpPr>
          <p:cNvPr id="44" name="Shape 42"/>
          <p:cNvSpPr/>
          <p:nvPr/>
        </p:nvSpPr>
        <p:spPr>
          <a:xfrm>
            <a:off x="9244584" y="4626864"/>
            <a:ext cx="301752" cy="0"/>
          </a:xfrm>
          <a:prstGeom prst="line">
            <a:avLst/>
          </a:prstGeom>
          <a:noFill/>
          <a:ln w="19050">
            <a:solidFill>
              <a:srgbClr val="D9E1EC"/>
            </a:solidFill>
            <a:prstDash val="solid"/>
            <a:headEnd type="none"/>
            <a:tailEnd type="triangle"/>
          </a:ln>
        </p:spPr>
      </p:sp>
      <p:sp>
        <p:nvSpPr>
          <p:cNvPr id="45" name="Shape 43"/>
          <p:cNvSpPr/>
          <p:nvPr/>
        </p:nvSpPr>
        <p:spPr>
          <a:xfrm>
            <a:off x="9601200" y="4160520"/>
            <a:ext cx="1874520" cy="932688"/>
          </a:xfrm>
          <a:prstGeom prst="roundRect">
            <a:avLst>
              <a:gd name="adj" fmla="val 17647"/>
            </a:avLst>
          </a:prstGeom>
          <a:solidFill>
            <a:srgbClr val="FFFFFF"/>
          </a:solidFill>
          <a:ln w="12700">
            <a:solidFill>
              <a:srgbClr val="DCE3ED"/>
            </a:solidFill>
            <a:prstDash val="solid"/>
          </a:ln>
        </p:spPr>
      </p:sp>
      <p:sp>
        <p:nvSpPr>
          <p:cNvPr id="46" name="Shape 44"/>
          <p:cNvSpPr/>
          <p:nvPr/>
        </p:nvSpPr>
        <p:spPr>
          <a:xfrm>
            <a:off x="9747504" y="4315968"/>
            <a:ext cx="676656" cy="301752"/>
          </a:xfrm>
          <a:prstGeom prst="roundRect">
            <a:avLst>
              <a:gd name="adj" fmla="val 48485"/>
            </a:avLst>
          </a:prstGeom>
          <a:solidFill>
            <a:srgbClr val="16A34A"/>
          </a:solidFill>
          <a:ln w="12700">
            <a:solidFill>
              <a:srgbClr val="16A34A"/>
            </a:solidFill>
            <a:prstDash val="solid"/>
          </a:ln>
        </p:spPr>
      </p:sp>
      <p:sp>
        <p:nvSpPr>
          <p:cNvPr id="47" name="Text 45"/>
          <p:cNvSpPr/>
          <p:nvPr/>
        </p:nvSpPr>
        <p:spPr>
          <a:xfrm>
            <a:off x="9820656" y="4384548"/>
            <a:ext cx="530352" cy="137160"/>
          </a:xfrm>
          <a:prstGeom prst="rect">
            <a:avLst/>
          </a:prstGeom>
          <a:noFill/>
          <a:ln/>
        </p:spPr>
        <p:txBody>
          <a:bodyPr wrap="square" lIns="0" tIns="0" rIns="0" bIns="0" rtlCol="0" anchor="ctr"/>
          <a:lstStyle/>
          <a:p>
            <a:pPr marL="0" indent="0" algn="ctr">
              <a:buNone/>
            </a:pPr>
            <a:r>
              <a:rPr lang="en-US" sz="850" b="1" dirty="0">
                <a:solidFill>
                  <a:srgbClr val="FFFFFF"/>
                </a:solidFill>
              </a:rPr>
              <a:t>Answer</a:t>
            </a:r>
            <a:endParaRPr lang="en-US" sz="850" dirty="0"/>
          </a:p>
        </p:txBody>
      </p:sp>
      <p:sp>
        <p:nvSpPr>
          <p:cNvPr id="48" name="Text 46"/>
          <p:cNvSpPr/>
          <p:nvPr/>
        </p:nvSpPr>
        <p:spPr>
          <a:xfrm>
            <a:off x="9747504" y="4672584"/>
            <a:ext cx="1536192" cy="256032"/>
          </a:xfrm>
          <a:prstGeom prst="rect">
            <a:avLst/>
          </a:prstGeom>
          <a:noFill/>
          <a:ln/>
        </p:spPr>
        <p:txBody>
          <a:bodyPr wrap="square" lIns="0" tIns="0" rIns="0" bIns="0" rtlCol="0" anchor="ctr"/>
          <a:lstStyle/>
          <a:p>
            <a:pPr marL="0" indent="0" algn="ctr">
              <a:buNone/>
            </a:pPr>
            <a:r>
              <a:rPr lang="en-US" sz="840" dirty="0">
                <a:solidFill>
                  <a:srgbClr val="64748B"/>
                </a:solidFill>
                <a:latin typeface="Aptos" pitchFamily="34" charset="0"/>
                <a:ea typeface="Aptos" pitchFamily="34" charset="-122"/>
                <a:cs typeface="Aptos" pitchFamily="34" charset="-120"/>
              </a:rPr>
              <a:t>grounded + cited</a:t>
            </a:r>
            <a:endParaRPr lang="en-US" sz="840" dirty="0"/>
          </a:p>
        </p:txBody>
      </p:sp>
      <p:sp>
        <p:nvSpPr>
          <p:cNvPr id="49"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8. Proposed technology stack</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The first version can be built with a pragmatic Python-based stack.</a:t>
            </a:r>
            <a:endParaRPr lang="en-US" sz="1150" dirty="0"/>
          </a:p>
        </p:txBody>
      </p:sp>
      <p:sp>
        <p:nvSpPr>
          <p:cNvPr id="4" name="Shape 2"/>
          <p:cNvSpPr/>
          <p:nvPr/>
        </p:nvSpPr>
        <p:spPr>
          <a:xfrm>
            <a:off x="658368" y="1335024"/>
            <a:ext cx="10908792" cy="749808"/>
          </a:xfrm>
          <a:prstGeom prst="roundRect">
            <a:avLst>
              <a:gd name="adj" fmla="val 21951"/>
            </a:avLst>
          </a:prstGeom>
          <a:solidFill>
            <a:srgbClr val="FFFFFF"/>
          </a:solidFill>
          <a:ln w="12700">
            <a:solidFill>
              <a:srgbClr val="DCE3ED"/>
            </a:solidFill>
            <a:prstDash val="solid"/>
          </a:ln>
        </p:spPr>
      </p:sp>
      <p:sp>
        <p:nvSpPr>
          <p:cNvPr id="5" name="Shape 3"/>
          <p:cNvSpPr/>
          <p:nvPr/>
        </p:nvSpPr>
        <p:spPr>
          <a:xfrm>
            <a:off x="841248" y="1545336"/>
            <a:ext cx="914400" cy="301752"/>
          </a:xfrm>
          <a:prstGeom prst="roundRect">
            <a:avLst>
              <a:gd name="adj" fmla="val 48485"/>
            </a:avLst>
          </a:prstGeom>
          <a:solidFill>
            <a:srgbClr val="2563EB"/>
          </a:solidFill>
          <a:ln w="12700">
            <a:solidFill>
              <a:srgbClr val="2563EB"/>
            </a:solidFill>
            <a:prstDash val="solid"/>
          </a:ln>
        </p:spPr>
      </p:sp>
      <p:sp>
        <p:nvSpPr>
          <p:cNvPr id="6" name="Text 4"/>
          <p:cNvSpPr/>
          <p:nvPr/>
        </p:nvSpPr>
        <p:spPr>
          <a:xfrm>
            <a:off x="914400" y="1613916"/>
            <a:ext cx="768096" cy="137160"/>
          </a:xfrm>
          <a:prstGeom prst="rect">
            <a:avLst/>
          </a:prstGeom>
          <a:noFill/>
          <a:ln/>
        </p:spPr>
        <p:txBody>
          <a:bodyPr wrap="square" lIns="0" tIns="0" rIns="0" bIns="0" rtlCol="0" anchor="ctr"/>
          <a:lstStyle/>
          <a:p>
            <a:pPr marL="0" indent="0" algn="ctr">
              <a:buNone/>
            </a:pPr>
            <a:r>
              <a:rPr lang="en-US" sz="850" b="1" dirty="0">
                <a:solidFill>
                  <a:srgbClr val="FFFFFF"/>
                </a:solidFill>
              </a:rPr>
              <a:t>Frontend</a:t>
            </a:r>
            <a:endParaRPr lang="en-US" sz="850" dirty="0"/>
          </a:p>
        </p:txBody>
      </p:sp>
      <p:sp>
        <p:nvSpPr>
          <p:cNvPr id="7" name="Text 5"/>
          <p:cNvSpPr/>
          <p:nvPr/>
        </p:nvSpPr>
        <p:spPr>
          <a:xfrm>
            <a:off x="1993392" y="1490472"/>
            <a:ext cx="2816352"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Streamlit or React</a:t>
            </a:r>
            <a:endParaRPr lang="en-US" sz="1150" dirty="0"/>
          </a:p>
        </p:txBody>
      </p:sp>
      <p:sp>
        <p:nvSpPr>
          <p:cNvPr id="8" name="Text 6"/>
          <p:cNvSpPr/>
          <p:nvPr/>
        </p:nvSpPr>
        <p:spPr>
          <a:xfrm>
            <a:off x="4754880" y="1499616"/>
            <a:ext cx="6263640" cy="201168"/>
          </a:xfrm>
          <a:prstGeom prst="rect">
            <a:avLst/>
          </a:prstGeom>
          <a:noFill/>
          <a:ln/>
        </p:spPr>
        <p:txBody>
          <a:bodyPr wrap="square" lIns="0" tIns="0" rIns="0" bIns="0" rtlCol="0" anchor="ctr"/>
          <a:lstStyle/>
          <a:p>
            <a:pPr marL="0" indent="0">
              <a:buNone/>
            </a:pPr>
            <a:r>
              <a:rPr lang="en-US" sz="970" dirty="0">
                <a:solidFill>
                  <a:srgbClr val="64748B"/>
                </a:solidFill>
                <a:latin typeface="Aptos" pitchFamily="34" charset="0"/>
                <a:ea typeface="Aptos" pitchFamily="34" charset="-122"/>
                <a:cs typeface="Aptos" pitchFamily="34" charset="-120"/>
              </a:rPr>
              <a:t>Login • Chat • Sources • Uploads</a:t>
            </a:r>
            <a:endParaRPr lang="en-US" sz="970" dirty="0"/>
          </a:p>
        </p:txBody>
      </p:sp>
      <p:sp>
        <p:nvSpPr>
          <p:cNvPr id="9" name="Shape 7"/>
          <p:cNvSpPr/>
          <p:nvPr/>
        </p:nvSpPr>
        <p:spPr>
          <a:xfrm>
            <a:off x="658368" y="2267712"/>
            <a:ext cx="10908792" cy="749808"/>
          </a:xfrm>
          <a:prstGeom prst="roundRect">
            <a:avLst>
              <a:gd name="adj" fmla="val 21951"/>
            </a:avLst>
          </a:prstGeom>
          <a:solidFill>
            <a:srgbClr val="FFFFFF"/>
          </a:solidFill>
          <a:ln w="12700">
            <a:solidFill>
              <a:srgbClr val="DCE3ED"/>
            </a:solidFill>
            <a:prstDash val="solid"/>
          </a:ln>
        </p:spPr>
      </p:sp>
      <p:sp>
        <p:nvSpPr>
          <p:cNvPr id="10" name="Shape 8"/>
          <p:cNvSpPr/>
          <p:nvPr/>
        </p:nvSpPr>
        <p:spPr>
          <a:xfrm>
            <a:off x="841248" y="2478024"/>
            <a:ext cx="914400" cy="301752"/>
          </a:xfrm>
          <a:prstGeom prst="roundRect">
            <a:avLst>
              <a:gd name="adj" fmla="val 48485"/>
            </a:avLst>
          </a:prstGeom>
          <a:solidFill>
            <a:srgbClr val="0F9D8C"/>
          </a:solidFill>
          <a:ln w="12700">
            <a:solidFill>
              <a:srgbClr val="0F9D8C"/>
            </a:solidFill>
            <a:prstDash val="solid"/>
          </a:ln>
        </p:spPr>
      </p:sp>
      <p:sp>
        <p:nvSpPr>
          <p:cNvPr id="11" name="Text 9"/>
          <p:cNvSpPr/>
          <p:nvPr/>
        </p:nvSpPr>
        <p:spPr>
          <a:xfrm>
            <a:off x="914400" y="2546604"/>
            <a:ext cx="768096" cy="137160"/>
          </a:xfrm>
          <a:prstGeom prst="rect">
            <a:avLst/>
          </a:prstGeom>
          <a:noFill/>
          <a:ln/>
        </p:spPr>
        <p:txBody>
          <a:bodyPr wrap="square" lIns="0" tIns="0" rIns="0" bIns="0" rtlCol="0" anchor="ctr"/>
          <a:lstStyle/>
          <a:p>
            <a:pPr marL="0" indent="0" algn="ctr">
              <a:buNone/>
            </a:pPr>
            <a:r>
              <a:rPr lang="en-US" sz="850" b="1" dirty="0">
                <a:solidFill>
                  <a:srgbClr val="FFFFFF"/>
                </a:solidFill>
              </a:rPr>
              <a:t>Backend</a:t>
            </a:r>
            <a:endParaRPr lang="en-US" sz="850" dirty="0"/>
          </a:p>
        </p:txBody>
      </p:sp>
      <p:sp>
        <p:nvSpPr>
          <p:cNvPr id="12" name="Text 10"/>
          <p:cNvSpPr/>
          <p:nvPr/>
        </p:nvSpPr>
        <p:spPr>
          <a:xfrm>
            <a:off x="1993392" y="2423160"/>
            <a:ext cx="2816352"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Python + FastAPI</a:t>
            </a:r>
            <a:endParaRPr lang="en-US" sz="1150" dirty="0"/>
          </a:p>
        </p:txBody>
      </p:sp>
      <p:sp>
        <p:nvSpPr>
          <p:cNvPr id="13" name="Text 11"/>
          <p:cNvSpPr/>
          <p:nvPr/>
        </p:nvSpPr>
        <p:spPr>
          <a:xfrm>
            <a:off x="4754880" y="2432304"/>
            <a:ext cx="6263640" cy="201168"/>
          </a:xfrm>
          <a:prstGeom prst="rect">
            <a:avLst/>
          </a:prstGeom>
          <a:noFill/>
          <a:ln/>
        </p:spPr>
        <p:txBody>
          <a:bodyPr wrap="square" lIns="0" tIns="0" rIns="0" bIns="0" rtlCol="0" anchor="ctr"/>
          <a:lstStyle/>
          <a:p>
            <a:pPr marL="0" indent="0">
              <a:buNone/>
            </a:pPr>
            <a:r>
              <a:rPr lang="en-US" sz="970" dirty="0">
                <a:solidFill>
                  <a:srgbClr val="64748B"/>
                </a:solidFill>
                <a:latin typeface="Aptos" pitchFamily="34" charset="0"/>
                <a:ea typeface="Aptos" pitchFamily="34" charset="-122"/>
                <a:cs typeface="Aptos" pitchFamily="34" charset="-120"/>
              </a:rPr>
              <a:t>APIs • Auth • Access control • orchestration</a:t>
            </a:r>
            <a:endParaRPr lang="en-US" sz="970" dirty="0"/>
          </a:p>
        </p:txBody>
      </p:sp>
      <p:sp>
        <p:nvSpPr>
          <p:cNvPr id="14" name="Shape 12"/>
          <p:cNvSpPr/>
          <p:nvPr/>
        </p:nvSpPr>
        <p:spPr>
          <a:xfrm>
            <a:off x="658368" y="3200400"/>
            <a:ext cx="10908792" cy="749808"/>
          </a:xfrm>
          <a:prstGeom prst="roundRect">
            <a:avLst>
              <a:gd name="adj" fmla="val 21951"/>
            </a:avLst>
          </a:prstGeom>
          <a:solidFill>
            <a:srgbClr val="FFFFFF"/>
          </a:solidFill>
          <a:ln w="12700">
            <a:solidFill>
              <a:srgbClr val="DCE3ED"/>
            </a:solidFill>
            <a:prstDash val="solid"/>
          </a:ln>
        </p:spPr>
      </p:sp>
      <p:sp>
        <p:nvSpPr>
          <p:cNvPr id="15" name="Shape 13"/>
          <p:cNvSpPr/>
          <p:nvPr/>
        </p:nvSpPr>
        <p:spPr>
          <a:xfrm>
            <a:off x="841248" y="3410712"/>
            <a:ext cx="914400" cy="301752"/>
          </a:xfrm>
          <a:prstGeom prst="roundRect">
            <a:avLst>
              <a:gd name="adj" fmla="val 48485"/>
            </a:avLst>
          </a:prstGeom>
          <a:solidFill>
            <a:srgbClr val="7C3AED"/>
          </a:solidFill>
          <a:ln w="12700">
            <a:solidFill>
              <a:srgbClr val="7C3AED"/>
            </a:solidFill>
            <a:prstDash val="solid"/>
          </a:ln>
        </p:spPr>
      </p:sp>
      <p:sp>
        <p:nvSpPr>
          <p:cNvPr id="16" name="Text 14"/>
          <p:cNvSpPr/>
          <p:nvPr/>
        </p:nvSpPr>
        <p:spPr>
          <a:xfrm>
            <a:off x="914400" y="3479292"/>
            <a:ext cx="768096" cy="137160"/>
          </a:xfrm>
          <a:prstGeom prst="rect">
            <a:avLst/>
          </a:prstGeom>
          <a:noFill/>
          <a:ln/>
        </p:spPr>
        <p:txBody>
          <a:bodyPr wrap="square" lIns="0" tIns="0" rIns="0" bIns="0" rtlCol="0" anchor="ctr"/>
          <a:lstStyle/>
          <a:p>
            <a:pPr marL="0" indent="0" algn="ctr">
              <a:buNone/>
            </a:pPr>
            <a:r>
              <a:rPr lang="en-US" sz="850" b="1" dirty="0">
                <a:solidFill>
                  <a:srgbClr val="FFFFFF"/>
                </a:solidFill>
              </a:rPr>
              <a:t>RAG / AI</a:t>
            </a:r>
            <a:endParaRPr lang="en-US" sz="850" dirty="0"/>
          </a:p>
        </p:txBody>
      </p:sp>
      <p:sp>
        <p:nvSpPr>
          <p:cNvPr id="17" name="Text 15"/>
          <p:cNvSpPr/>
          <p:nvPr/>
        </p:nvSpPr>
        <p:spPr>
          <a:xfrm>
            <a:off x="1993392" y="3355848"/>
            <a:ext cx="2816352"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Embeddings + vector DB + LLM</a:t>
            </a:r>
            <a:endParaRPr lang="en-US" sz="1150" dirty="0"/>
          </a:p>
        </p:txBody>
      </p:sp>
      <p:sp>
        <p:nvSpPr>
          <p:cNvPr id="18" name="Text 16"/>
          <p:cNvSpPr/>
          <p:nvPr/>
        </p:nvSpPr>
        <p:spPr>
          <a:xfrm>
            <a:off x="4754880" y="3364992"/>
            <a:ext cx="6263640" cy="201168"/>
          </a:xfrm>
          <a:prstGeom prst="rect">
            <a:avLst/>
          </a:prstGeom>
          <a:noFill/>
          <a:ln/>
        </p:spPr>
        <p:txBody>
          <a:bodyPr wrap="square" lIns="0" tIns="0" rIns="0" bIns="0" rtlCol="0" anchor="ctr"/>
          <a:lstStyle/>
          <a:p>
            <a:pPr marL="0" indent="0">
              <a:buNone/>
            </a:pPr>
            <a:r>
              <a:rPr lang="en-US" sz="970" dirty="0">
                <a:solidFill>
                  <a:srgbClr val="64748B"/>
                </a:solidFill>
                <a:latin typeface="Aptos" pitchFamily="34" charset="0"/>
                <a:ea typeface="Aptos" pitchFamily="34" charset="-122"/>
                <a:cs typeface="Aptos" pitchFamily="34" charset="-120"/>
              </a:rPr>
              <a:t>Chunking • retrieval • generation • citations</a:t>
            </a:r>
            <a:endParaRPr lang="en-US" sz="970" dirty="0"/>
          </a:p>
        </p:txBody>
      </p:sp>
      <p:sp>
        <p:nvSpPr>
          <p:cNvPr id="19" name="Shape 17"/>
          <p:cNvSpPr/>
          <p:nvPr/>
        </p:nvSpPr>
        <p:spPr>
          <a:xfrm>
            <a:off x="658368" y="4133088"/>
            <a:ext cx="10908792" cy="749808"/>
          </a:xfrm>
          <a:prstGeom prst="roundRect">
            <a:avLst>
              <a:gd name="adj" fmla="val 21951"/>
            </a:avLst>
          </a:prstGeom>
          <a:solidFill>
            <a:srgbClr val="FFFFFF"/>
          </a:solidFill>
          <a:ln w="12700">
            <a:solidFill>
              <a:srgbClr val="DCE3ED"/>
            </a:solidFill>
            <a:prstDash val="solid"/>
          </a:ln>
        </p:spPr>
      </p:sp>
      <p:sp>
        <p:nvSpPr>
          <p:cNvPr id="20" name="Shape 18"/>
          <p:cNvSpPr/>
          <p:nvPr/>
        </p:nvSpPr>
        <p:spPr>
          <a:xfrm>
            <a:off x="841248" y="4343400"/>
            <a:ext cx="914400" cy="301752"/>
          </a:xfrm>
          <a:prstGeom prst="roundRect">
            <a:avLst>
              <a:gd name="adj" fmla="val 48485"/>
            </a:avLst>
          </a:prstGeom>
          <a:solidFill>
            <a:srgbClr val="F59E0B"/>
          </a:solidFill>
          <a:ln w="12700">
            <a:solidFill>
              <a:srgbClr val="F59E0B"/>
            </a:solidFill>
            <a:prstDash val="solid"/>
          </a:ln>
        </p:spPr>
      </p:sp>
      <p:sp>
        <p:nvSpPr>
          <p:cNvPr id="21" name="Text 19"/>
          <p:cNvSpPr/>
          <p:nvPr/>
        </p:nvSpPr>
        <p:spPr>
          <a:xfrm>
            <a:off x="914400" y="4411980"/>
            <a:ext cx="768096" cy="137160"/>
          </a:xfrm>
          <a:prstGeom prst="rect">
            <a:avLst/>
          </a:prstGeom>
          <a:noFill/>
          <a:ln/>
        </p:spPr>
        <p:txBody>
          <a:bodyPr wrap="square" lIns="0" tIns="0" rIns="0" bIns="0" rtlCol="0" anchor="ctr"/>
          <a:lstStyle/>
          <a:p>
            <a:pPr marL="0" indent="0" algn="ctr">
              <a:buNone/>
            </a:pPr>
            <a:r>
              <a:rPr lang="en-US" sz="850" b="1" dirty="0">
                <a:solidFill>
                  <a:srgbClr val="FFFFFF"/>
                </a:solidFill>
              </a:rPr>
              <a:t>Data</a:t>
            </a:r>
            <a:endParaRPr lang="en-US" sz="850" dirty="0"/>
          </a:p>
        </p:txBody>
      </p:sp>
      <p:sp>
        <p:nvSpPr>
          <p:cNvPr id="22" name="Text 20"/>
          <p:cNvSpPr/>
          <p:nvPr/>
        </p:nvSpPr>
        <p:spPr>
          <a:xfrm>
            <a:off x="1993392" y="4288536"/>
            <a:ext cx="2816352"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PostgreSQL + document storage</a:t>
            </a:r>
            <a:endParaRPr lang="en-US" sz="1150" dirty="0"/>
          </a:p>
        </p:txBody>
      </p:sp>
      <p:sp>
        <p:nvSpPr>
          <p:cNvPr id="23" name="Text 21"/>
          <p:cNvSpPr/>
          <p:nvPr/>
        </p:nvSpPr>
        <p:spPr>
          <a:xfrm>
            <a:off x="4754880" y="4297680"/>
            <a:ext cx="6263640" cy="201168"/>
          </a:xfrm>
          <a:prstGeom prst="rect">
            <a:avLst/>
          </a:prstGeom>
          <a:noFill/>
          <a:ln/>
        </p:spPr>
        <p:txBody>
          <a:bodyPr wrap="square" lIns="0" tIns="0" rIns="0" bIns="0" rtlCol="0" anchor="ctr"/>
          <a:lstStyle/>
          <a:p>
            <a:pPr marL="0" indent="0">
              <a:buNone/>
            </a:pPr>
            <a:r>
              <a:rPr lang="en-US" sz="970" dirty="0">
                <a:solidFill>
                  <a:srgbClr val="64748B"/>
                </a:solidFill>
                <a:latin typeface="Aptos" pitchFamily="34" charset="0"/>
                <a:ea typeface="Aptos" pitchFamily="34" charset="-122"/>
                <a:cs typeface="Aptos" pitchFamily="34" charset="-120"/>
              </a:rPr>
              <a:t>Users • roles • metadata • chat history</a:t>
            </a:r>
            <a:endParaRPr lang="en-US" sz="970" dirty="0"/>
          </a:p>
        </p:txBody>
      </p:sp>
      <p:sp>
        <p:nvSpPr>
          <p:cNvPr id="24" name="Shape 22"/>
          <p:cNvSpPr/>
          <p:nvPr/>
        </p:nvSpPr>
        <p:spPr>
          <a:xfrm>
            <a:off x="658368" y="5065776"/>
            <a:ext cx="10908792" cy="749808"/>
          </a:xfrm>
          <a:prstGeom prst="roundRect">
            <a:avLst>
              <a:gd name="adj" fmla="val 21951"/>
            </a:avLst>
          </a:prstGeom>
          <a:solidFill>
            <a:srgbClr val="FFFFFF"/>
          </a:solidFill>
          <a:ln w="12700">
            <a:solidFill>
              <a:srgbClr val="DCE3ED"/>
            </a:solidFill>
            <a:prstDash val="solid"/>
          </a:ln>
        </p:spPr>
      </p:sp>
      <p:sp>
        <p:nvSpPr>
          <p:cNvPr id="25" name="Shape 23"/>
          <p:cNvSpPr/>
          <p:nvPr/>
        </p:nvSpPr>
        <p:spPr>
          <a:xfrm>
            <a:off x="841248" y="5276088"/>
            <a:ext cx="914400" cy="301752"/>
          </a:xfrm>
          <a:prstGeom prst="roundRect">
            <a:avLst>
              <a:gd name="adj" fmla="val 48485"/>
            </a:avLst>
          </a:prstGeom>
          <a:solidFill>
            <a:srgbClr val="16A34A"/>
          </a:solidFill>
          <a:ln w="12700">
            <a:solidFill>
              <a:srgbClr val="16A34A"/>
            </a:solidFill>
            <a:prstDash val="solid"/>
          </a:ln>
        </p:spPr>
      </p:sp>
      <p:sp>
        <p:nvSpPr>
          <p:cNvPr id="26" name="Text 24"/>
          <p:cNvSpPr/>
          <p:nvPr/>
        </p:nvSpPr>
        <p:spPr>
          <a:xfrm>
            <a:off x="914400" y="5344668"/>
            <a:ext cx="768096" cy="137160"/>
          </a:xfrm>
          <a:prstGeom prst="rect">
            <a:avLst/>
          </a:prstGeom>
          <a:noFill/>
          <a:ln/>
        </p:spPr>
        <p:txBody>
          <a:bodyPr wrap="square" lIns="0" tIns="0" rIns="0" bIns="0" rtlCol="0" anchor="ctr"/>
          <a:lstStyle/>
          <a:p>
            <a:pPr marL="0" indent="0" algn="ctr">
              <a:buNone/>
            </a:pPr>
            <a:r>
              <a:rPr lang="en-US" sz="850" b="1" dirty="0">
                <a:solidFill>
                  <a:srgbClr val="FFFFFF"/>
                </a:solidFill>
              </a:rPr>
              <a:t>Deployment</a:t>
            </a:r>
            <a:endParaRPr lang="en-US" sz="850" dirty="0"/>
          </a:p>
        </p:txBody>
      </p:sp>
      <p:sp>
        <p:nvSpPr>
          <p:cNvPr id="27" name="Text 25"/>
          <p:cNvSpPr/>
          <p:nvPr/>
        </p:nvSpPr>
        <p:spPr>
          <a:xfrm>
            <a:off x="1993392" y="5221224"/>
            <a:ext cx="2816352" cy="201168"/>
          </a:xfrm>
          <a:prstGeom prst="rect">
            <a:avLst/>
          </a:prstGeom>
          <a:noFill/>
          <a:ln/>
        </p:spPr>
        <p:txBody>
          <a:bodyPr wrap="square" lIns="0" tIns="0" rIns="0" bIns="0" rtlCol="0" anchor="ctr"/>
          <a:lstStyle/>
          <a:p>
            <a:pPr marL="0" indent="0">
              <a:buNone/>
            </a:pPr>
            <a:r>
              <a:rPr lang="en-US" sz="1150" b="1" dirty="0">
                <a:solidFill>
                  <a:srgbClr val="0F172A"/>
                </a:solidFill>
                <a:latin typeface="Aptos" pitchFamily="34" charset="0"/>
                <a:ea typeface="Aptos" pitchFamily="34" charset="-122"/>
                <a:cs typeface="Aptos" pitchFamily="34" charset="-120"/>
              </a:rPr>
              <a:t>Docker + cloud / local</a:t>
            </a:r>
            <a:endParaRPr lang="en-US" sz="1150" dirty="0"/>
          </a:p>
        </p:txBody>
      </p:sp>
      <p:sp>
        <p:nvSpPr>
          <p:cNvPr id="28" name="Text 26"/>
          <p:cNvSpPr/>
          <p:nvPr/>
        </p:nvSpPr>
        <p:spPr>
          <a:xfrm>
            <a:off x="4754880" y="5230368"/>
            <a:ext cx="6263640" cy="201168"/>
          </a:xfrm>
          <a:prstGeom prst="rect">
            <a:avLst/>
          </a:prstGeom>
          <a:noFill/>
          <a:ln/>
        </p:spPr>
        <p:txBody>
          <a:bodyPr wrap="square" lIns="0" tIns="0" rIns="0" bIns="0" rtlCol="0" anchor="ctr"/>
          <a:lstStyle/>
          <a:p>
            <a:pPr marL="0" indent="0">
              <a:buNone/>
            </a:pPr>
            <a:r>
              <a:rPr lang="en-US" sz="970" dirty="0">
                <a:solidFill>
                  <a:srgbClr val="64748B"/>
                </a:solidFill>
                <a:latin typeface="Aptos" pitchFamily="34" charset="0"/>
                <a:ea typeface="Aptos" pitchFamily="34" charset="-122"/>
                <a:cs typeface="Aptos" pitchFamily="34" charset="-120"/>
              </a:rPr>
              <a:t>Reproducible environment • scaling path</a:t>
            </a:r>
            <a:endParaRPr lang="en-US" sz="970" dirty="0"/>
          </a:p>
        </p:txBody>
      </p:sp>
      <p:sp>
        <p:nvSpPr>
          <p:cNvPr id="29" name="Shape 27"/>
          <p:cNvSpPr/>
          <p:nvPr/>
        </p:nvSpPr>
        <p:spPr>
          <a:xfrm>
            <a:off x="658368" y="6016752"/>
            <a:ext cx="10908792" cy="256032"/>
          </a:xfrm>
          <a:prstGeom prst="roundRect">
            <a:avLst>
              <a:gd name="adj" fmla="val 64286"/>
            </a:avLst>
          </a:prstGeom>
          <a:solidFill>
            <a:srgbClr val="0F172A"/>
          </a:solidFill>
          <a:ln w="12700">
            <a:solidFill>
              <a:srgbClr val="0F172A"/>
            </a:solidFill>
            <a:prstDash val="solid"/>
          </a:ln>
        </p:spPr>
      </p:sp>
      <p:sp>
        <p:nvSpPr>
          <p:cNvPr id="30" name="Text 28"/>
          <p:cNvSpPr/>
          <p:nvPr/>
        </p:nvSpPr>
        <p:spPr>
          <a:xfrm>
            <a:off x="896112" y="6080760"/>
            <a:ext cx="10442448" cy="128016"/>
          </a:xfrm>
          <a:prstGeom prst="rect">
            <a:avLst/>
          </a:prstGeom>
          <a:noFill/>
          <a:ln/>
        </p:spPr>
        <p:txBody>
          <a:bodyPr wrap="square" lIns="0" tIns="0" rIns="0" bIns="0" rtlCol="0" anchor="ctr"/>
          <a:lstStyle/>
          <a:p>
            <a:pPr marL="0" indent="0" algn="ctr">
              <a:buNone/>
            </a:pPr>
            <a:r>
              <a:rPr lang="en-US" sz="780" b="1" dirty="0">
                <a:solidFill>
                  <a:srgbClr val="FFFFFF"/>
                </a:solidFill>
                <a:latin typeface="Aptos" pitchFamily="34" charset="0"/>
                <a:ea typeface="Aptos" pitchFamily="34" charset="-122"/>
                <a:cs typeface="Aptos" pitchFamily="34" charset="-120"/>
              </a:rPr>
              <a:t>Recommended student build: start with PDF → embeddings → vector search → LLM → citations, then add auth/access control.</a:t>
            </a:r>
            <a:endParaRPr lang="en-US" sz="780" dirty="0"/>
          </a:p>
        </p:txBody>
      </p:sp>
      <p:sp>
        <p:nvSpPr>
          <p:cNvPr id="31"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9. Is this already available? Yes — and that is useful.</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The project should be positioned as an academic prototype and evaluation, not as a claim that the market has no similar products.</a:t>
            </a:r>
            <a:endParaRPr lang="en-US" sz="1150" dirty="0"/>
          </a:p>
        </p:txBody>
      </p:sp>
      <p:sp>
        <p:nvSpPr>
          <p:cNvPr id="4" name="Shape 2"/>
          <p:cNvSpPr/>
          <p:nvPr/>
        </p:nvSpPr>
        <p:spPr>
          <a:xfrm>
            <a:off x="603504" y="1389888"/>
            <a:ext cx="2542032" cy="1527048"/>
          </a:xfrm>
          <a:prstGeom prst="roundRect">
            <a:avLst>
              <a:gd name="adj" fmla="val 10778"/>
            </a:avLst>
          </a:prstGeom>
          <a:solidFill>
            <a:srgbClr val="FFFFFF"/>
          </a:solidFill>
          <a:ln w="12700">
            <a:solidFill>
              <a:srgbClr val="DCE3ED"/>
            </a:solidFill>
            <a:prstDash val="solid"/>
          </a:ln>
        </p:spPr>
      </p:sp>
      <p:sp>
        <p:nvSpPr>
          <p:cNvPr id="5" name="Shape 3"/>
          <p:cNvSpPr/>
          <p:nvPr/>
        </p:nvSpPr>
        <p:spPr>
          <a:xfrm>
            <a:off x="768096" y="1609344"/>
            <a:ext cx="1078992" cy="301752"/>
          </a:xfrm>
          <a:prstGeom prst="roundRect">
            <a:avLst>
              <a:gd name="adj" fmla="val 48485"/>
            </a:avLst>
          </a:prstGeom>
          <a:solidFill>
            <a:srgbClr val="2563EB"/>
          </a:solidFill>
          <a:ln w="12700">
            <a:solidFill>
              <a:srgbClr val="2563EB"/>
            </a:solidFill>
            <a:prstDash val="solid"/>
          </a:ln>
        </p:spPr>
      </p:sp>
      <p:sp>
        <p:nvSpPr>
          <p:cNvPr id="6" name="Text 4"/>
          <p:cNvSpPr/>
          <p:nvPr/>
        </p:nvSpPr>
        <p:spPr>
          <a:xfrm>
            <a:off x="841248" y="1677924"/>
            <a:ext cx="932688" cy="137160"/>
          </a:xfrm>
          <a:prstGeom prst="rect">
            <a:avLst/>
          </a:prstGeom>
          <a:noFill/>
          <a:ln/>
        </p:spPr>
        <p:txBody>
          <a:bodyPr wrap="square" lIns="0" tIns="0" rIns="0" bIns="0" rtlCol="0" anchor="ctr"/>
          <a:lstStyle/>
          <a:p>
            <a:pPr marL="0" indent="0" algn="ctr">
              <a:buNone/>
            </a:pPr>
            <a:r>
              <a:rPr lang="en-US" sz="850" b="1" dirty="0">
                <a:solidFill>
                  <a:srgbClr val="FFFFFF"/>
                </a:solidFill>
              </a:rPr>
              <a:t>Glean</a:t>
            </a:r>
            <a:endParaRPr lang="en-US" sz="850" dirty="0"/>
          </a:p>
        </p:txBody>
      </p:sp>
      <p:sp>
        <p:nvSpPr>
          <p:cNvPr id="7" name="Text 5"/>
          <p:cNvSpPr/>
          <p:nvPr/>
        </p:nvSpPr>
        <p:spPr>
          <a:xfrm>
            <a:off x="768096" y="2139696"/>
            <a:ext cx="2139696" cy="530352"/>
          </a:xfrm>
          <a:prstGeom prst="rect">
            <a:avLst/>
          </a:prstGeom>
          <a:noFill/>
          <a:ln/>
        </p:spPr>
        <p:txBody>
          <a:bodyPr wrap="square" lIns="0" tIns="0" rIns="0" bIns="0" rtlCol="0" anchor="ctr"/>
          <a:lstStyle/>
          <a:p>
            <a:pPr marL="0" indent="0">
              <a:buNone/>
            </a:pPr>
            <a:r>
              <a:rPr lang="en-US" sz="890" dirty="0">
                <a:solidFill>
                  <a:srgbClr val="64748B"/>
                </a:solidFill>
                <a:latin typeface="Aptos" pitchFamily="34" charset="0"/>
                <a:ea typeface="Aptos" pitchFamily="34" charset="-122"/>
                <a:cs typeface="Aptos" pitchFamily="34" charset="-120"/>
              </a:rPr>
              <a:t>Enterprise search + AI answers + citations + permissions</a:t>
            </a:r>
            <a:endParaRPr lang="en-US" sz="890" dirty="0"/>
          </a:p>
        </p:txBody>
      </p:sp>
      <p:sp>
        <p:nvSpPr>
          <p:cNvPr id="8" name="Shape 6"/>
          <p:cNvSpPr/>
          <p:nvPr/>
        </p:nvSpPr>
        <p:spPr>
          <a:xfrm>
            <a:off x="3419856" y="1389888"/>
            <a:ext cx="2542032" cy="1527048"/>
          </a:xfrm>
          <a:prstGeom prst="roundRect">
            <a:avLst>
              <a:gd name="adj" fmla="val 10778"/>
            </a:avLst>
          </a:prstGeom>
          <a:solidFill>
            <a:srgbClr val="FFFFFF"/>
          </a:solidFill>
          <a:ln w="12700">
            <a:solidFill>
              <a:srgbClr val="DCE3ED"/>
            </a:solidFill>
            <a:prstDash val="solid"/>
          </a:ln>
        </p:spPr>
      </p:sp>
      <p:sp>
        <p:nvSpPr>
          <p:cNvPr id="9" name="Shape 7"/>
          <p:cNvSpPr/>
          <p:nvPr/>
        </p:nvSpPr>
        <p:spPr>
          <a:xfrm>
            <a:off x="3584448" y="1609344"/>
            <a:ext cx="1078992" cy="301752"/>
          </a:xfrm>
          <a:prstGeom prst="roundRect">
            <a:avLst>
              <a:gd name="adj" fmla="val 48485"/>
            </a:avLst>
          </a:prstGeom>
          <a:solidFill>
            <a:srgbClr val="0F9D8C"/>
          </a:solidFill>
          <a:ln w="12700">
            <a:solidFill>
              <a:srgbClr val="0F9D8C"/>
            </a:solidFill>
            <a:prstDash val="solid"/>
          </a:ln>
        </p:spPr>
      </p:sp>
      <p:sp>
        <p:nvSpPr>
          <p:cNvPr id="10" name="Text 8"/>
          <p:cNvSpPr/>
          <p:nvPr/>
        </p:nvSpPr>
        <p:spPr>
          <a:xfrm>
            <a:off x="3657600" y="1677924"/>
            <a:ext cx="932688" cy="137160"/>
          </a:xfrm>
          <a:prstGeom prst="rect">
            <a:avLst/>
          </a:prstGeom>
          <a:noFill/>
          <a:ln/>
        </p:spPr>
        <p:txBody>
          <a:bodyPr wrap="square" lIns="0" tIns="0" rIns="0" bIns="0" rtlCol="0" anchor="ctr"/>
          <a:lstStyle/>
          <a:p>
            <a:pPr marL="0" indent="0" algn="ctr">
              <a:buNone/>
            </a:pPr>
            <a:r>
              <a:rPr lang="en-US" sz="850" b="1" dirty="0">
                <a:solidFill>
                  <a:srgbClr val="FFFFFF"/>
                </a:solidFill>
              </a:rPr>
              <a:t>Gemini Enterprise</a:t>
            </a:r>
            <a:endParaRPr lang="en-US" sz="850" dirty="0"/>
          </a:p>
        </p:txBody>
      </p:sp>
      <p:sp>
        <p:nvSpPr>
          <p:cNvPr id="11" name="Text 9"/>
          <p:cNvSpPr/>
          <p:nvPr/>
        </p:nvSpPr>
        <p:spPr>
          <a:xfrm>
            <a:off x="3584448" y="2139696"/>
            <a:ext cx="2139696" cy="530352"/>
          </a:xfrm>
          <a:prstGeom prst="rect">
            <a:avLst/>
          </a:prstGeom>
          <a:noFill/>
          <a:ln/>
        </p:spPr>
        <p:txBody>
          <a:bodyPr wrap="square" lIns="0" tIns="0" rIns="0" bIns="0" rtlCol="0" anchor="ctr"/>
          <a:lstStyle/>
          <a:p>
            <a:pPr marL="0" indent="0">
              <a:buNone/>
            </a:pPr>
            <a:r>
              <a:rPr lang="en-US" sz="890" dirty="0">
                <a:solidFill>
                  <a:srgbClr val="64748B"/>
                </a:solidFill>
                <a:latin typeface="Aptos" pitchFamily="34" charset="0"/>
                <a:ea typeface="Aptos" pitchFamily="34" charset="-122"/>
                <a:cs typeface="Aptos" pitchFamily="34" charset="-120"/>
              </a:rPr>
              <a:t>Enterprise search + AI + controlled access</a:t>
            </a:r>
            <a:endParaRPr lang="en-US" sz="890" dirty="0"/>
          </a:p>
        </p:txBody>
      </p:sp>
      <p:sp>
        <p:nvSpPr>
          <p:cNvPr id="12" name="Shape 10"/>
          <p:cNvSpPr/>
          <p:nvPr/>
        </p:nvSpPr>
        <p:spPr>
          <a:xfrm>
            <a:off x="6236208" y="1389888"/>
            <a:ext cx="2542032" cy="1527048"/>
          </a:xfrm>
          <a:prstGeom prst="roundRect">
            <a:avLst>
              <a:gd name="adj" fmla="val 10778"/>
            </a:avLst>
          </a:prstGeom>
          <a:solidFill>
            <a:srgbClr val="FFFFFF"/>
          </a:solidFill>
          <a:ln w="12700">
            <a:solidFill>
              <a:srgbClr val="DCE3ED"/>
            </a:solidFill>
            <a:prstDash val="solid"/>
          </a:ln>
        </p:spPr>
      </p:sp>
      <p:sp>
        <p:nvSpPr>
          <p:cNvPr id="13" name="Shape 11"/>
          <p:cNvSpPr/>
          <p:nvPr/>
        </p:nvSpPr>
        <p:spPr>
          <a:xfrm>
            <a:off x="6400800" y="1609344"/>
            <a:ext cx="1078992" cy="301752"/>
          </a:xfrm>
          <a:prstGeom prst="roundRect">
            <a:avLst>
              <a:gd name="adj" fmla="val 48485"/>
            </a:avLst>
          </a:prstGeom>
          <a:solidFill>
            <a:srgbClr val="F59E0B"/>
          </a:solidFill>
          <a:ln w="12700">
            <a:solidFill>
              <a:srgbClr val="F59E0B"/>
            </a:solidFill>
            <a:prstDash val="solid"/>
          </a:ln>
        </p:spPr>
      </p:sp>
      <p:sp>
        <p:nvSpPr>
          <p:cNvPr id="14" name="Text 12"/>
          <p:cNvSpPr/>
          <p:nvPr/>
        </p:nvSpPr>
        <p:spPr>
          <a:xfrm>
            <a:off x="6473952" y="1677924"/>
            <a:ext cx="932688" cy="137160"/>
          </a:xfrm>
          <a:prstGeom prst="rect">
            <a:avLst/>
          </a:prstGeom>
          <a:noFill/>
          <a:ln/>
        </p:spPr>
        <p:txBody>
          <a:bodyPr wrap="square" lIns="0" tIns="0" rIns="0" bIns="0" rtlCol="0" anchor="ctr"/>
          <a:lstStyle/>
          <a:p>
            <a:pPr marL="0" indent="0" algn="ctr">
              <a:buNone/>
            </a:pPr>
            <a:r>
              <a:rPr lang="en-US" sz="850" b="1" dirty="0">
                <a:solidFill>
                  <a:srgbClr val="FFFFFF"/>
                </a:solidFill>
              </a:rPr>
              <a:t>Amazon Q Business</a:t>
            </a:r>
            <a:endParaRPr lang="en-US" sz="850" dirty="0"/>
          </a:p>
        </p:txBody>
      </p:sp>
      <p:sp>
        <p:nvSpPr>
          <p:cNvPr id="15" name="Text 13"/>
          <p:cNvSpPr/>
          <p:nvPr/>
        </p:nvSpPr>
        <p:spPr>
          <a:xfrm>
            <a:off x="6400800" y="2139696"/>
            <a:ext cx="2139696" cy="530352"/>
          </a:xfrm>
          <a:prstGeom prst="rect">
            <a:avLst/>
          </a:prstGeom>
          <a:noFill/>
          <a:ln/>
        </p:spPr>
        <p:txBody>
          <a:bodyPr wrap="square" lIns="0" tIns="0" rIns="0" bIns="0" rtlCol="0" anchor="ctr"/>
          <a:lstStyle/>
          <a:p>
            <a:pPr marL="0" indent="0">
              <a:buNone/>
            </a:pPr>
            <a:r>
              <a:rPr lang="en-US" sz="890" dirty="0">
                <a:solidFill>
                  <a:srgbClr val="64748B"/>
                </a:solidFill>
                <a:latin typeface="Aptos" pitchFamily="34" charset="0"/>
                <a:ea typeface="Aptos" pitchFamily="34" charset="-122"/>
                <a:cs typeface="Aptos" pitchFamily="34" charset="-120"/>
              </a:rPr>
              <a:t>Enterprise Q&amp;A + citations + permissions-aware responses</a:t>
            </a:r>
            <a:endParaRPr lang="en-US" sz="890" dirty="0"/>
          </a:p>
        </p:txBody>
      </p:sp>
      <p:sp>
        <p:nvSpPr>
          <p:cNvPr id="16" name="Shape 14"/>
          <p:cNvSpPr/>
          <p:nvPr/>
        </p:nvSpPr>
        <p:spPr>
          <a:xfrm>
            <a:off x="9052560" y="1389888"/>
            <a:ext cx="2542032" cy="1527048"/>
          </a:xfrm>
          <a:prstGeom prst="roundRect">
            <a:avLst>
              <a:gd name="adj" fmla="val 10778"/>
            </a:avLst>
          </a:prstGeom>
          <a:solidFill>
            <a:srgbClr val="FFFFFF"/>
          </a:solidFill>
          <a:ln w="12700">
            <a:solidFill>
              <a:srgbClr val="DCE3ED"/>
            </a:solidFill>
            <a:prstDash val="solid"/>
          </a:ln>
        </p:spPr>
      </p:sp>
      <p:sp>
        <p:nvSpPr>
          <p:cNvPr id="17" name="Shape 15"/>
          <p:cNvSpPr/>
          <p:nvPr/>
        </p:nvSpPr>
        <p:spPr>
          <a:xfrm>
            <a:off x="9217152" y="1609344"/>
            <a:ext cx="1078992" cy="301752"/>
          </a:xfrm>
          <a:prstGeom prst="roundRect">
            <a:avLst>
              <a:gd name="adj" fmla="val 48485"/>
            </a:avLst>
          </a:prstGeom>
          <a:solidFill>
            <a:srgbClr val="7C3AED"/>
          </a:solidFill>
          <a:ln w="12700">
            <a:solidFill>
              <a:srgbClr val="7C3AED"/>
            </a:solidFill>
            <a:prstDash val="solid"/>
          </a:ln>
        </p:spPr>
      </p:sp>
      <p:sp>
        <p:nvSpPr>
          <p:cNvPr id="18" name="Text 16"/>
          <p:cNvSpPr/>
          <p:nvPr/>
        </p:nvSpPr>
        <p:spPr>
          <a:xfrm>
            <a:off x="9290304" y="1677924"/>
            <a:ext cx="932688" cy="137160"/>
          </a:xfrm>
          <a:prstGeom prst="rect">
            <a:avLst/>
          </a:prstGeom>
          <a:noFill/>
          <a:ln/>
        </p:spPr>
        <p:txBody>
          <a:bodyPr wrap="square" lIns="0" tIns="0" rIns="0" bIns="0" rtlCol="0" anchor="ctr"/>
          <a:lstStyle/>
          <a:p>
            <a:pPr marL="0" indent="0" algn="ctr">
              <a:buNone/>
            </a:pPr>
            <a:r>
              <a:rPr lang="en-US" sz="850" b="1" dirty="0">
                <a:solidFill>
                  <a:srgbClr val="FFFFFF"/>
                </a:solidFill>
              </a:rPr>
              <a:t>Atlassian Rovo</a:t>
            </a:r>
            <a:endParaRPr lang="en-US" sz="850" dirty="0"/>
          </a:p>
        </p:txBody>
      </p:sp>
      <p:sp>
        <p:nvSpPr>
          <p:cNvPr id="19" name="Text 17"/>
          <p:cNvSpPr/>
          <p:nvPr/>
        </p:nvSpPr>
        <p:spPr>
          <a:xfrm>
            <a:off x="9217152" y="2139696"/>
            <a:ext cx="2139696" cy="530352"/>
          </a:xfrm>
          <a:prstGeom prst="rect">
            <a:avLst/>
          </a:prstGeom>
          <a:noFill/>
          <a:ln/>
        </p:spPr>
        <p:txBody>
          <a:bodyPr wrap="square" lIns="0" tIns="0" rIns="0" bIns="0" rtlCol="0" anchor="ctr"/>
          <a:lstStyle/>
          <a:p>
            <a:pPr marL="0" indent="0">
              <a:buNone/>
            </a:pPr>
            <a:r>
              <a:rPr lang="en-US" sz="890" dirty="0">
                <a:solidFill>
                  <a:srgbClr val="64748B"/>
                </a:solidFill>
                <a:latin typeface="Aptos" pitchFamily="34" charset="0"/>
                <a:ea typeface="Aptos" pitchFamily="34" charset="-122"/>
                <a:cs typeface="Aptos" pitchFamily="34" charset="-120"/>
              </a:rPr>
              <a:t>Company search + natural-language answers + sources</a:t>
            </a:r>
            <a:endParaRPr lang="en-US" sz="890" dirty="0"/>
          </a:p>
        </p:txBody>
      </p:sp>
      <p:sp>
        <p:nvSpPr>
          <p:cNvPr id="20" name="Shape 18"/>
          <p:cNvSpPr/>
          <p:nvPr/>
        </p:nvSpPr>
        <p:spPr>
          <a:xfrm>
            <a:off x="603504" y="3218688"/>
            <a:ext cx="10991088" cy="2185416"/>
          </a:xfrm>
          <a:prstGeom prst="roundRect">
            <a:avLst>
              <a:gd name="adj" fmla="val 7531"/>
            </a:avLst>
          </a:prstGeom>
          <a:solidFill>
            <a:srgbClr val="0F172A"/>
          </a:solidFill>
          <a:ln w="12700">
            <a:solidFill>
              <a:srgbClr val="0F172A"/>
            </a:solidFill>
            <a:prstDash val="solid"/>
          </a:ln>
        </p:spPr>
      </p:sp>
      <p:sp>
        <p:nvSpPr>
          <p:cNvPr id="21" name="Shape 19"/>
          <p:cNvSpPr/>
          <p:nvPr/>
        </p:nvSpPr>
        <p:spPr>
          <a:xfrm>
            <a:off x="859536" y="3465576"/>
            <a:ext cx="1207008" cy="301752"/>
          </a:xfrm>
          <a:prstGeom prst="roundRect">
            <a:avLst>
              <a:gd name="adj" fmla="val 48485"/>
            </a:avLst>
          </a:prstGeom>
          <a:solidFill>
            <a:srgbClr val="1E293B"/>
          </a:solidFill>
          <a:ln w="12700">
            <a:solidFill>
              <a:srgbClr val="1E293B"/>
            </a:solidFill>
            <a:prstDash val="solid"/>
          </a:ln>
        </p:spPr>
      </p:sp>
      <p:sp>
        <p:nvSpPr>
          <p:cNvPr id="22" name="Text 20"/>
          <p:cNvSpPr/>
          <p:nvPr/>
        </p:nvSpPr>
        <p:spPr>
          <a:xfrm>
            <a:off x="932688" y="3534156"/>
            <a:ext cx="1060704" cy="137160"/>
          </a:xfrm>
          <a:prstGeom prst="rect">
            <a:avLst/>
          </a:prstGeom>
          <a:noFill/>
          <a:ln/>
        </p:spPr>
        <p:txBody>
          <a:bodyPr wrap="square" lIns="0" tIns="0" rIns="0" bIns="0" rtlCol="0" anchor="ctr"/>
          <a:lstStyle/>
          <a:p>
            <a:pPr marL="0" indent="0" algn="ctr">
              <a:buNone/>
            </a:pPr>
            <a:r>
              <a:rPr lang="en-US" sz="850" b="1" dirty="0">
                <a:solidFill>
                  <a:srgbClr val="93C5FD"/>
                </a:solidFill>
              </a:rPr>
              <a:t>OUR ACADEMIC GAP</a:t>
            </a:r>
            <a:endParaRPr lang="en-US" sz="850" dirty="0"/>
          </a:p>
        </p:txBody>
      </p:sp>
      <p:sp>
        <p:nvSpPr>
          <p:cNvPr id="23" name="Text 21"/>
          <p:cNvSpPr/>
          <p:nvPr/>
        </p:nvSpPr>
        <p:spPr>
          <a:xfrm>
            <a:off x="859536" y="3886200"/>
            <a:ext cx="9875520" cy="310896"/>
          </a:xfrm>
          <a:prstGeom prst="rect">
            <a:avLst/>
          </a:prstGeom>
          <a:noFill/>
          <a:ln/>
        </p:spPr>
        <p:txBody>
          <a:bodyPr wrap="square" lIns="0" tIns="0" rIns="0" bIns="0" rtlCol="0" anchor="ctr"/>
          <a:lstStyle/>
          <a:p>
            <a:pPr marL="0" indent="0">
              <a:buNone/>
            </a:pPr>
            <a:r>
              <a:rPr lang="en-US" sz="1800" b="1" dirty="0">
                <a:solidFill>
                  <a:srgbClr val="FFFFFF"/>
                </a:solidFill>
                <a:latin typeface="Aptos" pitchFamily="34" charset="0"/>
                <a:ea typeface="Aptos" pitchFamily="34" charset="-122"/>
                <a:cs typeface="Aptos" pitchFamily="34" charset="-120"/>
              </a:rPr>
              <a:t>Build a transparent, reproducible RAG prototype that we can inspect and evaluate end-to-end.</a:t>
            </a:r>
            <a:endParaRPr lang="en-US" sz="1800" dirty="0"/>
          </a:p>
        </p:txBody>
      </p:sp>
      <p:sp>
        <p:nvSpPr>
          <p:cNvPr id="24" name="Shape 22"/>
          <p:cNvSpPr/>
          <p:nvPr/>
        </p:nvSpPr>
        <p:spPr>
          <a:xfrm>
            <a:off x="859536" y="4498848"/>
            <a:ext cx="1810512" cy="301752"/>
          </a:xfrm>
          <a:prstGeom prst="roundRect">
            <a:avLst>
              <a:gd name="adj" fmla="val 48485"/>
            </a:avLst>
          </a:prstGeom>
          <a:solidFill>
            <a:srgbClr val="EAF2FF"/>
          </a:solidFill>
          <a:ln w="12700">
            <a:solidFill>
              <a:srgbClr val="EAF2FF"/>
            </a:solidFill>
            <a:prstDash val="solid"/>
          </a:ln>
        </p:spPr>
      </p:sp>
      <p:sp>
        <p:nvSpPr>
          <p:cNvPr id="25" name="Text 23"/>
          <p:cNvSpPr/>
          <p:nvPr/>
        </p:nvSpPr>
        <p:spPr>
          <a:xfrm>
            <a:off x="932688" y="4567428"/>
            <a:ext cx="1664208" cy="137160"/>
          </a:xfrm>
          <a:prstGeom prst="rect">
            <a:avLst/>
          </a:prstGeom>
          <a:noFill/>
          <a:ln/>
        </p:spPr>
        <p:txBody>
          <a:bodyPr wrap="square" lIns="0" tIns="0" rIns="0" bIns="0" rtlCol="0" anchor="ctr"/>
          <a:lstStyle/>
          <a:p>
            <a:pPr marL="0" indent="0" algn="ctr">
              <a:buNone/>
            </a:pPr>
            <a:r>
              <a:rPr lang="en-US" sz="850" b="1" dirty="0">
                <a:solidFill>
                  <a:srgbClr val="2563EB"/>
                </a:solidFill>
              </a:rPr>
              <a:t>retrieval quality</a:t>
            </a:r>
            <a:endParaRPr lang="en-US" sz="850" dirty="0"/>
          </a:p>
        </p:txBody>
      </p:sp>
      <p:sp>
        <p:nvSpPr>
          <p:cNvPr id="26" name="Shape 24"/>
          <p:cNvSpPr/>
          <p:nvPr/>
        </p:nvSpPr>
        <p:spPr>
          <a:xfrm>
            <a:off x="2889504" y="4498848"/>
            <a:ext cx="1810512" cy="301752"/>
          </a:xfrm>
          <a:prstGeom prst="roundRect">
            <a:avLst>
              <a:gd name="adj" fmla="val 48485"/>
            </a:avLst>
          </a:prstGeom>
          <a:solidFill>
            <a:srgbClr val="FFF5E6"/>
          </a:solidFill>
          <a:ln w="12700">
            <a:solidFill>
              <a:srgbClr val="FFF5E6"/>
            </a:solidFill>
            <a:prstDash val="solid"/>
          </a:ln>
        </p:spPr>
      </p:sp>
      <p:sp>
        <p:nvSpPr>
          <p:cNvPr id="27" name="Text 25"/>
          <p:cNvSpPr/>
          <p:nvPr/>
        </p:nvSpPr>
        <p:spPr>
          <a:xfrm>
            <a:off x="2962656" y="4567428"/>
            <a:ext cx="1664208" cy="137160"/>
          </a:xfrm>
          <a:prstGeom prst="rect">
            <a:avLst/>
          </a:prstGeom>
          <a:noFill/>
          <a:ln/>
        </p:spPr>
        <p:txBody>
          <a:bodyPr wrap="square" lIns="0" tIns="0" rIns="0" bIns="0" rtlCol="0" anchor="ctr"/>
          <a:lstStyle/>
          <a:p>
            <a:pPr marL="0" indent="0" algn="ctr">
              <a:buNone/>
            </a:pPr>
            <a:r>
              <a:rPr lang="en-US" sz="850" b="1" dirty="0">
                <a:solidFill>
                  <a:srgbClr val="F59E0B"/>
                </a:solidFill>
              </a:rPr>
              <a:t>source-grounded answers</a:t>
            </a:r>
            <a:endParaRPr lang="en-US" sz="850" dirty="0"/>
          </a:p>
        </p:txBody>
      </p:sp>
      <p:sp>
        <p:nvSpPr>
          <p:cNvPr id="28" name="Shape 26"/>
          <p:cNvSpPr/>
          <p:nvPr/>
        </p:nvSpPr>
        <p:spPr>
          <a:xfrm>
            <a:off x="4919472" y="4498848"/>
            <a:ext cx="1810512" cy="301752"/>
          </a:xfrm>
          <a:prstGeom prst="roundRect">
            <a:avLst>
              <a:gd name="adj" fmla="val 48485"/>
            </a:avLst>
          </a:prstGeom>
          <a:solidFill>
            <a:srgbClr val="F2EBFF"/>
          </a:solidFill>
          <a:ln w="12700">
            <a:solidFill>
              <a:srgbClr val="F2EBFF"/>
            </a:solidFill>
            <a:prstDash val="solid"/>
          </a:ln>
        </p:spPr>
      </p:sp>
      <p:sp>
        <p:nvSpPr>
          <p:cNvPr id="29" name="Text 27"/>
          <p:cNvSpPr/>
          <p:nvPr/>
        </p:nvSpPr>
        <p:spPr>
          <a:xfrm>
            <a:off x="4992624" y="4567428"/>
            <a:ext cx="1664208" cy="137160"/>
          </a:xfrm>
          <a:prstGeom prst="rect">
            <a:avLst/>
          </a:prstGeom>
          <a:noFill/>
          <a:ln/>
        </p:spPr>
        <p:txBody>
          <a:bodyPr wrap="square" lIns="0" tIns="0" rIns="0" bIns="0" rtlCol="0" anchor="ctr"/>
          <a:lstStyle/>
          <a:p>
            <a:pPr marL="0" indent="0" algn="ctr">
              <a:buNone/>
            </a:pPr>
            <a:r>
              <a:rPr lang="en-US" sz="850" b="1" dirty="0">
                <a:solidFill>
                  <a:srgbClr val="7C3AED"/>
                </a:solidFill>
              </a:rPr>
              <a:t>document-level permissions</a:t>
            </a:r>
            <a:endParaRPr lang="en-US" sz="850" dirty="0"/>
          </a:p>
        </p:txBody>
      </p:sp>
      <p:sp>
        <p:nvSpPr>
          <p:cNvPr id="30" name="Shape 28"/>
          <p:cNvSpPr/>
          <p:nvPr/>
        </p:nvSpPr>
        <p:spPr>
          <a:xfrm>
            <a:off x="6949440" y="4498848"/>
            <a:ext cx="1810512" cy="301752"/>
          </a:xfrm>
          <a:prstGeom prst="roundRect">
            <a:avLst>
              <a:gd name="adj" fmla="val 48485"/>
            </a:avLst>
          </a:prstGeom>
          <a:solidFill>
            <a:srgbClr val="EAF2FF"/>
          </a:solidFill>
          <a:ln w="12700">
            <a:solidFill>
              <a:srgbClr val="EAF2FF"/>
            </a:solidFill>
            <a:prstDash val="solid"/>
          </a:ln>
        </p:spPr>
      </p:sp>
      <p:sp>
        <p:nvSpPr>
          <p:cNvPr id="31" name="Text 29"/>
          <p:cNvSpPr/>
          <p:nvPr/>
        </p:nvSpPr>
        <p:spPr>
          <a:xfrm>
            <a:off x="7022592" y="4567428"/>
            <a:ext cx="1664208" cy="137160"/>
          </a:xfrm>
          <a:prstGeom prst="rect">
            <a:avLst/>
          </a:prstGeom>
          <a:noFill/>
          <a:ln/>
        </p:spPr>
        <p:txBody>
          <a:bodyPr wrap="square" lIns="0" tIns="0" rIns="0" bIns="0" rtlCol="0" anchor="ctr"/>
          <a:lstStyle/>
          <a:p>
            <a:pPr marL="0" indent="0" algn="ctr">
              <a:buNone/>
            </a:pPr>
            <a:r>
              <a:rPr lang="en-US" sz="850" b="1" dirty="0">
                <a:solidFill>
                  <a:srgbClr val="2563EB"/>
                </a:solidFill>
              </a:rPr>
              <a:t>conversation context</a:t>
            </a:r>
            <a:endParaRPr lang="en-US" sz="850" dirty="0"/>
          </a:p>
        </p:txBody>
      </p:sp>
      <p:sp>
        <p:nvSpPr>
          <p:cNvPr id="32" name="Shape 30"/>
          <p:cNvSpPr/>
          <p:nvPr/>
        </p:nvSpPr>
        <p:spPr>
          <a:xfrm>
            <a:off x="8979408" y="4498848"/>
            <a:ext cx="1810512" cy="301752"/>
          </a:xfrm>
          <a:prstGeom prst="roundRect">
            <a:avLst>
              <a:gd name="adj" fmla="val 48485"/>
            </a:avLst>
          </a:prstGeom>
          <a:solidFill>
            <a:srgbClr val="EAF2FF"/>
          </a:solidFill>
          <a:ln w="12700">
            <a:solidFill>
              <a:srgbClr val="EAF2FF"/>
            </a:solidFill>
            <a:prstDash val="solid"/>
          </a:ln>
        </p:spPr>
      </p:sp>
      <p:sp>
        <p:nvSpPr>
          <p:cNvPr id="33" name="Text 31"/>
          <p:cNvSpPr/>
          <p:nvPr/>
        </p:nvSpPr>
        <p:spPr>
          <a:xfrm>
            <a:off x="9052560" y="4567428"/>
            <a:ext cx="1664208" cy="137160"/>
          </a:xfrm>
          <a:prstGeom prst="rect">
            <a:avLst/>
          </a:prstGeom>
          <a:noFill/>
          <a:ln/>
        </p:spPr>
        <p:txBody>
          <a:bodyPr wrap="square" lIns="0" tIns="0" rIns="0" bIns="0" rtlCol="0" anchor="ctr"/>
          <a:lstStyle/>
          <a:p>
            <a:pPr marL="0" indent="0" algn="ctr">
              <a:buNone/>
            </a:pPr>
            <a:r>
              <a:rPr lang="en-US" sz="850" b="1" dirty="0">
                <a:solidFill>
                  <a:srgbClr val="2563EB"/>
                </a:solidFill>
              </a:rPr>
              <a:t>measurable evaluation</a:t>
            </a:r>
            <a:endParaRPr lang="en-US" sz="850" dirty="0"/>
          </a:p>
        </p:txBody>
      </p:sp>
      <p:sp>
        <p:nvSpPr>
          <p:cNvPr id="34" name="Text 32"/>
          <p:cNvSpPr/>
          <p:nvPr/>
        </p:nvSpPr>
        <p:spPr>
          <a:xfrm>
            <a:off x="859536" y="5074920"/>
            <a:ext cx="9875520" cy="201168"/>
          </a:xfrm>
          <a:prstGeom prst="rect">
            <a:avLst/>
          </a:prstGeom>
          <a:noFill/>
          <a:ln/>
        </p:spPr>
        <p:txBody>
          <a:bodyPr wrap="square" lIns="0" tIns="0" rIns="0" bIns="0" rtlCol="0" anchor="ctr"/>
          <a:lstStyle/>
          <a:p>
            <a:pPr marL="0" indent="0">
              <a:buNone/>
            </a:pPr>
            <a:r>
              <a:rPr lang="en-US" sz="920" i="1" dirty="0">
                <a:solidFill>
                  <a:srgbClr val="CBD5E1"/>
                </a:solidFill>
                <a:latin typeface="Aptos" pitchFamily="34" charset="0"/>
                <a:ea typeface="Aptos" pitchFamily="34" charset="-122"/>
                <a:cs typeface="Aptos" pitchFamily="34" charset="-120"/>
              </a:rPr>
              <a:t>Differentiator: our project is a controlled learning + evaluation system, not a claim to outperform commercial platforms.</a:t>
            </a:r>
            <a:endParaRPr lang="en-US" sz="920" dirty="0"/>
          </a:p>
        </p:txBody>
      </p:sp>
      <p:sp>
        <p:nvSpPr>
          <p:cNvPr id="35" name="Text 33"/>
          <p:cNvSpPr/>
          <p:nvPr/>
        </p:nvSpPr>
        <p:spPr>
          <a:xfrm>
            <a:off x="502920" y="6272784"/>
            <a:ext cx="10972800" cy="164592"/>
          </a:xfrm>
          <a:prstGeom prst="rect">
            <a:avLst/>
          </a:prstGeom>
          <a:noFill/>
          <a:ln/>
        </p:spPr>
        <p:txBody>
          <a:bodyPr wrap="square" lIns="0" tIns="0" rIns="0" bIns="0" rtlCol="0" anchor="ctr"/>
          <a:lstStyle/>
          <a:p>
            <a:pPr marL="0" indent="0">
              <a:buNone/>
            </a:pPr>
            <a:r>
              <a:rPr lang="en-US" sz="720" i="1" dirty="0">
                <a:solidFill>
                  <a:srgbClr val="64748B"/>
                </a:solidFill>
              </a:rPr>
              <a:t>Sources: Lewis et al. (2020) RAG; Gao et al. (2023) RAG survey; Glean; Google Gemini Enterprise; Amazon Q Business; Atlassian Rovo.</a:t>
            </a:r>
            <a:endParaRPr lang="en-US" sz="720" dirty="0"/>
          </a:p>
        </p:txBody>
      </p:sp>
      <p:sp>
        <p:nvSpPr>
          <p:cNvPr id="36"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89611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10. Scope and 8-week build roadmap</a:t>
            </a:r>
            <a:endParaRPr lang="en-US" sz="2800" dirty="0"/>
          </a:p>
        </p:txBody>
      </p:sp>
      <p:sp>
        <p:nvSpPr>
          <p:cNvPr id="3" name="Text 1"/>
          <p:cNvSpPr/>
          <p:nvPr/>
        </p:nvSpPr>
        <p:spPr>
          <a:xfrm>
            <a:off x="521208" y="877824"/>
            <a:ext cx="10607040" cy="310896"/>
          </a:xfrm>
          <a:prstGeom prst="rect">
            <a:avLst/>
          </a:prstGeom>
          <a:noFill/>
          <a:ln/>
        </p:spPr>
        <p:txBody>
          <a:bodyPr wrap="square" lIns="0" tIns="0" rIns="0" bIns="0" rtlCol="0" anchor="ctr"/>
          <a:lstStyle/>
          <a:p>
            <a:pPr marL="0" indent="0">
              <a:buNone/>
            </a:pPr>
            <a:r>
              <a:rPr lang="en-US" sz="1150" dirty="0">
                <a:solidFill>
                  <a:srgbClr val="64748B"/>
                </a:solidFill>
              </a:rPr>
              <a:t>We will start small, get the RAG loop working, then add enterprise controls and polish.</a:t>
            </a:r>
            <a:endParaRPr lang="en-US" sz="1150" dirty="0"/>
          </a:p>
        </p:txBody>
      </p:sp>
      <p:sp>
        <p:nvSpPr>
          <p:cNvPr id="4" name="Shape 2"/>
          <p:cNvSpPr/>
          <p:nvPr/>
        </p:nvSpPr>
        <p:spPr>
          <a:xfrm>
            <a:off x="566928" y="1371600"/>
            <a:ext cx="5413248" cy="4480560"/>
          </a:xfrm>
          <a:prstGeom prst="roundRect">
            <a:avLst>
              <a:gd name="adj" fmla="val 3673"/>
            </a:avLst>
          </a:prstGeom>
          <a:solidFill>
            <a:srgbClr val="FFFFFF"/>
          </a:solidFill>
          <a:ln w="12700">
            <a:solidFill>
              <a:srgbClr val="DCE3ED"/>
            </a:solidFill>
            <a:prstDash val="solid"/>
          </a:ln>
        </p:spPr>
      </p:sp>
      <p:sp>
        <p:nvSpPr>
          <p:cNvPr id="5" name="Shape 3"/>
          <p:cNvSpPr/>
          <p:nvPr/>
        </p:nvSpPr>
        <p:spPr>
          <a:xfrm>
            <a:off x="804672" y="1636776"/>
            <a:ext cx="932688" cy="301752"/>
          </a:xfrm>
          <a:prstGeom prst="roundRect">
            <a:avLst>
              <a:gd name="adj" fmla="val 48485"/>
            </a:avLst>
          </a:prstGeom>
          <a:solidFill>
            <a:srgbClr val="EAF8EF"/>
          </a:solidFill>
          <a:ln w="12700">
            <a:solidFill>
              <a:srgbClr val="EAF8EF"/>
            </a:solidFill>
            <a:prstDash val="solid"/>
          </a:ln>
        </p:spPr>
      </p:sp>
      <p:sp>
        <p:nvSpPr>
          <p:cNvPr id="6" name="Text 4"/>
          <p:cNvSpPr/>
          <p:nvPr/>
        </p:nvSpPr>
        <p:spPr>
          <a:xfrm>
            <a:off x="877824" y="1705356"/>
            <a:ext cx="786384" cy="137160"/>
          </a:xfrm>
          <a:prstGeom prst="rect">
            <a:avLst/>
          </a:prstGeom>
          <a:noFill/>
          <a:ln/>
        </p:spPr>
        <p:txBody>
          <a:bodyPr wrap="square" lIns="0" tIns="0" rIns="0" bIns="0" rtlCol="0" anchor="ctr"/>
          <a:lstStyle/>
          <a:p>
            <a:pPr marL="0" indent="0" algn="ctr">
              <a:buNone/>
            </a:pPr>
            <a:r>
              <a:rPr lang="en-US" sz="850" b="1" dirty="0">
                <a:solidFill>
                  <a:srgbClr val="16A34A"/>
                </a:solidFill>
              </a:rPr>
              <a:t>MVP SCOPE</a:t>
            </a:r>
            <a:endParaRPr lang="en-US" sz="850" dirty="0"/>
          </a:p>
        </p:txBody>
      </p:sp>
      <p:sp>
        <p:nvSpPr>
          <p:cNvPr id="7" name="Shape 5"/>
          <p:cNvSpPr/>
          <p:nvPr/>
        </p:nvSpPr>
        <p:spPr>
          <a:xfrm>
            <a:off x="822960" y="2084832"/>
            <a:ext cx="219456" cy="219456"/>
          </a:xfrm>
          <a:prstGeom prst="ellipse">
            <a:avLst/>
          </a:prstGeom>
          <a:solidFill>
            <a:srgbClr val="16A34A"/>
          </a:solidFill>
          <a:ln w="12700">
            <a:solidFill>
              <a:srgbClr val="16A34A"/>
            </a:solidFill>
            <a:prstDash val="solid"/>
          </a:ln>
        </p:spPr>
      </p:sp>
      <p:sp>
        <p:nvSpPr>
          <p:cNvPr id="8" name="Text 6"/>
          <p:cNvSpPr/>
          <p:nvPr/>
        </p:nvSpPr>
        <p:spPr>
          <a:xfrm>
            <a:off x="832104" y="2112264"/>
            <a:ext cx="201168" cy="164592"/>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9" name="Text 7"/>
          <p:cNvSpPr/>
          <p:nvPr/>
        </p:nvSpPr>
        <p:spPr>
          <a:xfrm>
            <a:off x="1170432" y="2084832"/>
            <a:ext cx="4343400" cy="164592"/>
          </a:xfrm>
          <a:prstGeom prst="rect">
            <a:avLst/>
          </a:prstGeom>
          <a:noFill/>
          <a:ln/>
        </p:spPr>
        <p:txBody>
          <a:bodyPr wrap="square" lIns="0" tIns="0" rIns="0" bIns="0" rtlCol="0" anchor="ctr"/>
          <a:lstStyle/>
          <a:p>
            <a:pPr marL="0" indent="0">
              <a:buNone/>
            </a:pPr>
            <a:r>
              <a:rPr lang="en-US" sz="960" dirty="0">
                <a:solidFill>
                  <a:srgbClr val="1E293B"/>
                </a:solidFill>
                <a:latin typeface="Aptos" pitchFamily="34" charset="0"/>
                <a:ea typeface="Aptos" pitchFamily="34" charset="-122"/>
                <a:cs typeface="Aptos" pitchFamily="34" charset="-120"/>
              </a:rPr>
              <a:t>PDF upload &amp; text extraction</a:t>
            </a:r>
            <a:endParaRPr lang="en-US" sz="960" dirty="0"/>
          </a:p>
        </p:txBody>
      </p:sp>
      <p:sp>
        <p:nvSpPr>
          <p:cNvPr id="10" name="Shape 8"/>
          <p:cNvSpPr/>
          <p:nvPr/>
        </p:nvSpPr>
        <p:spPr>
          <a:xfrm>
            <a:off x="822960" y="2514600"/>
            <a:ext cx="219456" cy="219456"/>
          </a:xfrm>
          <a:prstGeom prst="ellipse">
            <a:avLst/>
          </a:prstGeom>
          <a:solidFill>
            <a:srgbClr val="16A34A"/>
          </a:solidFill>
          <a:ln w="12700">
            <a:solidFill>
              <a:srgbClr val="16A34A"/>
            </a:solidFill>
            <a:prstDash val="solid"/>
          </a:ln>
        </p:spPr>
      </p:sp>
      <p:sp>
        <p:nvSpPr>
          <p:cNvPr id="11" name="Text 9"/>
          <p:cNvSpPr/>
          <p:nvPr/>
        </p:nvSpPr>
        <p:spPr>
          <a:xfrm>
            <a:off x="832104" y="2542032"/>
            <a:ext cx="201168" cy="164592"/>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12" name="Text 10"/>
          <p:cNvSpPr/>
          <p:nvPr/>
        </p:nvSpPr>
        <p:spPr>
          <a:xfrm>
            <a:off x="1170432" y="2514600"/>
            <a:ext cx="4343400" cy="164592"/>
          </a:xfrm>
          <a:prstGeom prst="rect">
            <a:avLst/>
          </a:prstGeom>
          <a:noFill/>
          <a:ln/>
        </p:spPr>
        <p:txBody>
          <a:bodyPr wrap="square" lIns="0" tIns="0" rIns="0" bIns="0" rtlCol="0" anchor="ctr"/>
          <a:lstStyle/>
          <a:p>
            <a:pPr marL="0" indent="0">
              <a:buNone/>
            </a:pPr>
            <a:r>
              <a:rPr lang="en-US" sz="960" dirty="0">
                <a:solidFill>
                  <a:srgbClr val="1E293B"/>
                </a:solidFill>
                <a:latin typeface="Aptos" pitchFamily="34" charset="0"/>
                <a:ea typeface="Aptos" pitchFamily="34" charset="-122"/>
                <a:cs typeface="Aptos" pitchFamily="34" charset="-120"/>
              </a:rPr>
              <a:t>Chunking + embeddings</a:t>
            </a:r>
            <a:endParaRPr lang="en-US" sz="960" dirty="0"/>
          </a:p>
        </p:txBody>
      </p:sp>
      <p:sp>
        <p:nvSpPr>
          <p:cNvPr id="13" name="Shape 11"/>
          <p:cNvSpPr/>
          <p:nvPr/>
        </p:nvSpPr>
        <p:spPr>
          <a:xfrm>
            <a:off x="822960" y="2944368"/>
            <a:ext cx="219456" cy="219456"/>
          </a:xfrm>
          <a:prstGeom prst="ellipse">
            <a:avLst/>
          </a:prstGeom>
          <a:solidFill>
            <a:srgbClr val="16A34A"/>
          </a:solidFill>
          <a:ln w="12700">
            <a:solidFill>
              <a:srgbClr val="16A34A"/>
            </a:solidFill>
            <a:prstDash val="solid"/>
          </a:ln>
        </p:spPr>
      </p:sp>
      <p:sp>
        <p:nvSpPr>
          <p:cNvPr id="14" name="Text 12"/>
          <p:cNvSpPr/>
          <p:nvPr/>
        </p:nvSpPr>
        <p:spPr>
          <a:xfrm>
            <a:off x="832104" y="2971800"/>
            <a:ext cx="201168" cy="164592"/>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15" name="Text 13"/>
          <p:cNvSpPr/>
          <p:nvPr/>
        </p:nvSpPr>
        <p:spPr>
          <a:xfrm>
            <a:off x="1170432" y="2944368"/>
            <a:ext cx="4343400" cy="164592"/>
          </a:xfrm>
          <a:prstGeom prst="rect">
            <a:avLst/>
          </a:prstGeom>
          <a:noFill/>
          <a:ln/>
        </p:spPr>
        <p:txBody>
          <a:bodyPr wrap="square" lIns="0" tIns="0" rIns="0" bIns="0" rtlCol="0" anchor="ctr"/>
          <a:lstStyle/>
          <a:p>
            <a:pPr marL="0" indent="0">
              <a:buNone/>
            </a:pPr>
            <a:r>
              <a:rPr lang="en-US" sz="960" dirty="0">
                <a:solidFill>
                  <a:srgbClr val="1E293B"/>
                </a:solidFill>
                <a:latin typeface="Aptos" pitchFamily="34" charset="0"/>
                <a:ea typeface="Aptos" pitchFamily="34" charset="-122"/>
                <a:cs typeface="Aptos" pitchFamily="34" charset="-120"/>
              </a:rPr>
              <a:t>Vector search</a:t>
            </a:r>
            <a:endParaRPr lang="en-US" sz="960" dirty="0"/>
          </a:p>
        </p:txBody>
      </p:sp>
      <p:sp>
        <p:nvSpPr>
          <p:cNvPr id="16" name="Shape 14"/>
          <p:cNvSpPr/>
          <p:nvPr/>
        </p:nvSpPr>
        <p:spPr>
          <a:xfrm>
            <a:off x="822960" y="3374136"/>
            <a:ext cx="219456" cy="219456"/>
          </a:xfrm>
          <a:prstGeom prst="ellipse">
            <a:avLst/>
          </a:prstGeom>
          <a:solidFill>
            <a:srgbClr val="16A34A"/>
          </a:solidFill>
          <a:ln w="12700">
            <a:solidFill>
              <a:srgbClr val="16A34A"/>
            </a:solidFill>
            <a:prstDash val="solid"/>
          </a:ln>
        </p:spPr>
      </p:sp>
      <p:sp>
        <p:nvSpPr>
          <p:cNvPr id="17" name="Text 15"/>
          <p:cNvSpPr/>
          <p:nvPr/>
        </p:nvSpPr>
        <p:spPr>
          <a:xfrm>
            <a:off x="832104" y="3401568"/>
            <a:ext cx="201168" cy="164592"/>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18" name="Text 16"/>
          <p:cNvSpPr/>
          <p:nvPr/>
        </p:nvSpPr>
        <p:spPr>
          <a:xfrm>
            <a:off x="1170432" y="3374136"/>
            <a:ext cx="4343400" cy="164592"/>
          </a:xfrm>
          <a:prstGeom prst="rect">
            <a:avLst/>
          </a:prstGeom>
          <a:noFill/>
          <a:ln/>
        </p:spPr>
        <p:txBody>
          <a:bodyPr wrap="square" lIns="0" tIns="0" rIns="0" bIns="0" rtlCol="0" anchor="ctr"/>
          <a:lstStyle/>
          <a:p>
            <a:pPr marL="0" indent="0">
              <a:buNone/>
            </a:pPr>
            <a:r>
              <a:rPr lang="en-US" sz="960" dirty="0">
                <a:solidFill>
                  <a:srgbClr val="1E293B"/>
                </a:solidFill>
                <a:latin typeface="Aptos" pitchFamily="34" charset="0"/>
                <a:ea typeface="Aptos" pitchFamily="34" charset="-122"/>
                <a:cs typeface="Aptos" pitchFamily="34" charset="-120"/>
              </a:rPr>
              <a:t>LLM answer generation</a:t>
            </a:r>
            <a:endParaRPr lang="en-US" sz="960" dirty="0"/>
          </a:p>
        </p:txBody>
      </p:sp>
      <p:sp>
        <p:nvSpPr>
          <p:cNvPr id="19" name="Shape 17"/>
          <p:cNvSpPr/>
          <p:nvPr/>
        </p:nvSpPr>
        <p:spPr>
          <a:xfrm>
            <a:off x="822960" y="3803904"/>
            <a:ext cx="219456" cy="219456"/>
          </a:xfrm>
          <a:prstGeom prst="ellipse">
            <a:avLst/>
          </a:prstGeom>
          <a:solidFill>
            <a:srgbClr val="16A34A"/>
          </a:solidFill>
          <a:ln w="12700">
            <a:solidFill>
              <a:srgbClr val="16A34A"/>
            </a:solidFill>
            <a:prstDash val="solid"/>
          </a:ln>
        </p:spPr>
      </p:sp>
      <p:sp>
        <p:nvSpPr>
          <p:cNvPr id="20" name="Text 18"/>
          <p:cNvSpPr/>
          <p:nvPr/>
        </p:nvSpPr>
        <p:spPr>
          <a:xfrm>
            <a:off x="832104" y="3831336"/>
            <a:ext cx="201168" cy="164592"/>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21" name="Text 19"/>
          <p:cNvSpPr/>
          <p:nvPr/>
        </p:nvSpPr>
        <p:spPr>
          <a:xfrm>
            <a:off x="1170432" y="3803904"/>
            <a:ext cx="4343400" cy="164592"/>
          </a:xfrm>
          <a:prstGeom prst="rect">
            <a:avLst/>
          </a:prstGeom>
          <a:noFill/>
          <a:ln/>
        </p:spPr>
        <p:txBody>
          <a:bodyPr wrap="square" lIns="0" tIns="0" rIns="0" bIns="0" rtlCol="0" anchor="ctr"/>
          <a:lstStyle/>
          <a:p>
            <a:pPr marL="0" indent="0">
              <a:buNone/>
            </a:pPr>
            <a:r>
              <a:rPr lang="en-US" sz="960" dirty="0">
                <a:solidFill>
                  <a:srgbClr val="1E293B"/>
                </a:solidFill>
                <a:latin typeface="Aptos" pitchFamily="34" charset="0"/>
                <a:ea typeface="Aptos" pitchFamily="34" charset="-122"/>
                <a:cs typeface="Aptos" pitchFamily="34" charset="-120"/>
              </a:rPr>
              <a:t>Source citations</a:t>
            </a:r>
            <a:endParaRPr lang="en-US" sz="960" dirty="0"/>
          </a:p>
        </p:txBody>
      </p:sp>
      <p:sp>
        <p:nvSpPr>
          <p:cNvPr id="22" name="Shape 20"/>
          <p:cNvSpPr/>
          <p:nvPr/>
        </p:nvSpPr>
        <p:spPr>
          <a:xfrm>
            <a:off x="822960" y="4233672"/>
            <a:ext cx="219456" cy="219456"/>
          </a:xfrm>
          <a:prstGeom prst="ellipse">
            <a:avLst/>
          </a:prstGeom>
          <a:solidFill>
            <a:srgbClr val="16A34A"/>
          </a:solidFill>
          <a:ln w="12700">
            <a:solidFill>
              <a:srgbClr val="16A34A"/>
            </a:solidFill>
            <a:prstDash val="solid"/>
          </a:ln>
        </p:spPr>
      </p:sp>
      <p:sp>
        <p:nvSpPr>
          <p:cNvPr id="23" name="Text 21"/>
          <p:cNvSpPr/>
          <p:nvPr/>
        </p:nvSpPr>
        <p:spPr>
          <a:xfrm>
            <a:off x="832104" y="4261104"/>
            <a:ext cx="201168" cy="164592"/>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24" name="Text 22"/>
          <p:cNvSpPr/>
          <p:nvPr/>
        </p:nvSpPr>
        <p:spPr>
          <a:xfrm>
            <a:off x="1170432" y="4233672"/>
            <a:ext cx="4343400" cy="164592"/>
          </a:xfrm>
          <a:prstGeom prst="rect">
            <a:avLst/>
          </a:prstGeom>
          <a:noFill/>
          <a:ln/>
        </p:spPr>
        <p:txBody>
          <a:bodyPr wrap="square" lIns="0" tIns="0" rIns="0" bIns="0" rtlCol="0" anchor="ctr"/>
          <a:lstStyle/>
          <a:p>
            <a:pPr marL="0" indent="0">
              <a:buNone/>
            </a:pPr>
            <a:r>
              <a:rPr lang="en-US" sz="960" dirty="0">
                <a:solidFill>
                  <a:srgbClr val="1E293B"/>
                </a:solidFill>
                <a:latin typeface="Aptos" pitchFamily="34" charset="0"/>
                <a:ea typeface="Aptos" pitchFamily="34" charset="-122"/>
                <a:cs typeface="Aptos" pitchFamily="34" charset="-120"/>
              </a:rPr>
              <a:t>Login + basic roles</a:t>
            </a:r>
            <a:endParaRPr lang="en-US" sz="960" dirty="0"/>
          </a:p>
        </p:txBody>
      </p:sp>
      <p:sp>
        <p:nvSpPr>
          <p:cNvPr id="25" name="Shape 23"/>
          <p:cNvSpPr/>
          <p:nvPr/>
        </p:nvSpPr>
        <p:spPr>
          <a:xfrm>
            <a:off x="822960" y="4663440"/>
            <a:ext cx="219456" cy="219456"/>
          </a:xfrm>
          <a:prstGeom prst="ellipse">
            <a:avLst/>
          </a:prstGeom>
          <a:solidFill>
            <a:srgbClr val="16A34A"/>
          </a:solidFill>
          <a:ln w="12700">
            <a:solidFill>
              <a:srgbClr val="16A34A"/>
            </a:solidFill>
            <a:prstDash val="solid"/>
          </a:ln>
        </p:spPr>
      </p:sp>
      <p:sp>
        <p:nvSpPr>
          <p:cNvPr id="26" name="Text 24"/>
          <p:cNvSpPr/>
          <p:nvPr/>
        </p:nvSpPr>
        <p:spPr>
          <a:xfrm>
            <a:off x="832104" y="4690872"/>
            <a:ext cx="201168" cy="164592"/>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27" name="Text 25"/>
          <p:cNvSpPr/>
          <p:nvPr/>
        </p:nvSpPr>
        <p:spPr>
          <a:xfrm>
            <a:off x="1170432" y="4663440"/>
            <a:ext cx="4343400" cy="164592"/>
          </a:xfrm>
          <a:prstGeom prst="rect">
            <a:avLst/>
          </a:prstGeom>
          <a:noFill/>
          <a:ln/>
        </p:spPr>
        <p:txBody>
          <a:bodyPr wrap="square" lIns="0" tIns="0" rIns="0" bIns="0" rtlCol="0" anchor="ctr"/>
          <a:lstStyle/>
          <a:p>
            <a:pPr marL="0" indent="0">
              <a:buNone/>
            </a:pPr>
            <a:r>
              <a:rPr lang="en-US" sz="960" dirty="0">
                <a:solidFill>
                  <a:srgbClr val="1E293B"/>
                </a:solidFill>
                <a:latin typeface="Aptos" pitchFamily="34" charset="0"/>
                <a:ea typeface="Aptos" pitchFamily="34" charset="-122"/>
                <a:cs typeface="Aptos" pitchFamily="34" charset="-120"/>
              </a:rPr>
              <a:t>Document access filter</a:t>
            </a:r>
            <a:endParaRPr lang="en-US" sz="960" dirty="0"/>
          </a:p>
        </p:txBody>
      </p:sp>
      <p:sp>
        <p:nvSpPr>
          <p:cNvPr id="28" name="Shape 26"/>
          <p:cNvSpPr/>
          <p:nvPr/>
        </p:nvSpPr>
        <p:spPr>
          <a:xfrm>
            <a:off x="822960" y="5093208"/>
            <a:ext cx="219456" cy="219456"/>
          </a:xfrm>
          <a:prstGeom prst="ellipse">
            <a:avLst/>
          </a:prstGeom>
          <a:solidFill>
            <a:srgbClr val="16A34A"/>
          </a:solidFill>
          <a:ln w="12700">
            <a:solidFill>
              <a:srgbClr val="16A34A"/>
            </a:solidFill>
            <a:prstDash val="solid"/>
          </a:ln>
        </p:spPr>
      </p:sp>
      <p:sp>
        <p:nvSpPr>
          <p:cNvPr id="29" name="Text 27"/>
          <p:cNvSpPr/>
          <p:nvPr/>
        </p:nvSpPr>
        <p:spPr>
          <a:xfrm>
            <a:off x="832104" y="5120640"/>
            <a:ext cx="201168" cy="164592"/>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30" name="Text 28"/>
          <p:cNvSpPr/>
          <p:nvPr/>
        </p:nvSpPr>
        <p:spPr>
          <a:xfrm>
            <a:off x="1170432" y="5093208"/>
            <a:ext cx="4343400" cy="164592"/>
          </a:xfrm>
          <a:prstGeom prst="rect">
            <a:avLst/>
          </a:prstGeom>
          <a:noFill/>
          <a:ln/>
        </p:spPr>
        <p:txBody>
          <a:bodyPr wrap="square" lIns="0" tIns="0" rIns="0" bIns="0" rtlCol="0" anchor="ctr"/>
          <a:lstStyle/>
          <a:p>
            <a:pPr marL="0" indent="0">
              <a:buNone/>
            </a:pPr>
            <a:r>
              <a:rPr lang="en-US" sz="960" dirty="0">
                <a:solidFill>
                  <a:srgbClr val="1E293B"/>
                </a:solidFill>
                <a:latin typeface="Aptos" pitchFamily="34" charset="0"/>
                <a:ea typeface="Aptos" pitchFamily="34" charset="-122"/>
                <a:cs typeface="Aptos" pitchFamily="34" charset="-120"/>
              </a:rPr>
              <a:t>Chat history</a:t>
            </a:r>
            <a:endParaRPr lang="en-US" sz="960" dirty="0"/>
          </a:p>
        </p:txBody>
      </p:sp>
      <p:sp>
        <p:nvSpPr>
          <p:cNvPr id="31" name="Shape 29"/>
          <p:cNvSpPr/>
          <p:nvPr/>
        </p:nvSpPr>
        <p:spPr>
          <a:xfrm>
            <a:off x="6144768" y="1371600"/>
            <a:ext cx="5413248" cy="4480560"/>
          </a:xfrm>
          <a:prstGeom prst="roundRect">
            <a:avLst>
              <a:gd name="adj" fmla="val 3673"/>
            </a:avLst>
          </a:prstGeom>
          <a:solidFill>
            <a:srgbClr val="FFFFFF"/>
          </a:solidFill>
          <a:ln w="12700">
            <a:solidFill>
              <a:srgbClr val="DCE3ED"/>
            </a:solidFill>
            <a:prstDash val="solid"/>
          </a:ln>
        </p:spPr>
      </p:sp>
      <p:sp>
        <p:nvSpPr>
          <p:cNvPr id="32" name="Shape 30"/>
          <p:cNvSpPr/>
          <p:nvPr/>
        </p:nvSpPr>
        <p:spPr>
          <a:xfrm>
            <a:off x="6382512" y="1636776"/>
            <a:ext cx="1005840" cy="301752"/>
          </a:xfrm>
          <a:prstGeom prst="roundRect">
            <a:avLst>
              <a:gd name="adj" fmla="val 48485"/>
            </a:avLst>
          </a:prstGeom>
          <a:solidFill>
            <a:srgbClr val="EAF2FF"/>
          </a:solidFill>
          <a:ln w="12700">
            <a:solidFill>
              <a:srgbClr val="EAF2FF"/>
            </a:solidFill>
            <a:prstDash val="solid"/>
          </a:ln>
        </p:spPr>
      </p:sp>
      <p:sp>
        <p:nvSpPr>
          <p:cNvPr id="33" name="Text 31"/>
          <p:cNvSpPr/>
          <p:nvPr/>
        </p:nvSpPr>
        <p:spPr>
          <a:xfrm>
            <a:off x="6455664" y="1705356"/>
            <a:ext cx="859536" cy="137160"/>
          </a:xfrm>
          <a:prstGeom prst="rect">
            <a:avLst/>
          </a:prstGeom>
          <a:noFill/>
          <a:ln/>
        </p:spPr>
        <p:txBody>
          <a:bodyPr wrap="square" lIns="0" tIns="0" rIns="0" bIns="0" rtlCol="0" anchor="ctr"/>
          <a:lstStyle/>
          <a:p>
            <a:pPr marL="0" indent="0" algn="ctr">
              <a:buNone/>
            </a:pPr>
            <a:r>
              <a:rPr lang="en-US" sz="850" b="1" dirty="0">
                <a:solidFill>
                  <a:srgbClr val="2563EB"/>
                </a:solidFill>
              </a:rPr>
              <a:t>8-WEEK PLAN</a:t>
            </a:r>
            <a:endParaRPr lang="en-US" sz="850" dirty="0"/>
          </a:p>
        </p:txBody>
      </p:sp>
      <p:sp>
        <p:nvSpPr>
          <p:cNvPr id="34" name="Shape 32"/>
          <p:cNvSpPr/>
          <p:nvPr/>
        </p:nvSpPr>
        <p:spPr>
          <a:xfrm>
            <a:off x="6382512" y="2075688"/>
            <a:ext cx="502920" cy="301752"/>
          </a:xfrm>
          <a:prstGeom prst="roundRect">
            <a:avLst>
              <a:gd name="adj" fmla="val 48485"/>
            </a:avLst>
          </a:prstGeom>
          <a:solidFill>
            <a:srgbClr val="F1F5F9"/>
          </a:solidFill>
          <a:ln w="12700">
            <a:solidFill>
              <a:srgbClr val="F1F5F9"/>
            </a:solidFill>
            <a:prstDash val="solid"/>
          </a:ln>
        </p:spPr>
      </p:sp>
      <p:sp>
        <p:nvSpPr>
          <p:cNvPr id="35" name="Text 33"/>
          <p:cNvSpPr/>
          <p:nvPr/>
        </p:nvSpPr>
        <p:spPr>
          <a:xfrm>
            <a:off x="6455664" y="2144268"/>
            <a:ext cx="356616" cy="137160"/>
          </a:xfrm>
          <a:prstGeom prst="rect">
            <a:avLst/>
          </a:prstGeom>
          <a:noFill/>
          <a:ln/>
        </p:spPr>
        <p:txBody>
          <a:bodyPr wrap="square" lIns="0" tIns="0" rIns="0" bIns="0" rtlCol="0" anchor="ctr"/>
          <a:lstStyle/>
          <a:p>
            <a:pPr marL="0" indent="0" algn="ctr">
              <a:buNone/>
            </a:pPr>
            <a:r>
              <a:rPr lang="en-US" sz="850" b="1" dirty="0">
                <a:solidFill>
                  <a:srgbClr val="64748B"/>
                </a:solidFill>
              </a:rPr>
              <a:t>W1</a:t>
            </a:r>
            <a:endParaRPr lang="en-US" sz="850" dirty="0"/>
          </a:p>
        </p:txBody>
      </p:sp>
      <p:sp>
        <p:nvSpPr>
          <p:cNvPr id="36" name="Text 34"/>
          <p:cNvSpPr/>
          <p:nvPr/>
        </p:nvSpPr>
        <p:spPr>
          <a:xfrm>
            <a:off x="7059168" y="2139696"/>
            <a:ext cx="4114800" cy="155448"/>
          </a:xfrm>
          <a:prstGeom prst="rect">
            <a:avLst/>
          </a:prstGeom>
          <a:noFill/>
          <a:ln/>
        </p:spPr>
        <p:txBody>
          <a:bodyPr wrap="square" lIns="0" tIns="0" rIns="0" bIns="0" rtlCol="0" anchor="ctr"/>
          <a:lstStyle/>
          <a:p>
            <a:pPr marL="0" indent="0">
              <a:buNone/>
            </a:pPr>
            <a:r>
              <a:rPr lang="en-US" sz="910" dirty="0">
                <a:solidFill>
                  <a:srgbClr val="1E293B"/>
                </a:solidFill>
                <a:latin typeface="Aptos" pitchFamily="34" charset="0"/>
                <a:ea typeface="Aptos" pitchFamily="34" charset="-122"/>
                <a:cs typeface="Aptos" pitchFamily="34" charset="-120"/>
              </a:rPr>
              <a:t>Topic + problem statement</a:t>
            </a:r>
            <a:endParaRPr lang="en-US" sz="910" dirty="0"/>
          </a:p>
        </p:txBody>
      </p:sp>
      <p:sp>
        <p:nvSpPr>
          <p:cNvPr id="37" name="Shape 35"/>
          <p:cNvSpPr/>
          <p:nvPr/>
        </p:nvSpPr>
        <p:spPr>
          <a:xfrm>
            <a:off x="6382512" y="2496312"/>
            <a:ext cx="502920" cy="301752"/>
          </a:xfrm>
          <a:prstGeom prst="roundRect">
            <a:avLst>
              <a:gd name="adj" fmla="val 48485"/>
            </a:avLst>
          </a:prstGeom>
          <a:solidFill>
            <a:srgbClr val="F1F5F9"/>
          </a:solidFill>
          <a:ln w="12700">
            <a:solidFill>
              <a:srgbClr val="F1F5F9"/>
            </a:solidFill>
            <a:prstDash val="solid"/>
          </a:ln>
        </p:spPr>
      </p:sp>
      <p:sp>
        <p:nvSpPr>
          <p:cNvPr id="38" name="Text 36"/>
          <p:cNvSpPr/>
          <p:nvPr/>
        </p:nvSpPr>
        <p:spPr>
          <a:xfrm>
            <a:off x="6455664" y="2564892"/>
            <a:ext cx="356616" cy="137160"/>
          </a:xfrm>
          <a:prstGeom prst="rect">
            <a:avLst/>
          </a:prstGeom>
          <a:noFill/>
          <a:ln/>
        </p:spPr>
        <p:txBody>
          <a:bodyPr wrap="square" lIns="0" tIns="0" rIns="0" bIns="0" rtlCol="0" anchor="ctr"/>
          <a:lstStyle/>
          <a:p>
            <a:pPr marL="0" indent="0" algn="ctr">
              <a:buNone/>
            </a:pPr>
            <a:r>
              <a:rPr lang="en-US" sz="850" b="1" dirty="0">
                <a:solidFill>
                  <a:srgbClr val="64748B"/>
                </a:solidFill>
              </a:rPr>
              <a:t>W2</a:t>
            </a:r>
            <a:endParaRPr lang="en-US" sz="850" dirty="0"/>
          </a:p>
        </p:txBody>
      </p:sp>
      <p:sp>
        <p:nvSpPr>
          <p:cNvPr id="39" name="Text 37"/>
          <p:cNvSpPr/>
          <p:nvPr/>
        </p:nvSpPr>
        <p:spPr>
          <a:xfrm>
            <a:off x="7059168" y="2560320"/>
            <a:ext cx="4114800" cy="155448"/>
          </a:xfrm>
          <a:prstGeom prst="rect">
            <a:avLst/>
          </a:prstGeom>
          <a:noFill/>
          <a:ln/>
        </p:spPr>
        <p:txBody>
          <a:bodyPr wrap="square" lIns="0" tIns="0" rIns="0" bIns="0" rtlCol="0" anchor="ctr"/>
          <a:lstStyle/>
          <a:p>
            <a:pPr marL="0" indent="0">
              <a:buNone/>
            </a:pPr>
            <a:r>
              <a:rPr lang="en-US" sz="910" dirty="0">
                <a:solidFill>
                  <a:srgbClr val="1E293B"/>
                </a:solidFill>
                <a:latin typeface="Aptos" pitchFamily="34" charset="0"/>
                <a:ea typeface="Aptos" pitchFamily="34" charset="-122"/>
                <a:cs typeface="Aptos" pitchFamily="34" charset="-120"/>
              </a:rPr>
              <a:t>Literature + market survey</a:t>
            </a:r>
            <a:endParaRPr lang="en-US" sz="910" dirty="0"/>
          </a:p>
        </p:txBody>
      </p:sp>
      <p:sp>
        <p:nvSpPr>
          <p:cNvPr id="40" name="Shape 38"/>
          <p:cNvSpPr/>
          <p:nvPr/>
        </p:nvSpPr>
        <p:spPr>
          <a:xfrm>
            <a:off x="6382512" y="2916936"/>
            <a:ext cx="502920" cy="301752"/>
          </a:xfrm>
          <a:prstGeom prst="roundRect">
            <a:avLst>
              <a:gd name="adj" fmla="val 48485"/>
            </a:avLst>
          </a:prstGeom>
          <a:solidFill>
            <a:srgbClr val="F1F5F9"/>
          </a:solidFill>
          <a:ln w="12700">
            <a:solidFill>
              <a:srgbClr val="F1F5F9"/>
            </a:solidFill>
            <a:prstDash val="solid"/>
          </a:ln>
        </p:spPr>
      </p:sp>
      <p:sp>
        <p:nvSpPr>
          <p:cNvPr id="41" name="Text 39"/>
          <p:cNvSpPr/>
          <p:nvPr/>
        </p:nvSpPr>
        <p:spPr>
          <a:xfrm>
            <a:off x="6455664" y="2985516"/>
            <a:ext cx="356616" cy="137160"/>
          </a:xfrm>
          <a:prstGeom prst="rect">
            <a:avLst/>
          </a:prstGeom>
          <a:noFill/>
          <a:ln/>
        </p:spPr>
        <p:txBody>
          <a:bodyPr wrap="square" lIns="0" tIns="0" rIns="0" bIns="0" rtlCol="0" anchor="ctr"/>
          <a:lstStyle/>
          <a:p>
            <a:pPr marL="0" indent="0" algn="ctr">
              <a:buNone/>
            </a:pPr>
            <a:r>
              <a:rPr lang="en-US" sz="850" b="1" dirty="0">
                <a:solidFill>
                  <a:srgbClr val="64748B"/>
                </a:solidFill>
              </a:rPr>
              <a:t>W3</a:t>
            </a:r>
            <a:endParaRPr lang="en-US" sz="850" dirty="0"/>
          </a:p>
        </p:txBody>
      </p:sp>
      <p:sp>
        <p:nvSpPr>
          <p:cNvPr id="42" name="Text 40"/>
          <p:cNvSpPr/>
          <p:nvPr/>
        </p:nvSpPr>
        <p:spPr>
          <a:xfrm>
            <a:off x="7059168" y="2980944"/>
            <a:ext cx="4114800" cy="155448"/>
          </a:xfrm>
          <a:prstGeom prst="rect">
            <a:avLst/>
          </a:prstGeom>
          <a:noFill/>
          <a:ln/>
        </p:spPr>
        <p:txBody>
          <a:bodyPr wrap="square" lIns="0" tIns="0" rIns="0" bIns="0" rtlCol="0" anchor="ctr"/>
          <a:lstStyle/>
          <a:p>
            <a:pPr marL="0" indent="0">
              <a:buNone/>
            </a:pPr>
            <a:r>
              <a:rPr lang="en-US" sz="910" dirty="0">
                <a:solidFill>
                  <a:srgbClr val="1E293B"/>
                </a:solidFill>
                <a:latin typeface="Aptos" pitchFamily="34" charset="0"/>
                <a:ea typeface="Aptos" pitchFamily="34" charset="-122"/>
                <a:cs typeface="Aptos" pitchFamily="34" charset="-120"/>
              </a:rPr>
              <a:t>Requirements + SRS</a:t>
            </a:r>
            <a:endParaRPr lang="en-US" sz="910" dirty="0"/>
          </a:p>
        </p:txBody>
      </p:sp>
      <p:sp>
        <p:nvSpPr>
          <p:cNvPr id="43" name="Shape 41"/>
          <p:cNvSpPr/>
          <p:nvPr/>
        </p:nvSpPr>
        <p:spPr>
          <a:xfrm>
            <a:off x="6382512" y="3337560"/>
            <a:ext cx="502920" cy="301752"/>
          </a:xfrm>
          <a:prstGeom prst="roundRect">
            <a:avLst>
              <a:gd name="adj" fmla="val 48485"/>
            </a:avLst>
          </a:prstGeom>
          <a:solidFill>
            <a:srgbClr val="F1F5F9"/>
          </a:solidFill>
          <a:ln w="12700">
            <a:solidFill>
              <a:srgbClr val="F1F5F9"/>
            </a:solidFill>
            <a:prstDash val="solid"/>
          </a:ln>
        </p:spPr>
      </p:sp>
      <p:sp>
        <p:nvSpPr>
          <p:cNvPr id="44" name="Text 42"/>
          <p:cNvSpPr/>
          <p:nvPr/>
        </p:nvSpPr>
        <p:spPr>
          <a:xfrm>
            <a:off x="6455664" y="3406140"/>
            <a:ext cx="356616" cy="137160"/>
          </a:xfrm>
          <a:prstGeom prst="rect">
            <a:avLst/>
          </a:prstGeom>
          <a:noFill/>
          <a:ln/>
        </p:spPr>
        <p:txBody>
          <a:bodyPr wrap="square" lIns="0" tIns="0" rIns="0" bIns="0" rtlCol="0" anchor="ctr"/>
          <a:lstStyle/>
          <a:p>
            <a:pPr marL="0" indent="0" algn="ctr">
              <a:buNone/>
            </a:pPr>
            <a:r>
              <a:rPr lang="en-US" sz="850" b="1" dirty="0">
                <a:solidFill>
                  <a:srgbClr val="64748B"/>
                </a:solidFill>
              </a:rPr>
              <a:t>W4</a:t>
            </a:r>
            <a:endParaRPr lang="en-US" sz="850" dirty="0"/>
          </a:p>
        </p:txBody>
      </p:sp>
      <p:sp>
        <p:nvSpPr>
          <p:cNvPr id="45" name="Text 43"/>
          <p:cNvSpPr/>
          <p:nvPr/>
        </p:nvSpPr>
        <p:spPr>
          <a:xfrm>
            <a:off x="7059168" y="3401568"/>
            <a:ext cx="4114800" cy="155448"/>
          </a:xfrm>
          <a:prstGeom prst="rect">
            <a:avLst/>
          </a:prstGeom>
          <a:noFill/>
          <a:ln/>
        </p:spPr>
        <p:txBody>
          <a:bodyPr wrap="square" lIns="0" tIns="0" rIns="0" bIns="0" rtlCol="0" anchor="ctr"/>
          <a:lstStyle/>
          <a:p>
            <a:pPr marL="0" indent="0">
              <a:buNone/>
            </a:pPr>
            <a:r>
              <a:rPr lang="en-US" sz="910" dirty="0">
                <a:solidFill>
                  <a:srgbClr val="1E293B"/>
                </a:solidFill>
                <a:latin typeface="Aptos" pitchFamily="34" charset="0"/>
                <a:ea typeface="Aptos" pitchFamily="34" charset="-122"/>
                <a:cs typeface="Aptos" pitchFamily="34" charset="-120"/>
              </a:rPr>
              <a:t>Architecture + DB/UML</a:t>
            </a:r>
            <a:endParaRPr lang="en-US" sz="910" dirty="0"/>
          </a:p>
        </p:txBody>
      </p:sp>
      <p:sp>
        <p:nvSpPr>
          <p:cNvPr id="46" name="Shape 44"/>
          <p:cNvSpPr/>
          <p:nvPr/>
        </p:nvSpPr>
        <p:spPr>
          <a:xfrm>
            <a:off x="6382512" y="3758184"/>
            <a:ext cx="502920" cy="301752"/>
          </a:xfrm>
          <a:prstGeom prst="roundRect">
            <a:avLst>
              <a:gd name="adj" fmla="val 48485"/>
            </a:avLst>
          </a:prstGeom>
          <a:solidFill>
            <a:srgbClr val="F1F5F9"/>
          </a:solidFill>
          <a:ln w="12700">
            <a:solidFill>
              <a:srgbClr val="F1F5F9"/>
            </a:solidFill>
            <a:prstDash val="solid"/>
          </a:ln>
        </p:spPr>
      </p:sp>
      <p:sp>
        <p:nvSpPr>
          <p:cNvPr id="47" name="Text 45"/>
          <p:cNvSpPr/>
          <p:nvPr/>
        </p:nvSpPr>
        <p:spPr>
          <a:xfrm>
            <a:off x="6455664" y="3826764"/>
            <a:ext cx="356616" cy="137160"/>
          </a:xfrm>
          <a:prstGeom prst="rect">
            <a:avLst/>
          </a:prstGeom>
          <a:noFill/>
          <a:ln/>
        </p:spPr>
        <p:txBody>
          <a:bodyPr wrap="square" lIns="0" tIns="0" rIns="0" bIns="0" rtlCol="0" anchor="ctr"/>
          <a:lstStyle/>
          <a:p>
            <a:pPr marL="0" indent="0" algn="ctr">
              <a:buNone/>
            </a:pPr>
            <a:r>
              <a:rPr lang="en-US" sz="850" b="1" dirty="0">
                <a:solidFill>
                  <a:srgbClr val="64748B"/>
                </a:solidFill>
              </a:rPr>
              <a:t>W5</a:t>
            </a:r>
            <a:endParaRPr lang="en-US" sz="850" dirty="0"/>
          </a:p>
        </p:txBody>
      </p:sp>
      <p:sp>
        <p:nvSpPr>
          <p:cNvPr id="48" name="Text 46"/>
          <p:cNvSpPr/>
          <p:nvPr/>
        </p:nvSpPr>
        <p:spPr>
          <a:xfrm>
            <a:off x="7059168" y="3822192"/>
            <a:ext cx="4114800" cy="155448"/>
          </a:xfrm>
          <a:prstGeom prst="rect">
            <a:avLst/>
          </a:prstGeom>
          <a:noFill/>
          <a:ln/>
        </p:spPr>
        <p:txBody>
          <a:bodyPr wrap="square" lIns="0" tIns="0" rIns="0" bIns="0" rtlCol="0" anchor="ctr"/>
          <a:lstStyle/>
          <a:p>
            <a:pPr marL="0" indent="0">
              <a:buNone/>
            </a:pPr>
            <a:r>
              <a:rPr lang="en-US" sz="910" dirty="0">
                <a:solidFill>
                  <a:srgbClr val="1E293B"/>
                </a:solidFill>
                <a:latin typeface="Aptos" pitchFamily="34" charset="0"/>
                <a:ea typeface="Aptos" pitchFamily="34" charset="-122"/>
                <a:cs typeface="Aptos" pitchFamily="34" charset="-120"/>
              </a:rPr>
              <a:t>Tech setup + repo</a:t>
            </a:r>
            <a:endParaRPr lang="en-US" sz="910" dirty="0"/>
          </a:p>
        </p:txBody>
      </p:sp>
      <p:sp>
        <p:nvSpPr>
          <p:cNvPr id="49" name="Shape 47"/>
          <p:cNvSpPr/>
          <p:nvPr/>
        </p:nvSpPr>
        <p:spPr>
          <a:xfrm>
            <a:off x="6382512" y="4178808"/>
            <a:ext cx="502920" cy="301752"/>
          </a:xfrm>
          <a:prstGeom prst="roundRect">
            <a:avLst>
              <a:gd name="adj" fmla="val 48485"/>
            </a:avLst>
          </a:prstGeom>
          <a:solidFill>
            <a:srgbClr val="FFF5E6"/>
          </a:solidFill>
          <a:ln w="12700">
            <a:solidFill>
              <a:srgbClr val="FFF5E6"/>
            </a:solidFill>
            <a:prstDash val="solid"/>
          </a:ln>
        </p:spPr>
      </p:sp>
      <p:sp>
        <p:nvSpPr>
          <p:cNvPr id="50" name="Text 48"/>
          <p:cNvSpPr/>
          <p:nvPr/>
        </p:nvSpPr>
        <p:spPr>
          <a:xfrm>
            <a:off x="6455664" y="4247388"/>
            <a:ext cx="356616" cy="137160"/>
          </a:xfrm>
          <a:prstGeom prst="rect">
            <a:avLst/>
          </a:prstGeom>
          <a:noFill/>
          <a:ln/>
        </p:spPr>
        <p:txBody>
          <a:bodyPr wrap="square" lIns="0" tIns="0" rIns="0" bIns="0" rtlCol="0" anchor="ctr"/>
          <a:lstStyle/>
          <a:p>
            <a:pPr marL="0" indent="0" algn="ctr">
              <a:buNone/>
            </a:pPr>
            <a:r>
              <a:rPr lang="en-US" sz="850" b="1" dirty="0">
                <a:solidFill>
                  <a:srgbClr val="F59E0B"/>
                </a:solidFill>
              </a:rPr>
              <a:t>W6</a:t>
            </a:r>
            <a:endParaRPr lang="en-US" sz="850" dirty="0"/>
          </a:p>
        </p:txBody>
      </p:sp>
      <p:sp>
        <p:nvSpPr>
          <p:cNvPr id="51" name="Text 49"/>
          <p:cNvSpPr/>
          <p:nvPr/>
        </p:nvSpPr>
        <p:spPr>
          <a:xfrm>
            <a:off x="7059168" y="4242816"/>
            <a:ext cx="4114800" cy="155448"/>
          </a:xfrm>
          <a:prstGeom prst="rect">
            <a:avLst/>
          </a:prstGeom>
          <a:noFill/>
          <a:ln/>
        </p:spPr>
        <p:txBody>
          <a:bodyPr wrap="square" lIns="0" tIns="0" rIns="0" bIns="0" rtlCol="0" anchor="ctr"/>
          <a:lstStyle/>
          <a:p>
            <a:pPr marL="0" indent="0">
              <a:buNone/>
            </a:pPr>
            <a:r>
              <a:rPr lang="en-US" sz="910" dirty="0">
                <a:solidFill>
                  <a:srgbClr val="1E293B"/>
                </a:solidFill>
                <a:latin typeface="Aptos" pitchFamily="34" charset="0"/>
                <a:ea typeface="Aptos" pitchFamily="34" charset="-122"/>
                <a:cs typeface="Aptos" pitchFamily="34" charset="-120"/>
              </a:rPr>
              <a:t>Core RAG modules</a:t>
            </a:r>
            <a:endParaRPr lang="en-US" sz="910" dirty="0"/>
          </a:p>
        </p:txBody>
      </p:sp>
      <p:sp>
        <p:nvSpPr>
          <p:cNvPr id="52" name="Shape 50"/>
          <p:cNvSpPr/>
          <p:nvPr/>
        </p:nvSpPr>
        <p:spPr>
          <a:xfrm>
            <a:off x="6382512" y="4599432"/>
            <a:ext cx="502920" cy="301752"/>
          </a:xfrm>
          <a:prstGeom prst="roundRect">
            <a:avLst>
              <a:gd name="adj" fmla="val 48485"/>
            </a:avLst>
          </a:prstGeom>
          <a:solidFill>
            <a:srgbClr val="FFF5E6"/>
          </a:solidFill>
          <a:ln w="12700">
            <a:solidFill>
              <a:srgbClr val="FFF5E6"/>
            </a:solidFill>
            <a:prstDash val="solid"/>
          </a:ln>
        </p:spPr>
      </p:sp>
      <p:sp>
        <p:nvSpPr>
          <p:cNvPr id="53" name="Text 51"/>
          <p:cNvSpPr/>
          <p:nvPr/>
        </p:nvSpPr>
        <p:spPr>
          <a:xfrm>
            <a:off x="6455664" y="4668012"/>
            <a:ext cx="356616" cy="137160"/>
          </a:xfrm>
          <a:prstGeom prst="rect">
            <a:avLst/>
          </a:prstGeom>
          <a:noFill/>
          <a:ln/>
        </p:spPr>
        <p:txBody>
          <a:bodyPr wrap="square" lIns="0" tIns="0" rIns="0" bIns="0" rtlCol="0" anchor="ctr"/>
          <a:lstStyle/>
          <a:p>
            <a:pPr marL="0" indent="0" algn="ctr">
              <a:buNone/>
            </a:pPr>
            <a:r>
              <a:rPr lang="en-US" sz="850" b="1" dirty="0">
                <a:solidFill>
                  <a:srgbClr val="F59E0B"/>
                </a:solidFill>
              </a:rPr>
              <a:t>W7</a:t>
            </a:r>
            <a:endParaRPr lang="en-US" sz="850" dirty="0"/>
          </a:p>
        </p:txBody>
      </p:sp>
      <p:sp>
        <p:nvSpPr>
          <p:cNvPr id="54" name="Text 52"/>
          <p:cNvSpPr/>
          <p:nvPr/>
        </p:nvSpPr>
        <p:spPr>
          <a:xfrm>
            <a:off x="7059168" y="4663440"/>
            <a:ext cx="4114800" cy="155448"/>
          </a:xfrm>
          <a:prstGeom prst="rect">
            <a:avLst/>
          </a:prstGeom>
          <a:noFill/>
          <a:ln/>
        </p:spPr>
        <p:txBody>
          <a:bodyPr wrap="square" lIns="0" tIns="0" rIns="0" bIns="0" rtlCol="0" anchor="ctr"/>
          <a:lstStyle/>
          <a:p>
            <a:pPr marL="0" indent="0">
              <a:buNone/>
            </a:pPr>
            <a:r>
              <a:rPr lang="en-US" sz="910" dirty="0">
                <a:solidFill>
                  <a:srgbClr val="1E293B"/>
                </a:solidFill>
                <a:latin typeface="Aptos" pitchFamily="34" charset="0"/>
                <a:ea typeface="Aptos" pitchFamily="34" charset="-122"/>
                <a:cs typeface="Aptos" pitchFamily="34" charset="-120"/>
              </a:rPr>
              <a:t>Integration + testing</a:t>
            </a:r>
            <a:endParaRPr lang="en-US" sz="910" dirty="0"/>
          </a:p>
        </p:txBody>
      </p:sp>
      <p:sp>
        <p:nvSpPr>
          <p:cNvPr id="55" name="Shape 53"/>
          <p:cNvSpPr/>
          <p:nvPr/>
        </p:nvSpPr>
        <p:spPr>
          <a:xfrm>
            <a:off x="6382512" y="5020056"/>
            <a:ext cx="502920" cy="301752"/>
          </a:xfrm>
          <a:prstGeom prst="roundRect">
            <a:avLst>
              <a:gd name="adj" fmla="val 48485"/>
            </a:avLst>
          </a:prstGeom>
          <a:solidFill>
            <a:srgbClr val="FFF5E6"/>
          </a:solidFill>
          <a:ln w="12700">
            <a:solidFill>
              <a:srgbClr val="FFF5E6"/>
            </a:solidFill>
            <a:prstDash val="solid"/>
          </a:ln>
        </p:spPr>
      </p:sp>
      <p:sp>
        <p:nvSpPr>
          <p:cNvPr id="56" name="Text 54"/>
          <p:cNvSpPr/>
          <p:nvPr/>
        </p:nvSpPr>
        <p:spPr>
          <a:xfrm>
            <a:off x="6455664" y="5088636"/>
            <a:ext cx="356616" cy="137160"/>
          </a:xfrm>
          <a:prstGeom prst="rect">
            <a:avLst/>
          </a:prstGeom>
          <a:noFill/>
          <a:ln/>
        </p:spPr>
        <p:txBody>
          <a:bodyPr wrap="square" lIns="0" tIns="0" rIns="0" bIns="0" rtlCol="0" anchor="ctr"/>
          <a:lstStyle/>
          <a:p>
            <a:pPr marL="0" indent="0" algn="ctr">
              <a:buNone/>
            </a:pPr>
            <a:r>
              <a:rPr lang="en-US" sz="850" b="1" dirty="0">
                <a:solidFill>
                  <a:srgbClr val="F59E0B"/>
                </a:solidFill>
              </a:rPr>
              <a:t>W8</a:t>
            </a:r>
            <a:endParaRPr lang="en-US" sz="850" dirty="0"/>
          </a:p>
        </p:txBody>
      </p:sp>
      <p:sp>
        <p:nvSpPr>
          <p:cNvPr id="57" name="Text 55"/>
          <p:cNvSpPr/>
          <p:nvPr/>
        </p:nvSpPr>
        <p:spPr>
          <a:xfrm>
            <a:off x="7059168" y="5084064"/>
            <a:ext cx="4114800" cy="155448"/>
          </a:xfrm>
          <a:prstGeom prst="rect">
            <a:avLst/>
          </a:prstGeom>
          <a:noFill/>
          <a:ln/>
        </p:spPr>
        <p:txBody>
          <a:bodyPr wrap="square" lIns="0" tIns="0" rIns="0" bIns="0" rtlCol="0" anchor="ctr"/>
          <a:lstStyle/>
          <a:p>
            <a:pPr marL="0" indent="0">
              <a:buNone/>
            </a:pPr>
            <a:r>
              <a:rPr lang="en-US" sz="910" dirty="0">
                <a:solidFill>
                  <a:srgbClr val="1E293B"/>
                </a:solidFill>
                <a:latin typeface="Aptos" pitchFamily="34" charset="0"/>
                <a:ea typeface="Aptos" pitchFamily="34" charset="-122"/>
                <a:cs typeface="Aptos" pitchFamily="34" charset="-120"/>
              </a:rPr>
              <a:t>Report + demo + viva</a:t>
            </a:r>
            <a:endParaRPr lang="en-US" sz="910" dirty="0"/>
          </a:p>
        </p:txBody>
      </p:sp>
      <p:sp>
        <p:nvSpPr>
          <p:cNvPr id="58"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640080" y="566928"/>
            <a:ext cx="1828800" cy="301752"/>
          </a:xfrm>
          <a:prstGeom prst="roundRect">
            <a:avLst>
              <a:gd name="adj" fmla="val 48485"/>
            </a:avLst>
          </a:prstGeom>
          <a:solidFill>
            <a:srgbClr val="1E293B"/>
          </a:solidFill>
          <a:ln w="12700">
            <a:solidFill>
              <a:srgbClr val="1E293B"/>
            </a:solidFill>
            <a:prstDash val="solid"/>
          </a:ln>
        </p:spPr>
      </p:sp>
      <p:sp>
        <p:nvSpPr>
          <p:cNvPr id="3" name="Text 1"/>
          <p:cNvSpPr/>
          <p:nvPr/>
        </p:nvSpPr>
        <p:spPr>
          <a:xfrm>
            <a:off x="713232" y="635508"/>
            <a:ext cx="1682496" cy="137160"/>
          </a:xfrm>
          <a:prstGeom prst="rect">
            <a:avLst/>
          </a:prstGeom>
          <a:noFill/>
          <a:ln/>
        </p:spPr>
        <p:txBody>
          <a:bodyPr wrap="square" lIns="0" tIns="0" rIns="0" bIns="0" rtlCol="0" anchor="ctr"/>
          <a:lstStyle/>
          <a:p>
            <a:pPr marL="0" indent="0" algn="ctr">
              <a:buNone/>
            </a:pPr>
            <a:r>
              <a:rPr lang="en-US" sz="850" b="1" dirty="0">
                <a:solidFill>
                  <a:srgbClr val="93C5FD"/>
                </a:solidFill>
              </a:rPr>
              <a:t>THE PROJECT IN ONE MINUTE</a:t>
            </a:r>
            <a:endParaRPr lang="en-US" sz="850" dirty="0"/>
          </a:p>
        </p:txBody>
      </p:sp>
      <p:sp>
        <p:nvSpPr>
          <p:cNvPr id="4" name="Text 2"/>
          <p:cNvSpPr/>
          <p:nvPr/>
        </p:nvSpPr>
        <p:spPr>
          <a:xfrm>
            <a:off x="640080" y="1207008"/>
            <a:ext cx="10652760" cy="1170432"/>
          </a:xfrm>
          <a:prstGeom prst="rect">
            <a:avLst/>
          </a:prstGeom>
          <a:noFill/>
          <a:ln/>
        </p:spPr>
        <p:txBody>
          <a:bodyPr wrap="square" lIns="0" tIns="0" rIns="0" bIns="0" rtlCol="0" anchor="ctr"/>
          <a:lstStyle/>
          <a:p>
            <a:pPr marL="0" indent="0" algn="l">
              <a:buNone/>
            </a:pPr>
            <a:r>
              <a:rPr lang="en-US" sz="2700" b="1" dirty="0">
                <a:solidFill>
                  <a:srgbClr val="FFFFFF"/>
                </a:solidFill>
                <a:latin typeface="Aptos Display" pitchFamily="34" charset="0"/>
                <a:ea typeface="Aptos Display" pitchFamily="34" charset="-122"/>
                <a:cs typeface="Aptos Display" pitchFamily="34" charset="-120"/>
              </a:rPr>
              <a:t>“Chat with your company’s knowledge—</a:t>
            </a:r>
            <a:endParaRPr lang="en-US" sz="2700" dirty="0"/>
          </a:p>
          <a:p>
            <a:pPr marL="0" indent="0" algn="l">
              <a:buNone/>
            </a:pPr>
            <a:r>
              <a:rPr lang="en-US" sz="2700" b="1" dirty="0">
                <a:solidFill>
                  <a:srgbClr val="FFFFFF"/>
                </a:solidFill>
                <a:latin typeface="Aptos Display" pitchFamily="34" charset="0"/>
                <a:ea typeface="Aptos Display" pitchFamily="34" charset="-122"/>
                <a:cs typeface="Aptos Display" pitchFamily="34" charset="-120"/>
              </a:rPr>
              <a:t>with evidence and permissions.”</a:t>
            </a:r>
            <a:endParaRPr lang="en-US" sz="2700" dirty="0"/>
          </a:p>
        </p:txBody>
      </p:sp>
      <p:sp>
        <p:nvSpPr>
          <p:cNvPr id="5" name="Text 3"/>
          <p:cNvSpPr/>
          <p:nvPr/>
        </p:nvSpPr>
        <p:spPr>
          <a:xfrm>
            <a:off x="658368" y="2724912"/>
            <a:ext cx="2011680" cy="201168"/>
          </a:xfrm>
          <a:prstGeom prst="rect">
            <a:avLst/>
          </a:prstGeom>
          <a:noFill/>
          <a:ln/>
        </p:spPr>
        <p:txBody>
          <a:bodyPr wrap="square" lIns="0" tIns="0" rIns="0" bIns="0" rtlCol="0" anchor="ctr"/>
          <a:lstStyle/>
          <a:p>
            <a:pPr marL="0" indent="0">
              <a:buNone/>
            </a:pPr>
            <a:r>
              <a:rPr lang="en-US" sz="1100" b="1" dirty="0">
                <a:solidFill>
                  <a:srgbClr val="93C5FD"/>
                </a:solidFill>
                <a:latin typeface="Aptos" pitchFamily="34" charset="0"/>
                <a:ea typeface="Aptos" pitchFamily="34" charset="-122"/>
                <a:cs typeface="Aptos" pitchFamily="34" charset="-120"/>
              </a:rPr>
              <a:t>What we will build</a:t>
            </a:r>
            <a:endParaRPr lang="en-US" sz="1100" dirty="0"/>
          </a:p>
        </p:txBody>
      </p:sp>
      <p:sp>
        <p:nvSpPr>
          <p:cNvPr id="6" name="Shape 4"/>
          <p:cNvSpPr/>
          <p:nvPr/>
        </p:nvSpPr>
        <p:spPr>
          <a:xfrm>
            <a:off x="676656" y="3172968"/>
            <a:ext cx="310896" cy="310896"/>
          </a:xfrm>
          <a:prstGeom prst="ellipse">
            <a:avLst/>
          </a:prstGeom>
          <a:solidFill>
            <a:srgbClr val="2563EB"/>
          </a:solidFill>
          <a:ln w="12700">
            <a:solidFill>
              <a:srgbClr val="2563EB"/>
            </a:solidFill>
            <a:prstDash val="solid"/>
          </a:ln>
        </p:spPr>
      </p:sp>
      <p:sp>
        <p:nvSpPr>
          <p:cNvPr id="7" name="Text 5"/>
          <p:cNvSpPr/>
          <p:nvPr/>
        </p:nvSpPr>
        <p:spPr>
          <a:xfrm>
            <a:off x="685800" y="3200400"/>
            <a:ext cx="292608" cy="256032"/>
          </a:xfrm>
          <a:prstGeom prst="rect">
            <a:avLst/>
          </a:prstGeom>
          <a:noFill/>
          <a:ln/>
        </p:spPr>
        <p:txBody>
          <a:bodyPr wrap="square" lIns="0" tIns="0" rIns="0" bIns="0" rtlCol="0" anchor="ctr"/>
          <a:lstStyle/>
          <a:p>
            <a:pPr marL="0" indent="0" algn="ctr">
              <a:buNone/>
            </a:pPr>
            <a:r>
              <a:rPr lang="en-US" sz="650" b="1" dirty="0">
                <a:solidFill>
                  <a:srgbClr val="FFFFFF"/>
                </a:solidFill>
              </a:rPr>
              <a:t>USE</a:t>
            </a:r>
            <a:endParaRPr lang="en-US" sz="650" dirty="0"/>
          </a:p>
        </p:txBody>
      </p:sp>
      <p:sp>
        <p:nvSpPr>
          <p:cNvPr id="8" name="Text 6"/>
          <p:cNvSpPr/>
          <p:nvPr/>
        </p:nvSpPr>
        <p:spPr>
          <a:xfrm>
            <a:off x="1170432" y="3191256"/>
            <a:ext cx="5623560" cy="182880"/>
          </a:xfrm>
          <a:prstGeom prst="rect">
            <a:avLst/>
          </a:prstGeom>
          <a:noFill/>
          <a:ln/>
        </p:spPr>
        <p:txBody>
          <a:bodyPr wrap="square" lIns="0" tIns="0" rIns="0" bIns="0" rtlCol="0" anchor="ctr"/>
          <a:lstStyle/>
          <a:p>
            <a:pPr marL="0" indent="0">
              <a:buNone/>
            </a:pPr>
            <a:r>
              <a:rPr lang="en-US" sz="1030" dirty="0">
                <a:solidFill>
                  <a:srgbClr val="E2E8F0"/>
                </a:solidFill>
                <a:latin typeface="Aptos" pitchFamily="34" charset="0"/>
                <a:ea typeface="Aptos" pitchFamily="34" charset="-122"/>
                <a:cs typeface="Aptos" pitchFamily="34" charset="-120"/>
              </a:rPr>
              <a:t>Employee logs in and asks a question</a:t>
            </a:r>
            <a:endParaRPr lang="en-US" sz="1030" dirty="0"/>
          </a:p>
        </p:txBody>
      </p:sp>
      <p:sp>
        <p:nvSpPr>
          <p:cNvPr id="9" name="Shape 7"/>
          <p:cNvSpPr/>
          <p:nvPr/>
        </p:nvSpPr>
        <p:spPr>
          <a:xfrm>
            <a:off x="676656" y="3721608"/>
            <a:ext cx="310896" cy="310896"/>
          </a:xfrm>
          <a:prstGeom prst="ellipse">
            <a:avLst/>
          </a:prstGeom>
          <a:solidFill>
            <a:srgbClr val="0F9D8C"/>
          </a:solidFill>
          <a:ln w="12700">
            <a:solidFill>
              <a:srgbClr val="0F9D8C"/>
            </a:solidFill>
            <a:prstDash val="solid"/>
          </a:ln>
        </p:spPr>
      </p:sp>
      <p:sp>
        <p:nvSpPr>
          <p:cNvPr id="10" name="Text 8"/>
          <p:cNvSpPr/>
          <p:nvPr/>
        </p:nvSpPr>
        <p:spPr>
          <a:xfrm>
            <a:off x="685800" y="3749040"/>
            <a:ext cx="292608" cy="256032"/>
          </a:xfrm>
          <a:prstGeom prst="rect">
            <a:avLst/>
          </a:prstGeom>
          <a:noFill/>
          <a:ln/>
        </p:spPr>
        <p:txBody>
          <a:bodyPr wrap="square" lIns="0" tIns="0" rIns="0" bIns="0" rtlCol="0" anchor="ctr"/>
          <a:lstStyle/>
          <a:p>
            <a:pPr marL="0" indent="0" algn="ctr">
              <a:buNone/>
            </a:pPr>
            <a:r>
              <a:rPr lang="en-US" sz="650" b="1" dirty="0">
                <a:solidFill>
                  <a:srgbClr val="FFFFFF"/>
                </a:solidFill>
              </a:rPr>
              <a:t>RAG</a:t>
            </a:r>
            <a:endParaRPr lang="en-US" sz="650" dirty="0"/>
          </a:p>
        </p:txBody>
      </p:sp>
      <p:sp>
        <p:nvSpPr>
          <p:cNvPr id="11" name="Text 9"/>
          <p:cNvSpPr/>
          <p:nvPr/>
        </p:nvSpPr>
        <p:spPr>
          <a:xfrm>
            <a:off x="1170432" y="3739896"/>
            <a:ext cx="5623560" cy="182880"/>
          </a:xfrm>
          <a:prstGeom prst="rect">
            <a:avLst/>
          </a:prstGeom>
          <a:noFill/>
          <a:ln/>
        </p:spPr>
        <p:txBody>
          <a:bodyPr wrap="square" lIns="0" tIns="0" rIns="0" bIns="0" rtlCol="0" anchor="ctr"/>
          <a:lstStyle/>
          <a:p>
            <a:pPr marL="0" indent="0">
              <a:buNone/>
            </a:pPr>
            <a:r>
              <a:rPr lang="en-US" sz="1030" dirty="0">
                <a:solidFill>
                  <a:srgbClr val="E2E8F0"/>
                </a:solidFill>
                <a:latin typeface="Aptos" pitchFamily="34" charset="0"/>
                <a:ea typeface="Aptos" pitchFamily="34" charset="-122"/>
                <a:cs typeface="Aptos" pitchFamily="34" charset="-120"/>
              </a:rPr>
              <a:t>System retrieves relevant authorized content</a:t>
            </a:r>
            <a:endParaRPr lang="en-US" sz="1030" dirty="0"/>
          </a:p>
        </p:txBody>
      </p:sp>
      <p:sp>
        <p:nvSpPr>
          <p:cNvPr id="12" name="Shape 10"/>
          <p:cNvSpPr/>
          <p:nvPr/>
        </p:nvSpPr>
        <p:spPr>
          <a:xfrm>
            <a:off x="676656" y="4270248"/>
            <a:ext cx="310896" cy="310896"/>
          </a:xfrm>
          <a:prstGeom prst="ellipse">
            <a:avLst/>
          </a:prstGeom>
          <a:solidFill>
            <a:srgbClr val="7C3AED"/>
          </a:solidFill>
          <a:ln w="12700">
            <a:solidFill>
              <a:srgbClr val="7C3AED"/>
            </a:solidFill>
            <a:prstDash val="solid"/>
          </a:ln>
        </p:spPr>
      </p:sp>
      <p:sp>
        <p:nvSpPr>
          <p:cNvPr id="13" name="Text 11"/>
          <p:cNvSpPr/>
          <p:nvPr/>
        </p:nvSpPr>
        <p:spPr>
          <a:xfrm>
            <a:off x="685800" y="4297680"/>
            <a:ext cx="292608" cy="256032"/>
          </a:xfrm>
          <a:prstGeom prst="rect">
            <a:avLst/>
          </a:prstGeom>
          <a:noFill/>
          <a:ln/>
        </p:spPr>
        <p:txBody>
          <a:bodyPr wrap="square" lIns="0" tIns="0" rIns="0" bIns="0" rtlCol="0" anchor="ctr"/>
          <a:lstStyle/>
          <a:p>
            <a:pPr marL="0" indent="0" algn="ctr">
              <a:buNone/>
            </a:pPr>
            <a:r>
              <a:rPr lang="en-US" sz="650" b="1" dirty="0">
                <a:solidFill>
                  <a:srgbClr val="FFFFFF"/>
                </a:solidFill>
              </a:rPr>
              <a:t>AI</a:t>
            </a:r>
            <a:endParaRPr lang="en-US" sz="650" dirty="0"/>
          </a:p>
        </p:txBody>
      </p:sp>
      <p:sp>
        <p:nvSpPr>
          <p:cNvPr id="14" name="Text 12"/>
          <p:cNvSpPr/>
          <p:nvPr/>
        </p:nvSpPr>
        <p:spPr>
          <a:xfrm>
            <a:off x="1170432" y="4288536"/>
            <a:ext cx="5623560" cy="182880"/>
          </a:xfrm>
          <a:prstGeom prst="rect">
            <a:avLst/>
          </a:prstGeom>
          <a:noFill/>
          <a:ln/>
        </p:spPr>
        <p:txBody>
          <a:bodyPr wrap="square" lIns="0" tIns="0" rIns="0" bIns="0" rtlCol="0" anchor="ctr"/>
          <a:lstStyle/>
          <a:p>
            <a:pPr marL="0" indent="0">
              <a:buNone/>
            </a:pPr>
            <a:r>
              <a:rPr lang="en-US" sz="1030" dirty="0">
                <a:solidFill>
                  <a:srgbClr val="E2E8F0"/>
                </a:solidFill>
                <a:latin typeface="Aptos" pitchFamily="34" charset="0"/>
                <a:ea typeface="Aptos" pitchFamily="34" charset="-122"/>
                <a:cs typeface="Aptos" pitchFamily="34" charset="-120"/>
              </a:rPr>
              <a:t>LLM generates a context-aware response</a:t>
            </a:r>
            <a:endParaRPr lang="en-US" sz="1030" dirty="0"/>
          </a:p>
        </p:txBody>
      </p:sp>
      <p:sp>
        <p:nvSpPr>
          <p:cNvPr id="15" name="Shape 13"/>
          <p:cNvSpPr/>
          <p:nvPr/>
        </p:nvSpPr>
        <p:spPr>
          <a:xfrm>
            <a:off x="676656" y="4818888"/>
            <a:ext cx="310896" cy="310896"/>
          </a:xfrm>
          <a:prstGeom prst="ellipse">
            <a:avLst/>
          </a:prstGeom>
          <a:solidFill>
            <a:srgbClr val="F59E0B"/>
          </a:solidFill>
          <a:ln w="12700">
            <a:solidFill>
              <a:srgbClr val="F59E0B"/>
            </a:solidFill>
            <a:prstDash val="solid"/>
          </a:ln>
        </p:spPr>
      </p:sp>
      <p:sp>
        <p:nvSpPr>
          <p:cNvPr id="16" name="Text 14"/>
          <p:cNvSpPr/>
          <p:nvPr/>
        </p:nvSpPr>
        <p:spPr>
          <a:xfrm>
            <a:off x="685800" y="4846320"/>
            <a:ext cx="292608" cy="256032"/>
          </a:xfrm>
          <a:prstGeom prst="rect">
            <a:avLst/>
          </a:prstGeom>
          <a:noFill/>
          <a:ln/>
        </p:spPr>
        <p:txBody>
          <a:bodyPr wrap="square" lIns="0" tIns="0" rIns="0" bIns="0" rtlCol="0" anchor="ctr"/>
          <a:lstStyle/>
          <a:p>
            <a:pPr marL="0" indent="0" algn="ctr">
              <a:buNone/>
            </a:pPr>
            <a:r>
              <a:rPr lang="en-US" sz="650" b="1" dirty="0">
                <a:solidFill>
                  <a:srgbClr val="FFFFFF"/>
                </a:solidFill>
              </a:rPr>
              <a:t>TRU</a:t>
            </a:r>
            <a:endParaRPr lang="en-US" sz="650" dirty="0"/>
          </a:p>
        </p:txBody>
      </p:sp>
      <p:sp>
        <p:nvSpPr>
          <p:cNvPr id="17" name="Text 15"/>
          <p:cNvSpPr/>
          <p:nvPr/>
        </p:nvSpPr>
        <p:spPr>
          <a:xfrm>
            <a:off x="1170432" y="4837176"/>
            <a:ext cx="5623560" cy="182880"/>
          </a:xfrm>
          <a:prstGeom prst="rect">
            <a:avLst/>
          </a:prstGeom>
          <a:noFill/>
          <a:ln/>
        </p:spPr>
        <p:txBody>
          <a:bodyPr wrap="square" lIns="0" tIns="0" rIns="0" bIns="0" rtlCol="0" anchor="ctr"/>
          <a:lstStyle/>
          <a:p>
            <a:pPr marL="0" indent="0">
              <a:buNone/>
            </a:pPr>
            <a:r>
              <a:rPr lang="en-US" sz="1030" dirty="0">
                <a:solidFill>
                  <a:srgbClr val="E2E8F0"/>
                </a:solidFill>
                <a:latin typeface="Aptos" pitchFamily="34" charset="0"/>
                <a:ea typeface="Aptos" pitchFamily="34" charset="-122"/>
                <a:cs typeface="Aptos" pitchFamily="34" charset="-120"/>
              </a:rPr>
              <a:t>Citations show where the answer came from</a:t>
            </a:r>
            <a:endParaRPr lang="en-US" sz="1030" dirty="0"/>
          </a:p>
        </p:txBody>
      </p:sp>
      <p:sp>
        <p:nvSpPr>
          <p:cNvPr id="18" name="Shape 16"/>
          <p:cNvSpPr/>
          <p:nvPr/>
        </p:nvSpPr>
        <p:spPr>
          <a:xfrm>
            <a:off x="7452360" y="2688336"/>
            <a:ext cx="4096512" cy="2578608"/>
          </a:xfrm>
          <a:prstGeom prst="roundRect">
            <a:avLst>
              <a:gd name="adj" fmla="val 6383"/>
            </a:avLst>
          </a:prstGeom>
          <a:solidFill>
            <a:srgbClr val="111827"/>
          </a:solidFill>
          <a:ln w="12700">
            <a:solidFill>
              <a:srgbClr val="334155"/>
            </a:solidFill>
            <a:prstDash val="solid"/>
          </a:ln>
        </p:spPr>
      </p:sp>
      <p:sp>
        <p:nvSpPr>
          <p:cNvPr id="19" name="Text 17"/>
          <p:cNvSpPr/>
          <p:nvPr/>
        </p:nvSpPr>
        <p:spPr>
          <a:xfrm>
            <a:off x="7726680" y="2962656"/>
            <a:ext cx="3246120" cy="201168"/>
          </a:xfrm>
          <a:prstGeom prst="rect">
            <a:avLst/>
          </a:prstGeom>
          <a:noFill/>
          <a:ln/>
        </p:spPr>
        <p:txBody>
          <a:bodyPr wrap="square" lIns="0" tIns="0" rIns="0" bIns="0" rtlCol="0" anchor="ctr"/>
          <a:lstStyle/>
          <a:p>
            <a:pPr marL="0" indent="0">
              <a:buNone/>
            </a:pPr>
            <a:r>
              <a:rPr lang="en-US" sz="1150" b="1" dirty="0">
                <a:solidFill>
                  <a:srgbClr val="FFFFFF"/>
                </a:solidFill>
                <a:latin typeface="Aptos" pitchFamily="34" charset="0"/>
                <a:ea typeface="Aptos" pitchFamily="34" charset="-122"/>
                <a:cs typeface="Aptos" pitchFamily="34" charset="-120"/>
              </a:rPr>
              <a:t>First demo story</a:t>
            </a:r>
            <a:endParaRPr lang="en-US" sz="1150" dirty="0"/>
          </a:p>
        </p:txBody>
      </p:sp>
      <p:sp>
        <p:nvSpPr>
          <p:cNvPr id="20" name="Text 18"/>
          <p:cNvSpPr/>
          <p:nvPr/>
        </p:nvSpPr>
        <p:spPr>
          <a:xfrm>
            <a:off x="7726680" y="3383280"/>
            <a:ext cx="3291840" cy="411480"/>
          </a:xfrm>
          <a:prstGeom prst="rect">
            <a:avLst/>
          </a:prstGeom>
          <a:noFill/>
          <a:ln/>
        </p:spPr>
        <p:txBody>
          <a:bodyPr wrap="square" lIns="0" tIns="0" rIns="0" bIns="0" rtlCol="0" anchor="ctr"/>
          <a:lstStyle/>
          <a:p>
            <a:pPr marL="0" indent="0">
              <a:buNone/>
            </a:pPr>
            <a:r>
              <a:rPr lang="en-US" sz="1500" b="1" dirty="0">
                <a:solidFill>
                  <a:srgbClr val="F8FAFC"/>
                </a:solidFill>
                <a:latin typeface="Aptos" pitchFamily="34" charset="0"/>
                <a:ea typeface="Aptos" pitchFamily="34" charset="-122"/>
                <a:cs typeface="Aptos" pitchFamily="34" charset="-120"/>
              </a:rPr>
              <a:t>“What is our work-from-home policy?”</a:t>
            </a:r>
            <a:endParaRPr lang="en-US" sz="1500" dirty="0"/>
          </a:p>
        </p:txBody>
      </p:sp>
      <p:sp>
        <p:nvSpPr>
          <p:cNvPr id="21" name="Shape 19"/>
          <p:cNvSpPr/>
          <p:nvPr/>
        </p:nvSpPr>
        <p:spPr>
          <a:xfrm>
            <a:off x="7726680" y="4069080"/>
            <a:ext cx="640080" cy="301752"/>
          </a:xfrm>
          <a:prstGeom prst="roundRect">
            <a:avLst>
              <a:gd name="adj" fmla="val 48485"/>
            </a:avLst>
          </a:prstGeom>
          <a:solidFill>
            <a:srgbClr val="16A34A"/>
          </a:solidFill>
          <a:ln w="12700">
            <a:solidFill>
              <a:srgbClr val="16A34A"/>
            </a:solidFill>
            <a:prstDash val="solid"/>
          </a:ln>
        </p:spPr>
      </p:sp>
      <p:sp>
        <p:nvSpPr>
          <p:cNvPr id="22" name="Text 20"/>
          <p:cNvSpPr/>
          <p:nvPr/>
        </p:nvSpPr>
        <p:spPr>
          <a:xfrm>
            <a:off x="7799832" y="4137660"/>
            <a:ext cx="493776" cy="137160"/>
          </a:xfrm>
          <a:prstGeom prst="rect">
            <a:avLst/>
          </a:prstGeom>
          <a:noFill/>
          <a:ln/>
        </p:spPr>
        <p:txBody>
          <a:bodyPr wrap="square" lIns="0" tIns="0" rIns="0" bIns="0" rtlCol="0" anchor="ctr"/>
          <a:lstStyle/>
          <a:p>
            <a:pPr marL="0" indent="0" algn="ctr">
              <a:buNone/>
            </a:pPr>
            <a:r>
              <a:rPr lang="en-US" sz="850" b="1" dirty="0">
                <a:solidFill>
                  <a:srgbClr val="FFFFFF"/>
                </a:solidFill>
              </a:rPr>
              <a:t>Answer</a:t>
            </a:r>
            <a:endParaRPr lang="en-US" sz="850" dirty="0"/>
          </a:p>
        </p:txBody>
      </p:sp>
      <p:sp>
        <p:nvSpPr>
          <p:cNvPr id="23" name="Text 21"/>
          <p:cNvSpPr/>
          <p:nvPr/>
        </p:nvSpPr>
        <p:spPr>
          <a:xfrm>
            <a:off x="8485632" y="4105656"/>
            <a:ext cx="2331720" cy="164592"/>
          </a:xfrm>
          <a:prstGeom prst="rect">
            <a:avLst/>
          </a:prstGeom>
          <a:noFill/>
          <a:ln/>
        </p:spPr>
        <p:txBody>
          <a:bodyPr wrap="square" lIns="0" tIns="0" rIns="0" bIns="0" rtlCol="0" anchor="ctr"/>
          <a:lstStyle/>
          <a:p>
            <a:pPr marL="0" indent="0">
              <a:buNone/>
            </a:pPr>
            <a:r>
              <a:rPr lang="en-US" sz="880" dirty="0">
                <a:solidFill>
                  <a:srgbClr val="E2E8F0"/>
                </a:solidFill>
                <a:latin typeface="Aptos" pitchFamily="34" charset="0"/>
                <a:ea typeface="Aptos" pitchFamily="34" charset="-122"/>
                <a:cs typeface="Aptos" pitchFamily="34" charset="-120"/>
              </a:rPr>
              <a:t>2 days/week • manager approval</a:t>
            </a:r>
            <a:endParaRPr lang="en-US" sz="880" dirty="0"/>
          </a:p>
        </p:txBody>
      </p:sp>
      <p:sp>
        <p:nvSpPr>
          <p:cNvPr id="24" name="Shape 22"/>
          <p:cNvSpPr/>
          <p:nvPr/>
        </p:nvSpPr>
        <p:spPr>
          <a:xfrm>
            <a:off x="7726680" y="4507992"/>
            <a:ext cx="640080" cy="301752"/>
          </a:xfrm>
          <a:prstGeom prst="roundRect">
            <a:avLst>
              <a:gd name="adj" fmla="val 48485"/>
            </a:avLst>
          </a:prstGeom>
          <a:solidFill>
            <a:srgbClr val="2563EB"/>
          </a:solidFill>
          <a:ln w="12700">
            <a:solidFill>
              <a:srgbClr val="2563EB"/>
            </a:solidFill>
            <a:prstDash val="solid"/>
          </a:ln>
        </p:spPr>
      </p:sp>
      <p:sp>
        <p:nvSpPr>
          <p:cNvPr id="25" name="Text 23"/>
          <p:cNvSpPr/>
          <p:nvPr/>
        </p:nvSpPr>
        <p:spPr>
          <a:xfrm>
            <a:off x="7799832" y="4576572"/>
            <a:ext cx="493776" cy="137160"/>
          </a:xfrm>
          <a:prstGeom prst="rect">
            <a:avLst/>
          </a:prstGeom>
          <a:noFill/>
          <a:ln/>
        </p:spPr>
        <p:txBody>
          <a:bodyPr wrap="square" lIns="0" tIns="0" rIns="0" bIns="0" rtlCol="0" anchor="ctr"/>
          <a:lstStyle/>
          <a:p>
            <a:pPr marL="0" indent="0" algn="ctr">
              <a:buNone/>
            </a:pPr>
            <a:r>
              <a:rPr lang="en-US" sz="850" b="1" dirty="0">
                <a:solidFill>
                  <a:srgbClr val="FFFFFF"/>
                </a:solidFill>
              </a:rPr>
              <a:t>Source</a:t>
            </a:r>
            <a:endParaRPr lang="en-US" sz="850" dirty="0"/>
          </a:p>
        </p:txBody>
      </p:sp>
      <p:sp>
        <p:nvSpPr>
          <p:cNvPr id="26" name="Text 24"/>
          <p:cNvSpPr/>
          <p:nvPr/>
        </p:nvSpPr>
        <p:spPr>
          <a:xfrm>
            <a:off x="8485632" y="4544568"/>
            <a:ext cx="2331720" cy="164592"/>
          </a:xfrm>
          <a:prstGeom prst="rect">
            <a:avLst/>
          </a:prstGeom>
          <a:noFill/>
          <a:ln/>
        </p:spPr>
        <p:txBody>
          <a:bodyPr wrap="square" lIns="0" tIns="0" rIns="0" bIns="0" rtlCol="0" anchor="ctr"/>
          <a:lstStyle/>
          <a:p>
            <a:pPr marL="0" indent="0">
              <a:buNone/>
            </a:pPr>
            <a:r>
              <a:rPr lang="en-US" sz="880" dirty="0">
                <a:solidFill>
                  <a:srgbClr val="CBD5E1"/>
                </a:solidFill>
                <a:latin typeface="Aptos" pitchFamily="34" charset="0"/>
                <a:ea typeface="Aptos" pitchFamily="34" charset="-122"/>
                <a:cs typeface="Aptos" pitchFamily="34" charset="-120"/>
              </a:rPr>
              <a:t>HR Policy.pdf • Page 12</a:t>
            </a:r>
            <a:endParaRPr lang="en-US" sz="880" dirty="0"/>
          </a:p>
        </p:txBody>
      </p:sp>
      <p:sp>
        <p:nvSpPr>
          <p:cNvPr id="27" name="Text 25"/>
          <p:cNvSpPr/>
          <p:nvPr/>
        </p:nvSpPr>
        <p:spPr>
          <a:xfrm>
            <a:off x="658368" y="5623560"/>
            <a:ext cx="10515600" cy="274320"/>
          </a:xfrm>
          <a:prstGeom prst="rect">
            <a:avLst/>
          </a:prstGeom>
          <a:noFill/>
          <a:ln/>
        </p:spPr>
        <p:txBody>
          <a:bodyPr wrap="square" lIns="0" tIns="0" rIns="0" bIns="0" rtlCol="0" anchor="ctr"/>
          <a:lstStyle/>
          <a:p>
            <a:pPr marL="0" indent="0">
              <a:buNone/>
            </a:pPr>
            <a:r>
              <a:rPr lang="en-US" sz="1120" b="1" dirty="0">
                <a:solidFill>
                  <a:srgbClr val="CBD5E1"/>
                </a:solidFill>
                <a:latin typeface="Aptos" pitchFamily="34" charset="0"/>
                <a:ea typeface="Aptos" pitchFamily="34" charset="-122"/>
                <a:cs typeface="Aptos" pitchFamily="34" charset="-120"/>
              </a:rPr>
              <a:t>Next step: finalize requirements → select stack → build the first RAG prototype.</a:t>
            </a:r>
            <a:endParaRPr lang="en-US" sz="1120" dirty="0"/>
          </a:p>
        </p:txBody>
      </p:sp>
      <p:sp>
        <p:nvSpPr>
          <p:cNvPr id="28" name="Slide Number Placeholder 0"/>
          <p:cNvSpPr>
            <a:spLocks noGrp="1"/>
          </p:cNvSpPr>
          <p:nvPr>
            <p:ph type="sldNum" sz="quarter" idx="4294967295"/>
          </p:nvPr>
        </p:nvSpPr>
        <p:spPr>
          <a:xfrm>
            <a:off x="11686032" y="660654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E2E8F0"/>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621792" y="658368"/>
            <a:ext cx="1371600" cy="256032"/>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9224" y="699516"/>
            <a:ext cx="1316736" cy="164592"/>
          </a:xfrm>
          <a:prstGeom prst="rect">
            <a:avLst/>
          </a:prstGeom>
          <a:noFill/>
        </p:spPr>
        <p:txBody>
          <a:bodyPr wrap="square" lIns="36576" tIns="36576" rIns="36576" bIns="36576" anchor="t">
            <a:spAutoFit/>
          </a:bodyPr>
          <a:lstStyle/>
          <a:p>
            <a:pPr algn="ctr"/>
            <a:r>
              <a:rPr sz="750" b="1" i="0">
                <a:solidFill>
                  <a:srgbClr val="FFFFFF"/>
                </a:solidFill>
                <a:latin typeface="Aptos"/>
              </a:rPr>
              <a:t>WEEK 2 • LITERATURE</a:t>
            </a:r>
          </a:p>
        </p:txBody>
      </p:sp>
      <p:sp>
        <p:nvSpPr>
          <p:cNvPr id="4" name="TextBox 3"/>
          <p:cNvSpPr txBox="1"/>
          <p:nvPr/>
        </p:nvSpPr>
        <p:spPr>
          <a:xfrm>
            <a:off x="621792" y="1143000"/>
            <a:ext cx="7132320" cy="914400"/>
          </a:xfrm>
          <a:prstGeom prst="rect">
            <a:avLst/>
          </a:prstGeom>
          <a:noFill/>
        </p:spPr>
        <p:txBody>
          <a:bodyPr wrap="square" lIns="36576" tIns="36576" rIns="36576" bIns="36576" anchor="t">
            <a:spAutoFit/>
          </a:bodyPr>
          <a:lstStyle/>
          <a:p>
            <a:pPr algn="l"/>
            <a:r>
              <a:rPr sz="3200" b="1" i="0">
                <a:solidFill>
                  <a:srgbClr val="111827"/>
                </a:solidFill>
                <a:latin typeface="Aptos Display"/>
              </a:rPr>
              <a:t>What existing research
says about our project</a:t>
            </a:r>
          </a:p>
        </p:txBody>
      </p:sp>
      <p:sp>
        <p:nvSpPr>
          <p:cNvPr id="5" name="TextBox 4"/>
          <p:cNvSpPr txBox="1"/>
          <p:nvPr/>
        </p:nvSpPr>
        <p:spPr>
          <a:xfrm>
            <a:off x="658368" y="2176272"/>
            <a:ext cx="6217920" cy="548640"/>
          </a:xfrm>
          <a:prstGeom prst="rect">
            <a:avLst/>
          </a:prstGeom>
          <a:noFill/>
        </p:spPr>
        <p:txBody>
          <a:bodyPr wrap="square" lIns="36576" tIns="36576" rIns="36576" bIns="36576" anchor="t">
            <a:spAutoFit/>
          </a:bodyPr>
          <a:lstStyle/>
          <a:p>
            <a:pPr algn="l"/>
            <a:r>
              <a:rPr sz="1320" b="0" i="0">
                <a:solidFill>
                  <a:srgbClr val="667085"/>
                </a:solidFill>
                <a:latin typeface="Aptos"/>
              </a:rPr>
              <a:t>We reviewed the research foundations behind RAG, retrieval quality, long-context use, evaluation and trustworthy answers before implementation.</a:t>
            </a:r>
          </a:p>
        </p:txBody>
      </p:sp>
      <p:sp>
        <p:nvSpPr>
          <p:cNvPr id="6" name="Rounded Rectangle 5"/>
          <p:cNvSpPr/>
          <p:nvPr/>
        </p:nvSpPr>
        <p:spPr>
          <a:xfrm>
            <a:off x="731520" y="3749039"/>
            <a:ext cx="1600200" cy="114300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77824" y="3913632"/>
            <a:ext cx="868680" cy="256032"/>
          </a:xfrm>
          <a:prstGeom prst="roundRect">
            <a:avLst/>
          </a:prstGeom>
          <a:solidFill>
            <a:srgbClr val="3155F6"/>
          </a:solidFill>
          <a:ln w="10160">
            <a:solidFill>
              <a:srgbClr val="3155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 y="3954780"/>
            <a:ext cx="813815" cy="164592"/>
          </a:xfrm>
          <a:prstGeom prst="rect">
            <a:avLst/>
          </a:prstGeom>
          <a:noFill/>
        </p:spPr>
        <p:txBody>
          <a:bodyPr wrap="square" lIns="36576" tIns="36576" rIns="36576" bIns="36576" anchor="t">
            <a:spAutoFit/>
          </a:bodyPr>
          <a:lstStyle/>
          <a:p>
            <a:pPr algn="ctr"/>
            <a:r>
              <a:rPr sz="750" b="1" i="0">
                <a:solidFill>
                  <a:srgbClr val="FFFFFF"/>
                </a:solidFill>
                <a:latin typeface="Aptos"/>
              </a:rPr>
              <a:t>RAG</a:t>
            </a:r>
          </a:p>
        </p:txBody>
      </p:sp>
      <p:sp>
        <p:nvSpPr>
          <p:cNvPr id="9" name="TextBox 8"/>
          <p:cNvSpPr txBox="1"/>
          <p:nvPr/>
        </p:nvSpPr>
        <p:spPr>
          <a:xfrm>
            <a:off x="877824" y="4297680"/>
            <a:ext cx="1307592" cy="393192"/>
          </a:xfrm>
          <a:prstGeom prst="rect">
            <a:avLst/>
          </a:prstGeom>
          <a:noFill/>
        </p:spPr>
        <p:txBody>
          <a:bodyPr wrap="square" lIns="36576" tIns="36576" rIns="36576" bIns="36576" anchor="t">
            <a:spAutoFit/>
          </a:bodyPr>
          <a:lstStyle/>
          <a:p>
            <a:pPr algn="l"/>
            <a:r>
              <a:rPr sz="969" b="1" i="0">
                <a:solidFill>
                  <a:srgbClr val="111827"/>
                </a:solidFill>
                <a:latin typeface="Aptos"/>
              </a:rPr>
              <a:t>Retrieve + generate</a:t>
            </a:r>
          </a:p>
        </p:txBody>
      </p:sp>
      <p:sp>
        <p:nvSpPr>
          <p:cNvPr id="10" name="TextBox 9"/>
          <p:cNvSpPr txBox="1"/>
          <p:nvPr/>
        </p:nvSpPr>
        <p:spPr>
          <a:xfrm>
            <a:off x="2359152" y="4169663"/>
            <a:ext cx="384048" cy="274320"/>
          </a:xfrm>
          <a:prstGeom prst="rect">
            <a:avLst/>
          </a:prstGeom>
          <a:noFill/>
        </p:spPr>
        <p:txBody>
          <a:bodyPr wrap="square" lIns="36576" tIns="36576" rIns="36576" bIns="36576" anchor="t">
            <a:spAutoFit/>
          </a:bodyPr>
          <a:lstStyle/>
          <a:p>
            <a:pPr algn="ctr"/>
            <a:r>
              <a:rPr sz="1800" b="1" i="0">
                <a:solidFill>
                  <a:srgbClr val="667085"/>
                </a:solidFill>
                <a:latin typeface="Aptos"/>
              </a:rPr>
              <a:t>→</a:t>
            </a:r>
          </a:p>
        </p:txBody>
      </p:sp>
      <p:sp>
        <p:nvSpPr>
          <p:cNvPr id="11" name="Rounded Rectangle 10"/>
          <p:cNvSpPr/>
          <p:nvPr/>
        </p:nvSpPr>
        <p:spPr>
          <a:xfrm>
            <a:off x="2788920" y="3749039"/>
            <a:ext cx="1600200" cy="114300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935224" y="3913632"/>
            <a:ext cx="868680" cy="256032"/>
          </a:xfrm>
          <a:prstGeom prst="roundRect">
            <a:avLst/>
          </a:prstGeom>
          <a:solidFill>
            <a:srgbClr val="12B8A6"/>
          </a:solidFill>
          <a:ln w="10160">
            <a:solidFill>
              <a:srgbClr val="12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62656" y="3954780"/>
            <a:ext cx="813815" cy="164592"/>
          </a:xfrm>
          <a:prstGeom prst="rect">
            <a:avLst/>
          </a:prstGeom>
          <a:noFill/>
        </p:spPr>
        <p:txBody>
          <a:bodyPr wrap="square" lIns="36576" tIns="36576" rIns="36576" bIns="36576" anchor="t">
            <a:spAutoFit/>
          </a:bodyPr>
          <a:lstStyle/>
          <a:p>
            <a:pPr algn="ctr"/>
            <a:r>
              <a:rPr sz="750" b="1" i="0">
                <a:solidFill>
                  <a:srgbClr val="FFFFFF"/>
                </a:solidFill>
                <a:latin typeface="Aptos"/>
              </a:rPr>
              <a:t>RETRIEVAL</a:t>
            </a:r>
          </a:p>
        </p:txBody>
      </p:sp>
      <p:sp>
        <p:nvSpPr>
          <p:cNvPr id="14" name="TextBox 13"/>
          <p:cNvSpPr txBox="1"/>
          <p:nvPr/>
        </p:nvSpPr>
        <p:spPr>
          <a:xfrm>
            <a:off x="2935224" y="4297680"/>
            <a:ext cx="1307592" cy="393192"/>
          </a:xfrm>
          <a:prstGeom prst="rect">
            <a:avLst/>
          </a:prstGeom>
          <a:noFill/>
        </p:spPr>
        <p:txBody>
          <a:bodyPr wrap="square" lIns="36576" tIns="36576" rIns="36576" bIns="36576" anchor="t">
            <a:spAutoFit/>
          </a:bodyPr>
          <a:lstStyle/>
          <a:p>
            <a:pPr algn="l"/>
            <a:r>
              <a:rPr sz="969" b="1" i="0">
                <a:solidFill>
                  <a:srgbClr val="111827"/>
                </a:solidFill>
                <a:latin typeface="Aptos"/>
              </a:rPr>
              <a:t>Find relevant evidence</a:t>
            </a:r>
          </a:p>
        </p:txBody>
      </p:sp>
      <p:sp>
        <p:nvSpPr>
          <p:cNvPr id="15" name="TextBox 14"/>
          <p:cNvSpPr txBox="1"/>
          <p:nvPr/>
        </p:nvSpPr>
        <p:spPr>
          <a:xfrm>
            <a:off x="4416552" y="4169663"/>
            <a:ext cx="384048" cy="274320"/>
          </a:xfrm>
          <a:prstGeom prst="rect">
            <a:avLst/>
          </a:prstGeom>
          <a:noFill/>
        </p:spPr>
        <p:txBody>
          <a:bodyPr wrap="square" lIns="36576" tIns="36576" rIns="36576" bIns="36576" anchor="t">
            <a:spAutoFit/>
          </a:bodyPr>
          <a:lstStyle/>
          <a:p>
            <a:pPr algn="ctr"/>
            <a:r>
              <a:rPr sz="1800" b="1" i="0">
                <a:solidFill>
                  <a:srgbClr val="667085"/>
                </a:solidFill>
                <a:latin typeface="Aptos"/>
              </a:rPr>
              <a:t>→</a:t>
            </a:r>
          </a:p>
        </p:txBody>
      </p:sp>
      <p:sp>
        <p:nvSpPr>
          <p:cNvPr id="16" name="Rounded Rectangle 15"/>
          <p:cNvSpPr/>
          <p:nvPr/>
        </p:nvSpPr>
        <p:spPr>
          <a:xfrm>
            <a:off x="4846320" y="3749039"/>
            <a:ext cx="1600200" cy="114300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992624" y="3913632"/>
            <a:ext cx="868680" cy="256032"/>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0056" y="3954780"/>
            <a:ext cx="813815" cy="164592"/>
          </a:xfrm>
          <a:prstGeom prst="rect">
            <a:avLst/>
          </a:prstGeom>
          <a:noFill/>
        </p:spPr>
        <p:txBody>
          <a:bodyPr wrap="square" lIns="36576" tIns="36576" rIns="36576" bIns="36576" anchor="t">
            <a:spAutoFit/>
          </a:bodyPr>
          <a:lstStyle/>
          <a:p>
            <a:pPr algn="ctr"/>
            <a:r>
              <a:rPr sz="750" b="1" i="0">
                <a:solidFill>
                  <a:srgbClr val="FFFFFF"/>
                </a:solidFill>
                <a:latin typeface="Aptos"/>
              </a:rPr>
              <a:t>LONG CONTEXT</a:t>
            </a:r>
          </a:p>
        </p:txBody>
      </p:sp>
      <p:sp>
        <p:nvSpPr>
          <p:cNvPr id="19" name="TextBox 18"/>
          <p:cNvSpPr txBox="1"/>
          <p:nvPr/>
        </p:nvSpPr>
        <p:spPr>
          <a:xfrm>
            <a:off x="4992624" y="4297680"/>
            <a:ext cx="1307592" cy="393192"/>
          </a:xfrm>
          <a:prstGeom prst="rect">
            <a:avLst/>
          </a:prstGeom>
          <a:noFill/>
        </p:spPr>
        <p:txBody>
          <a:bodyPr wrap="square" lIns="36576" tIns="36576" rIns="36576" bIns="36576" anchor="t">
            <a:spAutoFit/>
          </a:bodyPr>
          <a:lstStyle/>
          <a:p>
            <a:pPr algn="l"/>
            <a:r>
              <a:rPr sz="969" b="1" i="0">
                <a:solidFill>
                  <a:srgbClr val="111827"/>
                </a:solidFill>
                <a:latin typeface="Aptos"/>
              </a:rPr>
              <a:t>Choose useful chunks</a:t>
            </a:r>
          </a:p>
        </p:txBody>
      </p:sp>
      <p:sp>
        <p:nvSpPr>
          <p:cNvPr id="20" name="TextBox 19"/>
          <p:cNvSpPr txBox="1"/>
          <p:nvPr/>
        </p:nvSpPr>
        <p:spPr>
          <a:xfrm>
            <a:off x="6473952" y="4169663"/>
            <a:ext cx="384048" cy="274320"/>
          </a:xfrm>
          <a:prstGeom prst="rect">
            <a:avLst/>
          </a:prstGeom>
          <a:noFill/>
        </p:spPr>
        <p:txBody>
          <a:bodyPr wrap="square" lIns="36576" tIns="36576" rIns="36576" bIns="36576" anchor="t">
            <a:spAutoFit/>
          </a:bodyPr>
          <a:lstStyle/>
          <a:p>
            <a:pPr algn="ctr"/>
            <a:r>
              <a:rPr sz="1800" b="1" i="0">
                <a:solidFill>
                  <a:srgbClr val="667085"/>
                </a:solidFill>
                <a:latin typeface="Aptos"/>
              </a:rPr>
              <a:t>→</a:t>
            </a:r>
          </a:p>
        </p:txBody>
      </p:sp>
      <p:sp>
        <p:nvSpPr>
          <p:cNvPr id="21" name="Rounded Rectangle 20"/>
          <p:cNvSpPr/>
          <p:nvPr/>
        </p:nvSpPr>
        <p:spPr>
          <a:xfrm>
            <a:off x="6903720" y="3749039"/>
            <a:ext cx="1600200" cy="114300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050024" y="3913632"/>
            <a:ext cx="868680" cy="256032"/>
          </a:xfrm>
          <a:prstGeom prst="roundRect">
            <a:avLst/>
          </a:prstGeom>
          <a:solidFill>
            <a:srgbClr val="F59E0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77456" y="3954780"/>
            <a:ext cx="813815" cy="164592"/>
          </a:xfrm>
          <a:prstGeom prst="rect">
            <a:avLst/>
          </a:prstGeom>
          <a:noFill/>
        </p:spPr>
        <p:txBody>
          <a:bodyPr wrap="square" lIns="36576" tIns="36576" rIns="36576" bIns="36576" anchor="t">
            <a:spAutoFit/>
          </a:bodyPr>
          <a:lstStyle/>
          <a:p>
            <a:pPr algn="ctr"/>
            <a:r>
              <a:rPr sz="750" b="1" i="0">
                <a:solidFill>
                  <a:srgbClr val="FFFFFF"/>
                </a:solidFill>
                <a:latin typeface="Aptos"/>
              </a:rPr>
              <a:t>EVALUATION</a:t>
            </a:r>
          </a:p>
        </p:txBody>
      </p:sp>
      <p:sp>
        <p:nvSpPr>
          <p:cNvPr id="24" name="TextBox 23"/>
          <p:cNvSpPr txBox="1"/>
          <p:nvPr/>
        </p:nvSpPr>
        <p:spPr>
          <a:xfrm>
            <a:off x="7050024" y="4297680"/>
            <a:ext cx="1307592" cy="393192"/>
          </a:xfrm>
          <a:prstGeom prst="rect">
            <a:avLst/>
          </a:prstGeom>
          <a:noFill/>
        </p:spPr>
        <p:txBody>
          <a:bodyPr wrap="square" lIns="36576" tIns="36576" rIns="36576" bIns="36576" anchor="t">
            <a:spAutoFit/>
          </a:bodyPr>
          <a:lstStyle/>
          <a:p>
            <a:pPr algn="l"/>
            <a:r>
              <a:rPr sz="969" b="1" i="0">
                <a:solidFill>
                  <a:srgbClr val="111827"/>
                </a:solidFill>
                <a:latin typeface="Aptos"/>
              </a:rPr>
              <a:t>Measure quality</a:t>
            </a:r>
          </a:p>
        </p:txBody>
      </p:sp>
      <p:sp>
        <p:nvSpPr>
          <p:cNvPr id="25" name="TextBox 24"/>
          <p:cNvSpPr txBox="1"/>
          <p:nvPr/>
        </p:nvSpPr>
        <p:spPr>
          <a:xfrm>
            <a:off x="8531352" y="4169663"/>
            <a:ext cx="384048" cy="274320"/>
          </a:xfrm>
          <a:prstGeom prst="rect">
            <a:avLst/>
          </a:prstGeom>
          <a:noFill/>
        </p:spPr>
        <p:txBody>
          <a:bodyPr wrap="square" lIns="36576" tIns="36576" rIns="36576" bIns="36576" anchor="t">
            <a:spAutoFit/>
          </a:bodyPr>
          <a:lstStyle/>
          <a:p>
            <a:pPr algn="ctr"/>
            <a:r>
              <a:rPr sz="1800" b="1" i="0">
                <a:solidFill>
                  <a:srgbClr val="667085"/>
                </a:solidFill>
                <a:latin typeface="Aptos"/>
              </a:rPr>
              <a:t>→</a:t>
            </a:r>
          </a:p>
        </p:txBody>
      </p:sp>
      <p:sp>
        <p:nvSpPr>
          <p:cNvPr id="26" name="Rounded Rectangle 25"/>
          <p:cNvSpPr/>
          <p:nvPr/>
        </p:nvSpPr>
        <p:spPr>
          <a:xfrm>
            <a:off x="8961120" y="3749039"/>
            <a:ext cx="1600200" cy="114300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107424" y="3913632"/>
            <a:ext cx="868680" cy="256032"/>
          </a:xfrm>
          <a:prstGeom prst="roundRect">
            <a:avLst/>
          </a:prstGeom>
          <a:solidFill>
            <a:srgbClr val="22C55E"/>
          </a:solidFill>
          <a:ln w="1016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34856" y="3954780"/>
            <a:ext cx="813815" cy="164592"/>
          </a:xfrm>
          <a:prstGeom prst="rect">
            <a:avLst/>
          </a:prstGeom>
          <a:noFill/>
        </p:spPr>
        <p:txBody>
          <a:bodyPr wrap="square" lIns="36576" tIns="36576" rIns="36576" bIns="36576" anchor="t">
            <a:spAutoFit/>
          </a:bodyPr>
          <a:lstStyle/>
          <a:p>
            <a:pPr algn="ctr"/>
            <a:r>
              <a:rPr sz="750" b="1" i="0">
                <a:solidFill>
                  <a:srgbClr val="FFFFFF"/>
                </a:solidFill>
                <a:latin typeface="Aptos"/>
              </a:rPr>
              <a:t>TRUST</a:t>
            </a:r>
          </a:p>
        </p:txBody>
      </p:sp>
      <p:sp>
        <p:nvSpPr>
          <p:cNvPr id="29" name="TextBox 28"/>
          <p:cNvSpPr txBox="1"/>
          <p:nvPr/>
        </p:nvSpPr>
        <p:spPr>
          <a:xfrm>
            <a:off x="9107424" y="4297680"/>
            <a:ext cx="1307592" cy="393192"/>
          </a:xfrm>
          <a:prstGeom prst="rect">
            <a:avLst/>
          </a:prstGeom>
          <a:noFill/>
        </p:spPr>
        <p:txBody>
          <a:bodyPr wrap="square" lIns="36576" tIns="36576" rIns="36576" bIns="36576" anchor="t">
            <a:spAutoFit/>
          </a:bodyPr>
          <a:lstStyle/>
          <a:p>
            <a:pPr algn="l"/>
            <a:r>
              <a:rPr sz="969" b="1" i="0">
                <a:solidFill>
                  <a:srgbClr val="111827"/>
                </a:solidFill>
                <a:latin typeface="Aptos"/>
              </a:rPr>
              <a:t>Citations + controls</a:t>
            </a:r>
          </a:p>
        </p:txBody>
      </p:sp>
      <p:sp>
        <p:nvSpPr>
          <p:cNvPr id="30" name="Rounded Rectangle 29"/>
          <p:cNvSpPr/>
          <p:nvPr/>
        </p:nvSpPr>
        <p:spPr>
          <a:xfrm>
            <a:off x="685800" y="5321808"/>
            <a:ext cx="10881360" cy="640080"/>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504688"/>
            <a:ext cx="10424160" cy="256032"/>
          </a:xfrm>
          <a:prstGeom prst="rect">
            <a:avLst/>
          </a:prstGeom>
          <a:noFill/>
        </p:spPr>
        <p:txBody>
          <a:bodyPr wrap="square" lIns="36576" tIns="36576" rIns="36576" bIns="36576" anchor="t">
            <a:spAutoFit/>
          </a:bodyPr>
          <a:lstStyle/>
          <a:p>
            <a:pPr algn="ctr"/>
            <a:r>
              <a:rPr sz="1200" b="1" i="0">
                <a:solidFill>
                  <a:srgbClr val="FFFFFF"/>
                </a:solidFill>
                <a:latin typeface="Aptos"/>
              </a:rPr>
              <a:t>Literature survey → design choices → research gap → proposed implementation</a:t>
            </a:r>
          </a:p>
        </p:txBody>
      </p:sp>
      <p:sp>
        <p:nvSpPr>
          <p:cNvPr id="32" name="Rectangle 31"/>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34" name="TextBox 33"/>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789920" cy="438912"/>
          </a:xfrm>
          <a:prstGeom prst="rect">
            <a:avLst/>
          </a:prstGeom>
          <a:noFill/>
        </p:spPr>
        <p:txBody>
          <a:bodyPr wrap="square" lIns="36576" tIns="36576" rIns="36576" bIns="36576" anchor="t">
            <a:spAutoFit/>
          </a:bodyPr>
          <a:lstStyle/>
          <a:p>
            <a:pPr algn="l"/>
            <a:r>
              <a:rPr sz="2200" b="1" i="0">
                <a:solidFill>
                  <a:srgbClr val="111827"/>
                </a:solidFill>
                <a:latin typeface="Aptos Display"/>
              </a:rPr>
              <a:t>Week 2A. Foundational RAG research</a:t>
            </a:r>
          </a:p>
        </p:txBody>
      </p:sp>
      <p:sp>
        <p:nvSpPr>
          <p:cNvPr id="3" name="TextBox 2"/>
          <p:cNvSpPr txBox="1"/>
          <p:nvPr/>
        </p:nvSpPr>
        <p:spPr>
          <a:xfrm>
            <a:off x="612648" y="841248"/>
            <a:ext cx="10698480" cy="292608"/>
          </a:xfrm>
          <a:prstGeom prst="rect">
            <a:avLst/>
          </a:prstGeom>
          <a:noFill/>
        </p:spPr>
        <p:txBody>
          <a:bodyPr wrap="square" lIns="36576" tIns="36576" rIns="36576" bIns="36576" anchor="t">
            <a:spAutoFit/>
          </a:bodyPr>
          <a:lstStyle/>
          <a:p>
            <a:pPr algn="l"/>
            <a:r>
              <a:rPr sz="950" b="0" i="0">
                <a:solidFill>
                  <a:srgbClr val="667085"/>
                </a:solidFill>
                <a:latin typeface="Aptos"/>
              </a:rPr>
              <a:t>These two papers establish the basic idea behind giving an LLM access to external knowledge.</a:t>
            </a:r>
          </a:p>
        </p:txBody>
      </p:sp>
      <p:sp>
        <p:nvSpPr>
          <p:cNvPr id="4" name="Rounded Rectangle 3"/>
          <p:cNvSpPr/>
          <p:nvPr/>
        </p:nvSpPr>
        <p:spPr>
          <a:xfrm>
            <a:off x="594360" y="1325880"/>
            <a:ext cx="5440680" cy="452628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68096" y="1463039"/>
            <a:ext cx="457200" cy="256032"/>
          </a:xfrm>
          <a:prstGeom prst="roundRect">
            <a:avLst/>
          </a:prstGeom>
          <a:solidFill>
            <a:srgbClr val="3155F6"/>
          </a:solidFill>
          <a:ln w="10160">
            <a:solidFill>
              <a:srgbClr val="3155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504187"/>
            <a:ext cx="402336" cy="164592"/>
          </a:xfrm>
          <a:prstGeom prst="rect">
            <a:avLst/>
          </a:prstGeom>
          <a:noFill/>
        </p:spPr>
        <p:txBody>
          <a:bodyPr wrap="square" lIns="36576" tIns="36576" rIns="36576" bIns="36576" anchor="t">
            <a:spAutoFit/>
          </a:bodyPr>
          <a:lstStyle/>
          <a:p>
            <a:pPr algn="ctr"/>
            <a:r>
              <a:rPr sz="750" b="1" i="0">
                <a:solidFill>
                  <a:srgbClr val="FFFFFF"/>
                </a:solidFill>
                <a:latin typeface="Aptos"/>
              </a:rPr>
              <a:t>P1</a:t>
            </a:r>
          </a:p>
        </p:txBody>
      </p:sp>
      <p:sp>
        <p:nvSpPr>
          <p:cNvPr id="7" name="TextBox 6"/>
          <p:cNvSpPr txBox="1"/>
          <p:nvPr/>
        </p:nvSpPr>
        <p:spPr>
          <a:xfrm>
            <a:off x="1316736" y="1444752"/>
            <a:ext cx="4599432" cy="347472"/>
          </a:xfrm>
          <a:prstGeom prst="rect">
            <a:avLst/>
          </a:prstGeom>
          <a:noFill/>
        </p:spPr>
        <p:txBody>
          <a:bodyPr wrap="square" lIns="36576" tIns="36576" rIns="36576" bIns="36576" anchor="t">
            <a:spAutoFit/>
          </a:bodyPr>
          <a:lstStyle/>
          <a:p>
            <a:pPr algn="l"/>
            <a:r>
              <a:rPr sz="1400" b="1" i="0">
                <a:solidFill>
                  <a:srgbClr val="111827"/>
                </a:solidFill>
                <a:latin typeface="Aptos Display"/>
              </a:rPr>
              <a:t>RAG for Knowledge-Intensive NLP Tasks</a:t>
            </a:r>
          </a:p>
        </p:txBody>
      </p:sp>
      <p:sp>
        <p:nvSpPr>
          <p:cNvPr id="8" name="TextBox 7"/>
          <p:cNvSpPr txBox="1"/>
          <p:nvPr/>
        </p:nvSpPr>
        <p:spPr>
          <a:xfrm>
            <a:off x="777240" y="1828800"/>
            <a:ext cx="5129784" cy="274320"/>
          </a:xfrm>
          <a:prstGeom prst="rect">
            <a:avLst/>
          </a:prstGeom>
          <a:noFill/>
        </p:spPr>
        <p:txBody>
          <a:bodyPr wrap="square" lIns="36576" tIns="36576" rIns="36576" bIns="36576" anchor="t">
            <a:spAutoFit/>
          </a:bodyPr>
          <a:lstStyle/>
          <a:p>
            <a:pPr algn="l"/>
            <a:r>
              <a:rPr sz="840" b="0" i="0">
                <a:solidFill>
                  <a:srgbClr val="667085"/>
                </a:solidFill>
                <a:latin typeface="Aptos"/>
              </a:rPr>
              <a:t>Lewis et al. • 2020 • NeurIPS / arXiv 2005.11401</a:t>
            </a:r>
          </a:p>
        </p:txBody>
      </p:sp>
      <p:sp>
        <p:nvSpPr>
          <p:cNvPr id="9" name="TextBox 8"/>
          <p:cNvSpPr txBox="1"/>
          <p:nvPr/>
        </p:nvSpPr>
        <p:spPr>
          <a:xfrm>
            <a:off x="777240" y="2167128"/>
            <a:ext cx="658368" cy="201168"/>
          </a:xfrm>
          <a:prstGeom prst="rect">
            <a:avLst/>
          </a:prstGeom>
          <a:noFill/>
        </p:spPr>
        <p:txBody>
          <a:bodyPr wrap="square" lIns="36576" tIns="36576" rIns="36576" bIns="36576" anchor="t">
            <a:spAutoFit/>
          </a:bodyPr>
          <a:lstStyle/>
          <a:p>
            <a:pPr algn="l"/>
            <a:r>
              <a:rPr sz="819" b="1" i="0">
                <a:solidFill>
                  <a:srgbClr val="3155F6"/>
                </a:solidFill>
                <a:latin typeface="Aptos"/>
              </a:rPr>
              <a:t>WHAT IT TELLS</a:t>
            </a:r>
          </a:p>
        </p:txBody>
      </p:sp>
      <p:sp>
        <p:nvSpPr>
          <p:cNvPr id="10" name="TextBox 9"/>
          <p:cNvSpPr txBox="1"/>
          <p:nvPr/>
        </p:nvSpPr>
        <p:spPr>
          <a:xfrm>
            <a:off x="777240" y="2368296"/>
            <a:ext cx="5129784" cy="658368"/>
          </a:xfrm>
          <a:prstGeom prst="rect">
            <a:avLst/>
          </a:prstGeom>
          <a:noFill/>
        </p:spPr>
        <p:txBody>
          <a:bodyPr wrap="square" lIns="36576" tIns="36576" rIns="36576" bIns="36576" anchor="t">
            <a:spAutoFit/>
          </a:bodyPr>
          <a:lstStyle/>
          <a:p>
            <a:pPr algn="l"/>
            <a:r>
              <a:rPr sz="1050" b="0" i="0">
                <a:solidFill>
                  <a:srgbClr val="111827"/>
                </a:solidFill>
                <a:latin typeface="Aptos"/>
              </a:rPr>
              <a:t>Combines a language model’s learned knowledge with a retriever over an external corpus. The paper highlights the value of explicit, retrievable knowledge for knowledge-intensive question answering and generation.</a:t>
            </a:r>
          </a:p>
        </p:txBody>
      </p:sp>
      <p:sp>
        <p:nvSpPr>
          <p:cNvPr id="11" name="TextBox 10"/>
          <p:cNvSpPr txBox="1"/>
          <p:nvPr/>
        </p:nvSpPr>
        <p:spPr>
          <a:xfrm>
            <a:off x="777240" y="3090672"/>
            <a:ext cx="658368" cy="201168"/>
          </a:xfrm>
          <a:prstGeom prst="rect">
            <a:avLst/>
          </a:prstGeom>
          <a:noFill/>
        </p:spPr>
        <p:txBody>
          <a:bodyPr wrap="square" lIns="36576" tIns="36576" rIns="36576" bIns="36576" anchor="t">
            <a:spAutoFit/>
          </a:bodyPr>
          <a:lstStyle/>
          <a:p>
            <a:pPr algn="l"/>
            <a:r>
              <a:rPr sz="819" b="1" i="0">
                <a:solidFill>
                  <a:srgbClr val="12B8A6"/>
                </a:solidFill>
                <a:latin typeface="Aptos"/>
              </a:rPr>
              <a:t>WHY WE USE IT</a:t>
            </a:r>
          </a:p>
        </p:txBody>
      </p:sp>
      <p:sp>
        <p:nvSpPr>
          <p:cNvPr id="12" name="TextBox 11"/>
          <p:cNvSpPr txBox="1"/>
          <p:nvPr/>
        </p:nvSpPr>
        <p:spPr>
          <a:xfrm>
            <a:off x="777240" y="3291839"/>
            <a:ext cx="5129784" cy="612648"/>
          </a:xfrm>
          <a:prstGeom prst="rect">
            <a:avLst/>
          </a:prstGeom>
          <a:noFill/>
        </p:spPr>
        <p:txBody>
          <a:bodyPr wrap="square" lIns="36576" tIns="36576" rIns="36576" bIns="36576" anchor="t">
            <a:spAutoFit/>
          </a:bodyPr>
          <a:lstStyle/>
          <a:p>
            <a:pPr algn="l"/>
            <a:r>
              <a:rPr sz="1019" b="0" i="0">
                <a:solidFill>
                  <a:srgbClr val="111827"/>
                </a:solidFill>
                <a:latin typeface="Aptos"/>
              </a:rPr>
              <a:t>This is the direct foundation for our pipeline: question → retriever → relevant chunks → LLM → grounded answer + source.</a:t>
            </a:r>
          </a:p>
        </p:txBody>
      </p:sp>
      <p:sp>
        <p:nvSpPr>
          <p:cNvPr id="13" name="TextBox 12"/>
          <p:cNvSpPr txBox="1"/>
          <p:nvPr/>
        </p:nvSpPr>
        <p:spPr>
          <a:xfrm>
            <a:off x="777240" y="5413248"/>
            <a:ext cx="5129784" cy="164592"/>
          </a:xfrm>
          <a:prstGeom prst="rect">
            <a:avLst/>
          </a:prstGeom>
          <a:noFill/>
        </p:spPr>
        <p:txBody>
          <a:bodyPr wrap="square" lIns="36576" tIns="36576" rIns="36576" bIns="36576" anchor="t">
            <a:spAutoFit/>
          </a:bodyPr>
          <a:lstStyle/>
          <a:p>
            <a:pPr algn="l"/>
            <a:r>
              <a:rPr sz="740" b="0" i="0">
                <a:solidFill>
                  <a:srgbClr val="667085"/>
                </a:solidFill>
                <a:latin typeface="Aptos"/>
              </a:rPr>
              <a:t>Patrick Lewis et al. • RAG</a:t>
            </a:r>
          </a:p>
        </p:txBody>
      </p:sp>
      <p:sp>
        <p:nvSpPr>
          <p:cNvPr id="14" name="TextBox 13"/>
          <p:cNvSpPr txBox="1"/>
          <p:nvPr/>
        </p:nvSpPr>
        <p:spPr>
          <a:xfrm>
            <a:off x="832104" y="5212080"/>
            <a:ext cx="5129784" cy="164592"/>
          </a:xfrm>
          <a:prstGeom prst="rect">
            <a:avLst/>
          </a:prstGeom>
          <a:noFill/>
        </p:spPr>
        <p:txBody>
          <a:bodyPr wrap="none" lIns="0" rIns="0">
            <a:spAutoFit/>
          </a:bodyPr>
          <a:lstStyle/>
          <a:p>
            <a:pPr>
              <a:defRPr sz="740">
                <a:solidFill>
                  <a:srgbClr val="3155F6"/>
                </a:solidFill>
                <a:latin typeface="Aptos"/>
              </a:defRPr>
            </a:pPr>
            <a:r>
              <a:rPr sz="740">
                <a:solidFill>
                  <a:srgbClr val="3155F6"/>
                </a:solidFill>
                <a:latin typeface="Aptos"/>
                <a:hlinkClick r:id="rId2"/>
              </a:rPr>
              <a:t>Open paper</a:t>
            </a:r>
          </a:p>
        </p:txBody>
      </p:sp>
      <p:sp>
        <p:nvSpPr>
          <p:cNvPr id="15" name="Rounded Rectangle 14"/>
          <p:cNvSpPr/>
          <p:nvPr/>
        </p:nvSpPr>
        <p:spPr>
          <a:xfrm>
            <a:off x="6144768" y="1325880"/>
            <a:ext cx="5440680" cy="452628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91072" y="1463039"/>
            <a:ext cx="457200" cy="256032"/>
          </a:xfrm>
          <a:prstGeom prst="roundRect">
            <a:avLst/>
          </a:prstGeom>
          <a:solidFill>
            <a:srgbClr val="12B8A6"/>
          </a:solidFill>
          <a:ln w="10160">
            <a:solidFill>
              <a:srgbClr val="12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18504" y="1504187"/>
            <a:ext cx="402336" cy="164592"/>
          </a:xfrm>
          <a:prstGeom prst="rect">
            <a:avLst/>
          </a:prstGeom>
          <a:noFill/>
        </p:spPr>
        <p:txBody>
          <a:bodyPr wrap="square" lIns="36576" tIns="36576" rIns="36576" bIns="36576" anchor="t">
            <a:spAutoFit/>
          </a:bodyPr>
          <a:lstStyle/>
          <a:p>
            <a:pPr algn="ctr"/>
            <a:r>
              <a:rPr sz="750" b="1" i="0">
                <a:solidFill>
                  <a:srgbClr val="FFFFFF"/>
                </a:solidFill>
                <a:latin typeface="Aptos"/>
              </a:rPr>
              <a:t>P2</a:t>
            </a:r>
          </a:p>
        </p:txBody>
      </p:sp>
      <p:sp>
        <p:nvSpPr>
          <p:cNvPr id="18" name="TextBox 17"/>
          <p:cNvSpPr txBox="1"/>
          <p:nvPr/>
        </p:nvSpPr>
        <p:spPr>
          <a:xfrm>
            <a:off x="6839712" y="1444752"/>
            <a:ext cx="4599432" cy="347472"/>
          </a:xfrm>
          <a:prstGeom prst="rect">
            <a:avLst/>
          </a:prstGeom>
          <a:noFill/>
        </p:spPr>
        <p:txBody>
          <a:bodyPr wrap="square" lIns="36576" tIns="36576" rIns="36576" bIns="36576" anchor="t">
            <a:spAutoFit/>
          </a:bodyPr>
          <a:lstStyle/>
          <a:p>
            <a:pPr algn="l"/>
            <a:r>
              <a:rPr sz="1400" b="1" i="0">
                <a:solidFill>
                  <a:srgbClr val="111827"/>
                </a:solidFill>
                <a:latin typeface="Aptos Display"/>
              </a:rPr>
              <a:t>REALM: Retrieval-Augmented Language Model Pre-Training</a:t>
            </a:r>
          </a:p>
        </p:txBody>
      </p:sp>
      <p:sp>
        <p:nvSpPr>
          <p:cNvPr id="19" name="TextBox 18"/>
          <p:cNvSpPr txBox="1"/>
          <p:nvPr/>
        </p:nvSpPr>
        <p:spPr>
          <a:xfrm>
            <a:off x="6300216" y="1828800"/>
            <a:ext cx="5129784" cy="274320"/>
          </a:xfrm>
          <a:prstGeom prst="rect">
            <a:avLst/>
          </a:prstGeom>
          <a:noFill/>
        </p:spPr>
        <p:txBody>
          <a:bodyPr wrap="square" lIns="36576" tIns="36576" rIns="36576" bIns="36576" anchor="t">
            <a:spAutoFit/>
          </a:bodyPr>
          <a:lstStyle/>
          <a:p>
            <a:pPr algn="l"/>
            <a:r>
              <a:rPr sz="840" b="0" i="0">
                <a:solidFill>
                  <a:srgbClr val="667085"/>
                </a:solidFill>
                <a:latin typeface="Aptos"/>
              </a:rPr>
              <a:t>Guu et al. • 2020 • ICML / PMLR</a:t>
            </a:r>
          </a:p>
        </p:txBody>
      </p:sp>
      <p:sp>
        <p:nvSpPr>
          <p:cNvPr id="20" name="TextBox 19"/>
          <p:cNvSpPr txBox="1"/>
          <p:nvPr/>
        </p:nvSpPr>
        <p:spPr>
          <a:xfrm>
            <a:off x="6300216" y="2167128"/>
            <a:ext cx="658368" cy="201168"/>
          </a:xfrm>
          <a:prstGeom prst="rect">
            <a:avLst/>
          </a:prstGeom>
          <a:noFill/>
        </p:spPr>
        <p:txBody>
          <a:bodyPr wrap="square" lIns="36576" tIns="36576" rIns="36576" bIns="36576" anchor="t">
            <a:spAutoFit/>
          </a:bodyPr>
          <a:lstStyle/>
          <a:p>
            <a:pPr algn="l"/>
            <a:r>
              <a:rPr sz="819" b="1" i="0">
                <a:solidFill>
                  <a:srgbClr val="12B8A6"/>
                </a:solidFill>
                <a:latin typeface="Aptos"/>
              </a:rPr>
              <a:t>WHAT IT TELLS</a:t>
            </a:r>
          </a:p>
        </p:txBody>
      </p:sp>
      <p:sp>
        <p:nvSpPr>
          <p:cNvPr id="21" name="TextBox 20"/>
          <p:cNvSpPr txBox="1"/>
          <p:nvPr/>
        </p:nvSpPr>
        <p:spPr>
          <a:xfrm>
            <a:off x="6300216" y="2368296"/>
            <a:ext cx="5129784" cy="658368"/>
          </a:xfrm>
          <a:prstGeom prst="rect">
            <a:avLst/>
          </a:prstGeom>
          <a:noFill/>
        </p:spPr>
        <p:txBody>
          <a:bodyPr wrap="square" lIns="36576" tIns="36576" rIns="36576" bIns="36576" anchor="t">
            <a:spAutoFit/>
          </a:bodyPr>
          <a:lstStyle/>
          <a:p>
            <a:pPr algn="l"/>
            <a:r>
              <a:rPr sz="1050" b="0" i="0">
                <a:solidFill>
                  <a:srgbClr val="111827"/>
                </a:solidFill>
                <a:latin typeface="Aptos"/>
              </a:rPr>
              <a:t>Introduces a latent knowledge retriever so a language model can retrieve documents from a large corpus instead of storing all knowledge only inside model parameters. It emphasizes modularity and interpretability.</a:t>
            </a:r>
          </a:p>
        </p:txBody>
      </p:sp>
      <p:sp>
        <p:nvSpPr>
          <p:cNvPr id="22" name="TextBox 21"/>
          <p:cNvSpPr txBox="1"/>
          <p:nvPr/>
        </p:nvSpPr>
        <p:spPr>
          <a:xfrm>
            <a:off x="6300216" y="3090672"/>
            <a:ext cx="658368" cy="201168"/>
          </a:xfrm>
          <a:prstGeom prst="rect">
            <a:avLst/>
          </a:prstGeom>
          <a:noFill/>
        </p:spPr>
        <p:txBody>
          <a:bodyPr wrap="square" lIns="36576" tIns="36576" rIns="36576" bIns="36576" anchor="t">
            <a:spAutoFit/>
          </a:bodyPr>
          <a:lstStyle/>
          <a:p>
            <a:pPr algn="l"/>
            <a:r>
              <a:rPr sz="819" b="1" i="0">
                <a:solidFill>
                  <a:srgbClr val="12B8A6"/>
                </a:solidFill>
                <a:latin typeface="Aptos"/>
              </a:rPr>
              <a:t>WHY WE USE IT</a:t>
            </a:r>
          </a:p>
        </p:txBody>
      </p:sp>
      <p:sp>
        <p:nvSpPr>
          <p:cNvPr id="23" name="TextBox 22"/>
          <p:cNvSpPr txBox="1"/>
          <p:nvPr/>
        </p:nvSpPr>
        <p:spPr>
          <a:xfrm>
            <a:off x="6300216" y="3291839"/>
            <a:ext cx="5129784" cy="612648"/>
          </a:xfrm>
          <a:prstGeom prst="rect">
            <a:avLst/>
          </a:prstGeom>
          <a:noFill/>
        </p:spPr>
        <p:txBody>
          <a:bodyPr wrap="square" lIns="36576" tIns="36576" rIns="36576" bIns="36576" anchor="t">
            <a:spAutoFit/>
          </a:bodyPr>
          <a:lstStyle/>
          <a:p>
            <a:pPr algn="l"/>
            <a:r>
              <a:rPr sz="1019" b="0" i="0">
                <a:solidFill>
                  <a:srgbClr val="111827"/>
                </a:solidFill>
                <a:latin typeface="Aptos"/>
              </a:rPr>
              <a:t>It supports our architectural decision to keep enterprise knowledge in an external index that can be updated without retraining the LLM itself.</a:t>
            </a:r>
          </a:p>
        </p:txBody>
      </p:sp>
      <p:sp>
        <p:nvSpPr>
          <p:cNvPr id="24" name="TextBox 23"/>
          <p:cNvSpPr txBox="1"/>
          <p:nvPr/>
        </p:nvSpPr>
        <p:spPr>
          <a:xfrm>
            <a:off x="6300216" y="5413248"/>
            <a:ext cx="5129784" cy="164592"/>
          </a:xfrm>
          <a:prstGeom prst="rect">
            <a:avLst/>
          </a:prstGeom>
          <a:noFill/>
        </p:spPr>
        <p:txBody>
          <a:bodyPr wrap="square" lIns="36576" tIns="36576" rIns="36576" bIns="36576" anchor="t">
            <a:spAutoFit/>
          </a:bodyPr>
          <a:lstStyle/>
          <a:p>
            <a:pPr algn="l"/>
            <a:r>
              <a:rPr sz="740" b="0" i="0">
                <a:solidFill>
                  <a:srgbClr val="667085"/>
                </a:solidFill>
                <a:latin typeface="Aptos"/>
              </a:rPr>
              <a:t>Kelvin Guu et al. • REALM</a:t>
            </a:r>
          </a:p>
        </p:txBody>
      </p:sp>
      <p:sp>
        <p:nvSpPr>
          <p:cNvPr id="25" name="TextBox 24"/>
          <p:cNvSpPr txBox="1"/>
          <p:nvPr/>
        </p:nvSpPr>
        <p:spPr>
          <a:xfrm>
            <a:off x="6345936" y="5189221"/>
            <a:ext cx="5129784" cy="164592"/>
          </a:xfrm>
          <a:prstGeom prst="rect">
            <a:avLst/>
          </a:prstGeom>
          <a:noFill/>
        </p:spPr>
        <p:txBody>
          <a:bodyPr wrap="none" lIns="0" rIns="0">
            <a:spAutoFit/>
          </a:bodyPr>
          <a:lstStyle/>
          <a:p>
            <a:pPr>
              <a:defRPr sz="740">
                <a:solidFill>
                  <a:srgbClr val="3155F6"/>
                </a:solidFill>
                <a:latin typeface="Aptos"/>
              </a:defRPr>
            </a:pPr>
            <a:r>
              <a:rPr sz="740">
                <a:solidFill>
                  <a:srgbClr val="3155F6"/>
                </a:solidFill>
                <a:latin typeface="Aptos"/>
                <a:hlinkClick r:id="rId3"/>
              </a:rPr>
              <a:t>Open paper</a:t>
            </a:r>
          </a:p>
        </p:txBody>
      </p:sp>
      <p:sp>
        <p:nvSpPr>
          <p:cNvPr id="26" name="Rectangle 25"/>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28" name="TextBox 27"/>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789920" cy="438912"/>
          </a:xfrm>
          <a:prstGeom prst="rect">
            <a:avLst/>
          </a:prstGeom>
          <a:noFill/>
        </p:spPr>
        <p:txBody>
          <a:bodyPr wrap="square" lIns="36576" tIns="36576" rIns="36576" bIns="36576" anchor="t">
            <a:spAutoFit/>
          </a:bodyPr>
          <a:lstStyle/>
          <a:p>
            <a:pPr algn="l"/>
            <a:r>
              <a:rPr sz="2200" b="1" i="0">
                <a:solidFill>
                  <a:srgbClr val="111827"/>
                </a:solidFill>
                <a:latin typeface="Aptos Display"/>
              </a:rPr>
              <a:t>Week 2B. Why retrieval and context selection matter</a:t>
            </a:r>
          </a:p>
        </p:txBody>
      </p:sp>
      <p:sp>
        <p:nvSpPr>
          <p:cNvPr id="3" name="TextBox 2"/>
          <p:cNvSpPr txBox="1"/>
          <p:nvPr/>
        </p:nvSpPr>
        <p:spPr>
          <a:xfrm>
            <a:off x="612648" y="841248"/>
            <a:ext cx="10698480" cy="292608"/>
          </a:xfrm>
          <a:prstGeom prst="rect">
            <a:avLst/>
          </a:prstGeom>
          <a:noFill/>
        </p:spPr>
        <p:txBody>
          <a:bodyPr wrap="square" lIns="36576" tIns="36576" rIns="36576" bIns="36576" anchor="t">
            <a:spAutoFit/>
          </a:bodyPr>
          <a:lstStyle/>
          <a:p>
            <a:pPr algn="l"/>
            <a:r>
              <a:rPr sz="950" b="0" i="0">
                <a:solidFill>
                  <a:srgbClr val="667085"/>
                </a:solidFill>
                <a:latin typeface="Aptos"/>
              </a:rPr>
              <a:t>The next studies explain why we should retrieve focused evidence instead of sending entire document collections to the LLM.</a:t>
            </a:r>
          </a:p>
        </p:txBody>
      </p:sp>
      <p:sp>
        <p:nvSpPr>
          <p:cNvPr id="4" name="Rounded Rectangle 3"/>
          <p:cNvSpPr/>
          <p:nvPr/>
        </p:nvSpPr>
        <p:spPr>
          <a:xfrm>
            <a:off x="621792" y="1325880"/>
            <a:ext cx="5440680" cy="452628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68096" y="1463039"/>
            <a:ext cx="457200" cy="256032"/>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504187"/>
            <a:ext cx="402336" cy="164592"/>
          </a:xfrm>
          <a:prstGeom prst="rect">
            <a:avLst/>
          </a:prstGeom>
          <a:noFill/>
        </p:spPr>
        <p:txBody>
          <a:bodyPr wrap="square" lIns="36576" tIns="36576" rIns="36576" bIns="36576" anchor="t">
            <a:spAutoFit/>
          </a:bodyPr>
          <a:lstStyle/>
          <a:p>
            <a:pPr algn="ctr"/>
            <a:r>
              <a:rPr sz="750" b="1" i="0">
                <a:solidFill>
                  <a:srgbClr val="FFFFFF"/>
                </a:solidFill>
                <a:latin typeface="Aptos"/>
              </a:rPr>
              <a:t>P3</a:t>
            </a:r>
          </a:p>
        </p:txBody>
      </p:sp>
      <p:sp>
        <p:nvSpPr>
          <p:cNvPr id="7" name="TextBox 6"/>
          <p:cNvSpPr txBox="1"/>
          <p:nvPr/>
        </p:nvSpPr>
        <p:spPr>
          <a:xfrm>
            <a:off x="1316736" y="1444752"/>
            <a:ext cx="4599432" cy="347472"/>
          </a:xfrm>
          <a:prstGeom prst="rect">
            <a:avLst/>
          </a:prstGeom>
          <a:noFill/>
        </p:spPr>
        <p:txBody>
          <a:bodyPr wrap="square" lIns="36576" tIns="36576" rIns="36576" bIns="36576" anchor="t">
            <a:spAutoFit/>
          </a:bodyPr>
          <a:lstStyle/>
          <a:p>
            <a:pPr algn="l"/>
            <a:r>
              <a:rPr sz="1400" b="1" i="0">
                <a:solidFill>
                  <a:srgbClr val="111827"/>
                </a:solidFill>
                <a:latin typeface="Aptos Display"/>
              </a:rPr>
              <a:t>RAG for Large Language Models: A Survey</a:t>
            </a:r>
          </a:p>
        </p:txBody>
      </p:sp>
      <p:sp>
        <p:nvSpPr>
          <p:cNvPr id="8" name="TextBox 7"/>
          <p:cNvSpPr txBox="1"/>
          <p:nvPr/>
        </p:nvSpPr>
        <p:spPr>
          <a:xfrm>
            <a:off x="777240" y="1828800"/>
            <a:ext cx="5129784" cy="274320"/>
          </a:xfrm>
          <a:prstGeom prst="rect">
            <a:avLst/>
          </a:prstGeom>
          <a:noFill/>
        </p:spPr>
        <p:txBody>
          <a:bodyPr wrap="square" lIns="36576" tIns="36576" rIns="36576" bIns="36576" anchor="t">
            <a:spAutoFit/>
          </a:bodyPr>
          <a:lstStyle/>
          <a:p>
            <a:pPr algn="l"/>
            <a:r>
              <a:rPr sz="840" b="0" i="0">
                <a:solidFill>
                  <a:srgbClr val="667085"/>
                </a:solidFill>
                <a:latin typeface="Aptos"/>
              </a:rPr>
              <a:t>Gao et al. • 2023/2024 • Survey</a:t>
            </a:r>
          </a:p>
        </p:txBody>
      </p:sp>
      <p:sp>
        <p:nvSpPr>
          <p:cNvPr id="9" name="TextBox 8"/>
          <p:cNvSpPr txBox="1"/>
          <p:nvPr/>
        </p:nvSpPr>
        <p:spPr>
          <a:xfrm>
            <a:off x="777240" y="2167128"/>
            <a:ext cx="658368" cy="201168"/>
          </a:xfrm>
          <a:prstGeom prst="rect">
            <a:avLst/>
          </a:prstGeom>
          <a:noFill/>
        </p:spPr>
        <p:txBody>
          <a:bodyPr wrap="square" lIns="36576" tIns="36576" rIns="36576" bIns="36576" anchor="t">
            <a:spAutoFit/>
          </a:bodyPr>
          <a:lstStyle/>
          <a:p>
            <a:pPr algn="l"/>
            <a:r>
              <a:rPr sz="819" b="1" i="0">
                <a:solidFill>
                  <a:srgbClr val="8B5CF6"/>
                </a:solidFill>
                <a:latin typeface="Aptos"/>
              </a:rPr>
              <a:t>WHAT IT TELLS</a:t>
            </a:r>
          </a:p>
        </p:txBody>
      </p:sp>
      <p:sp>
        <p:nvSpPr>
          <p:cNvPr id="10" name="TextBox 9"/>
          <p:cNvSpPr txBox="1"/>
          <p:nvPr/>
        </p:nvSpPr>
        <p:spPr>
          <a:xfrm>
            <a:off x="777240" y="2368296"/>
            <a:ext cx="5129784" cy="658368"/>
          </a:xfrm>
          <a:prstGeom prst="rect">
            <a:avLst/>
          </a:prstGeom>
          <a:noFill/>
        </p:spPr>
        <p:txBody>
          <a:bodyPr wrap="square" lIns="36576" tIns="36576" rIns="36576" bIns="36576" anchor="t">
            <a:spAutoFit/>
          </a:bodyPr>
          <a:lstStyle/>
          <a:p>
            <a:pPr algn="l"/>
            <a:r>
              <a:rPr sz="1050" b="0" i="0">
                <a:solidFill>
                  <a:srgbClr val="111827"/>
                </a:solidFill>
                <a:latin typeface="Aptos"/>
              </a:rPr>
              <a:t>Surveys the evolution of RAG, including Naive, Advanced and Modular RAG, and organizes the system into retrieval, augmentation and generation stages. It also discusses hallucination, outdated knowledge and evaluation challenges.</a:t>
            </a:r>
          </a:p>
        </p:txBody>
      </p:sp>
      <p:sp>
        <p:nvSpPr>
          <p:cNvPr id="11" name="TextBox 10"/>
          <p:cNvSpPr txBox="1"/>
          <p:nvPr/>
        </p:nvSpPr>
        <p:spPr>
          <a:xfrm>
            <a:off x="777240" y="3090672"/>
            <a:ext cx="658368" cy="201168"/>
          </a:xfrm>
          <a:prstGeom prst="rect">
            <a:avLst/>
          </a:prstGeom>
          <a:noFill/>
        </p:spPr>
        <p:txBody>
          <a:bodyPr wrap="square" lIns="36576" tIns="36576" rIns="36576" bIns="36576" anchor="t">
            <a:spAutoFit/>
          </a:bodyPr>
          <a:lstStyle/>
          <a:p>
            <a:pPr algn="l"/>
            <a:r>
              <a:rPr sz="819" b="1" i="0">
                <a:solidFill>
                  <a:srgbClr val="12B8A6"/>
                </a:solidFill>
                <a:latin typeface="Aptos"/>
              </a:rPr>
              <a:t>WHY WE USE IT</a:t>
            </a:r>
          </a:p>
        </p:txBody>
      </p:sp>
      <p:sp>
        <p:nvSpPr>
          <p:cNvPr id="12" name="TextBox 11"/>
          <p:cNvSpPr txBox="1"/>
          <p:nvPr/>
        </p:nvSpPr>
        <p:spPr>
          <a:xfrm>
            <a:off x="777240" y="3291839"/>
            <a:ext cx="5129784" cy="612648"/>
          </a:xfrm>
          <a:prstGeom prst="rect">
            <a:avLst/>
          </a:prstGeom>
          <a:noFill/>
        </p:spPr>
        <p:txBody>
          <a:bodyPr wrap="square" lIns="36576" tIns="36576" rIns="36576" bIns="36576" anchor="t">
            <a:spAutoFit/>
          </a:bodyPr>
          <a:lstStyle/>
          <a:p>
            <a:pPr algn="l"/>
            <a:r>
              <a:rPr sz="1019" b="0" i="0">
                <a:solidFill>
                  <a:srgbClr val="111827"/>
                </a:solidFill>
                <a:latin typeface="Aptos"/>
              </a:rPr>
              <a:t>It gives us the vocabulary and design space to explain which RAG variant our prototype is using and what can be upgraded later.</a:t>
            </a:r>
          </a:p>
        </p:txBody>
      </p:sp>
      <p:sp>
        <p:nvSpPr>
          <p:cNvPr id="13" name="TextBox 12"/>
          <p:cNvSpPr txBox="1"/>
          <p:nvPr/>
        </p:nvSpPr>
        <p:spPr>
          <a:xfrm>
            <a:off x="777240" y="5413248"/>
            <a:ext cx="5129784" cy="164592"/>
          </a:xfrm>
          <a:prstGeom prst="rect">
            <a:avLst/>
          </a:prstGeom>
          <a:noFill/>
        </p:spPr>
        <p:txBody>
          <a:bodyPr wrap="square" lIns="36576" tIns="36576" rIns="36576" bIns="36576" anchor="t">
            <a:spAutoFit/>
          </a:bodyPr>
          <a:lstStyle/>
          <a:p>
            <a:pPr algn="l"/>
            <a:r>
              <a:rPr sz="740" b="0" i="0">
                <a:solidFill>
                  <a:srgbClr val="667085"/>
                </a:solidFill>
                <a:latin typeface="Aptos"/>
              </a:rPr>
              <a:t>Yunfan Gao et al. • RAG Survey</a:t>
            </a:r>
          </a:p>
        </p:txBody>
      </p:sp>
      <p:sp>
        <p:nvSpPr>
          <p:cNvPr id="14" name="TextBox 13"/>
          <p:cNvSpPr txBox="1"/>
          <p:nvPr/>
        </p:nvSpPr>
        <p:spPr>
          <a:xfrm>
            <a:off x="859536" y="5230839"/>
            <a:ext cx="576072" cy="206210"/>
          </a:xfrm>
          <a:prstGeom prst="rect">
            <a:avLst/>
          </a:prstGeom>
          <a:noFill/>
        </p:spPr>
        <p:txBody>
          <a:bodyPr wrap="square" lIns="0" rIns="0">
            <a:spAutoFit/>
          </a:bodyPr>
          <a:lstStyle/>
          <a:p>
            <a:pPr>
              <a:defRPr sz="740">
                <a:solidFill>
                  <a:srgbClr val="3155F6"/>
                </a:solidFill>
                <a:latin typeface="Aptos"/>
              </a:defRPr>
            </a:pPr>
            <a:r>
              <a:rPr sz="740" dirty="0">
                <a:solidFill>
                  <a:srgbClr val="3155F6"/>
                </a:solidFill>
                <a:latin typeface="Aptos"/>
                <a:hlinkClick r:id="rId2"/>
              </a:rPr>
              <a:t>Open paper</a:t>
            </a:r>
          </a:p>
        </p:txBody>
      </p:sp>
      <p:sp>
        <p:nvSpPr>
          <p:cNvPr id="15" name="Rounded Rectangle 14"/>
          <p:cNvSpPr/>
          <p:nvPr/>
        </p:nvSpPr>
        <p:spPr>
          <a:xfrm>
            <a:off x="6144768" y="1325880"/>
            <a:ext cx="5440680" cy="452628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91072" y="1463039"/>
            <a:ext cx="457200" cy="256032"/>
          </a:xfrm>
          <a:prstGeom prst="roundRect">
            <a:avLst/>
          </a:prstGeom>
          <a:solidFill>
            <a:srgbClr val="F59E0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18504" y="1504187"/>
            <a:ext cx="402336" cy="164592"/>
          </a:xfrm>
          <a:prstGeom prst="rect">
            <a:avLst/>
          </a:prstGeom>
          <a:noFill/>
        </p:spPr>
        <p:txBody>
          <a:bodyPr wrap="square" lIns="36576" tIns="36576" rIns="36576" bIns="36576" anchor="t">
            <a:spAutoFit/>
          </a:bodyPr>
          <a:lstStyle/>
          <a:p>
            <a:pPr algn="ctr"/>
            <a:r>
              <a:rPr sz="750" b="1" i="0">
                <a:solidFill>
                  <a:srgbClr val="FFFFFF"/>
                </a:solidFill>
                <a:latin typeface="Aptos"/>
              </a:rPr>
              <a:t>P4</a:t>
            </a:r>
          </a:p>
        </p:txBody>
      </p:sp>
      <p:sp>
        <p:nvSpPr>
          <p:cNvPr id="18" name="TextBox 17"/>
          <p:cNvSpPr txBox="1"/>
          <p:nvPr/>
        </p:nvSpPr>
        <p:spPr>
          <a:xfrm>
            <a:off x="6839712" y="1444752"/>
            <a:ext cx="4599432" cy="347472"/>
          </a:xfrm>
          <a:prstGeom prst="rect">
            <a:avLst/>
          </a:prstGeom>
          <a:noFill/>
        </p:spPr>
        <p:txBody>
          <a:bodyPr wrap="square" lIns="36576" tIns="36576" rIns="36576" bIns="36576" anchor="t">
            <a:spAutoFit/>
          </a:bodyPr>
          <a:lstStyle/>
          <a:p>
            <a:pPr algn="l"/>
            <a:r>
              <a:rPr sz="1400" b="1" i="0">
                <a:solidFill>
                  <a:srgbClr val="111827"/>
                </a:solidFill>
                <a:latin typeface="Aptos Display"/>
              </a:rPr>
              <a:t>Lost in the Middle: How Language Models Use Long Contexts</a:t>
            </a:r>
          </a:p>
        </p:txBody>
      </p:sp>
      <p:sp>
        <p:nvSpPr>
          <p:cNvPr id="19" name="TextBox 18"/>
          <p:cNvSpPr txBox="1"/>
          <p:nvPr/>
        </p:nvSpPr>
        <p:spPr>
          <a:xfrm>
            <a:off x="6300216" y="1828800"/>
            <a:ext cx="5129784" cy="274320"/>
          </a:xfrm>
          <a:prstGeom prst="rect">
            <a:avLst/>
          </a:prstGeom>
          <a:noFill/>
        </p:spPr>
        <p:txBody>
          <a:bodyPr wrap="square" lIns="36576" tIns="36576" rIns="36576" bIns="36576" anchor="t">
            <a:spAutoFit/>
          </a:bodyPr>
          <a:lstStyle/>
          <a:p>
            <a:pPr algn="l"/>
            <a:r>
              <a:rPr sz="840" b="0" i="0">
                <a:solidFill>
                  <a:srgbClr val="667085"/>
                </a:solidFill>
                <a:latin typeface="Aptos"/>
              </a:rPr>
              <a:t>Liu et al. • 2023 / TACL 2024</a:t>
            </a:r>
          </a:p>
        </p:txBody>
      </p:sp>
      <p:sp>
        <p:nvSpPr>
          <p:cNvPr id="20" name="TextBox 19"/>
          <p:cNvSpPr txBox="1"/>
          <p:nvPr/>
        </p:nvSpPr>
        <p:spPr>
          <a:xfrm>
            <a:off x="6300216" y="2167128"/>
            <a:ext cx="658368" cy="201168"/>
          </a:xfrm>
          <a:prstGeom prst="rect">
            <a:avLst/>
          </a:prstGeom>
          <a:noFill/>
        </p:spPr>
        <p:txBody>
          <a:bodyPr wrap="square" lIns="36576" tIns="36576" rIns="36576" bIns="36576" anchor="t">
            <a:spAutoFit/>
          </a:bodyPr>
          <a:lstStyle/>
          <a:p>
            <a:pPr algn="l"/>
            <a:r>
              <a:rPr sz="819" b="1" i="0">
                <a:solidFill>
                  <a:srgbClr val="F59E0B"/>
                </a:solidFill>
                <a:latin typeface="Aptos"/>
              </a:rPr>
              <a:t>WHAT IT TELLS</a:t>
            </a:r>
          </a:p>
        </p:txBody>
      </p:sp>
      <p:sp>
        <p:nvSpPr>
          <p:cNvPr id="21" name="TextBox 20"/>
          <p:cNvSpPr txBox="1"/>
          <p:nvPr/>
        </p:nvSpPr>
        <p:spPr>
          <a:xfrm>
            <a:off x="6300216" y="2368296"/>
            <a:ext cx="5129784" cy="658368"/>
          </a:xfrm>
          <a:prstGeom prst="rect">
            <a:avLst/>
          </a:prstGeom>
          <a:noFill/>
        </p:spPr>
        <p:txBody>
          <a:bodyPr wrap="square" lIns="36576" tIns="36576" rIns="36576" bIns="36576" anchor="t">
            <a:spAutoFit/>
          </a:bodyPr>
          <a:lstStyle/>
          <a:p>
            <a:pPr algn="l"/>
            <a:r>
              <a:rPr sz="1050" b="0" i="0">
                <a:solidFill>
                  <a:srgbClr val="111827"/>
                </a:solidFill>
                <a:latin typeface="Aptos"/>
              </a:rPr>
              <a:t>Shows that model performance can degrade when relevant information is buried in the middle of long contexts. Longer context windows do not automatically mean better use of all information.</a:t>
            </a:r>
          </a:p>
        </p:txBody>
      </p:sp>
      <p:sp>
        <p:nvSpPr>
          <p:cNvPr id="22" name="TextBox 21"/>
          <p:cNvSpPr txBox="1"/>
          <p:nvPr/>
        </p:nvSpPr>
        <p:spPr>
          <a:xfrm>
            <a:off x="6300216" y="3090672"/>
            <a:ext cx="658368" cy="201168"/>
          </a:xfrm>
          <a:prstGeom prst="rect">
            <a:avLst/>
          </a:prstGeom>
          <a:noFill/>
        </p:spPr>
        <p:txBody>
          <a:bodyPr wrap="square" lIns="36576" tIns="36576" rIns="36576" bIns="36576" anchor="t">
            <a:spAutoFit/>
          </a:bodyPr>
          <a:lstStyle/>
          <a:p>
            <a:pPr algn="l"/>
            <a:r>
              <a:rPr sz="819" b="1" i="0">
                <a:solidFill>
                  <a:srgbClr val="12B8A6"/>
                </a:solidFill>
                <a:latin typeface="Aptos"/>
              </a:rPr>
              <a:t>WHY WE USE IT</a:t>
            </a:r>
          </a:p>
        </p:txBody>
      </p:sp>
      <p:sp>
        <p:nvSpPr>
          <p:cNvPr id="23" name="TextBox 22"/>
          <p:cNvSpPr txBox="1"/>
          <p:nvPr/>
        </p:nvSpPr>
        <p:spPr>
          <a:xfrm>
            <a:off x="6300216" y="3291839"/>
            <a:ext cx="5129784" cy="612648"/>
          </a:xfrm>
          <a:prstGeom prst="rect">
            <a:avLst/>
          </a:prstGeom>
          <a:noFill/>
        </p:spPr>
        <p:txBody>
          <a:bodyPr wrap="square" lIns="36576" tIns="36576" rIns="36576" bIns="36576" anchor="t">
            <a:spAutoFit/>
          </a:bodyPr>
          <a:lstStyle/>
          <a:p>
            <a:pPr algn="l"/>
            <a:r>
              <a:rPr sz="1019" b="0" i="0">
                <a:solidFill>
                  <a:srgbClr val="111827"/>
                </a:solidFill>
                <a:latin typeface="Aptos"/>
              </a:rPr>
              <a:t>This supports chunking + semantic retrieval: our assistant should pass the LLM the most relevant evidence, not hundreds of unrelated pages.</a:t>
            </a:r>
          </a:p>
        </p:txBody>
      </p:sp>
      <p:sp>
        <p:nvSpPr>
          <p:cNvPr id="24" name="TextBox 23"/>
          <p:cNvSpPr txBox="1"/>
          <p:nvPr/>
        </p:nvSpPr>
        <p:spPr>
          <a:xfrm>
            <a:off x="6300216" y="5413248"/>
            <a:ext cx="5129784" cy="164592"/>
          </a:xfrm>
          <a:prstGeom prst="rect">
            <a:avLst/>
          </a:prstGeom>
          <a:noFill/>
        </p:spPr>
        <p:txBody>
          <a:bodyPr wrap="square" lIns="36576" tIns="36576" rIns="36576" bIns="36576" anchor="t">
            <a:spAutoFit/>
          </a:bodyPr>
          <a:lstStyle/>
          <a:p>
            <a:pPr algn="l"/>
            <a:r>
              <a:rPr sz="740" b="0" i="0">
                <a:solidFill>
                  <a:srgbClr val="667085"/>
                </a:solidFill>
                <a:latin typeface="Aptos"/>
              </a:rPr>
              <a:t>Nelson F. Liu et al. • TACL</a:t>
            </a:r>
          </a:p>
        </p:txBody>
      </p:sp>
      <p:sp>
        <p:nvSpPr>
          <p:cNvPr id="25" name="TextBox 24"/>
          <p:cNvSpPr txBox="1"/>
          <p:nvPr/>
        </p:nvSpPr>
        <p:spPr>
          <a:xfrm>
            <a:off x="6345936" y="5230369"/>
            <a:ext cx="5129784" cy="164592"/>
          </a:xfrm>
          <a:prstGeom prst="rect">
            <a:avLst/>
          </a:prstGeom>
          <a:noFill/>
        </p:spPr>
        <p:txBody>
          <a:bodyPr wrap="none" lIns="0" rIns="0">
            <a:spAutoFit/>
          </a:bodyPr>
          <a:lstStyle/>
          <a:p>
            <a:pPr>
              <a:defRPr sz="740">
                <a:solidFill>
                  <a:srgbClr val="3155F6"/>
                </a:solidFill>
                <a:latin typeface="Aptos"/>
              </a:defRPr>
            </a:pPr>
            <a:r>
              <a:rPr sz="740" dirty="0">
                <a:solidFill>
                  <a:srgbClr val="3155F6"/>
                </a:solidFill>
                <a:latin typeface="Aptos"/>
                <a:hlinkClick r:id="rId3"/>
              </a:rPr>
              <a:t>Open paper</a:t>
            </a:r>
          </a:p>
        </p:txBody>
      </p:sp>
      <p:sp>
        <p:nvSpPr>
          <p:cNvPr id="26" name="Rectangle 25"/>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28" name="TextBox 27"/>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15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789920" cy="438912"/>
          </a:xfrm>
          <a:prstGeom prst="rect">
            <a:avLst/>
          </a:prstGeom>
          <a:noFill/>
        </p:spPr>
        <p:txBody>
          <a:bodyPr wrap="square" lIns="36576" tIns="36576" rIns="36576" bIns="36576" anchor="t">
            <a:spAutoFit/>
          </a:bodyPr>
          <a:lstStyle/>
          <a:p>
            <a:pPr algn="l"/>
            <a:r>
              <a:rPr sz="2200" b="1" i="0">
                <a:solidFill>
                  <a:srgbClr val="111827"/>
                </a:solidFill>
                <a:latin typeface="Aptos Display"/>
              </a:rPr>
              <a:t>Week 2C. Improving RAG when retrieval is imperfect</a:t>
            </a:r>
          </a:p>
        </p:txBody>
      </p:sp>
      <p:sp>
        <p:nvSpPr>
          <p:cNvPr id="3" name="TextBox 2"/>
          <p:cNvSpPr txBox="1"/>
          <p:nvPr/>
        </p:nvSpPr>
        <p:spPr>
          <a:xfrm>
            <a:off x="612648" y="841248"/>
            <a:ext cx="10698480" cy="292608"/>
          </a:xfrm>
          <a:prstGeom prst="rect">
            <a:avLst/>
          </a:prstGeom>
          <a:noFill/>
        </p:spPr>
        <p:txBody>
          <a:bodyPr wrap="square" lIns="36576" tIns="36576" rIns="36576" bIns="36576" anchor="t">
            <a:spAutoFit/>
          </a:bodyPr>
          <a:lstStyle/>
          <a:p>
            <a:pPr algn="l"/>
            <a:r>
              <a:rPr sz="950" b="0" i="0">
                <a:solidFill>
                  <a:srgbClr val="667085"/>
                </a:solidFill>
                <a:latin typeface="Aptos"/>
              </a:rPr>
              <a:t>These papers move beyond basic RAG and show directions for making the system more robust.</a:t>
            </a:r>
          </a:p>
        </p:txBody>
      </p:sp>
      <p:sp>
        <p:nvSpPr>
          <p:cNvPr id="4" name="Rounded Rectangle 3"/>
          <p:cNvSpPr/>
          <p:nvPr/>
        </p:nvSpPr>
        <p:spPr>
          <a:xfrm>
            <a:off x="621792" y="1325880"/>
            <a:ext cx="5440680" cy="452628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68096" y="1463039"/>
            <a:ext cx="457200" cy="256032"/>
          </a:xfrm>
          <a:prstGeom prst="roundRect">
            <a:avLst/>
          </a:prstGeom>
          <a:solidFill>
            <a:srgbClr val="22C55E"/>
          </a:solidFill>
          <a:ln w="1016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504187"/>
            <a:ext cx="402336" cy="164592"/>
          </a:xfrm>
          <a:prstGeom prst="rect">
            <a:avLst/>
          </a:prstGeom>
          <a:noFill/>
        </p:spPr>
        <p:txBody>
          <a:bodyPr wrap="square" lIns="36576" tIns="36576" rIns="36576" bIns="36576" anchor="t">
            <a:spAutoFit/>
          </a:bodyPr>
          <a:lstStyle/>
          <a:p>
            <a:pPr algn="ctr"/>
            <a:r>
              <a:rPr sz="750" b="1" i="0">
                <a:solidFill>
                  <a:srgbClr val="FFFFFF"/>
                </a:solidFill>
                <a:latin typeface="Aptos"/>
              </a:rPr>
              <a:t>P5</a:t>
            </a:r>
          </a:p>
        </p:txBody>
      </p:sp>
      <p:sp>
        <p:nvSpPr>
          <p:cNvPr id="7" name="TextBox 6"/>
          <p:cNvSpPr txBox="1"/>
          <p:nvPr/>
        </p:nvSpPr>
        <p:spPr>
          <a:xfrm>
            <a:off x="1316736" y="1444752"/>
            <a:ext cx="4599432" cy="347472"/>
          </a:xfrm>
          <a:prstGeom prst="rect">
            <a:avLst/>
          </a:prstGeom>
          <a:noFill/>
        </p:spPr>
        <p:txBody>
          <a:bodyPr wrap="square" lIns="36576" tIns="36576" rIns="36576" bIns="36576" anchor="t">
            <a:spAutoFit/>
          </a:bodyPr>
          <a:lstStyle/>
          <a:p>
            <a:pPr algn="l"/>
            <a:r>
              <a:rPr sz="1400" b="1" i="0">
                <a:solidFill>
                  <a:srgbClr val="111827"/>
                </a:solidFill>
                <a:latin typeface="Aptos Display"/>
              </a:rPr>
              <a:t>Self-RAG: Learning to Retrieve, Generate, and Critique</a:t>
            </a:r>
          </a:p>
        </p:txBody>
      </p:sp>
      <p:sp>
        <p:nvSpPr>
          <p:cNvPr id="8" name="TextBox 7"/>
          <p:cNvSpPr txBox="1"/>
          <p:nvPr/>
        </p:nvSpPr>
        <p:spPr>
          <a:xfrm>
            <a:off x="777240" y="1828800"/>
            <a:ext cx="5129784" cy="274320"/>
          </a:xfrm>
          <a:prstGeom prst="rect">
            <a:avLst/>
          </a:prstGeom>
          <a:noFill/>
        </p:spPr>
        <p:txBody>
          <a:bodyPr wrap="square" lIns="36576" tIns="36576" rIns="36576" bIns="36576" anchor="t">
            <a:spAutoFit/>
          </a:bodyPr>
          <a:lstStyle/>
          <a:p>
            <a:pPr algn="l"/>
            <a:r>
              <a:rPr sz="840" b="0" i="0">
                <a:solidFill>
                  <a:srgbClr val="667085"/>
                </a:solidFill>
                <a:latin typeface="Aptos"/>
              </a:rPr>
              <a:t>Asai et al. • 2023 • arXiv 2310.11511</a:t>
            </a:r>
          </a:p>
        </p:txBody>
      </p:sp>
      <p:sp>
        <p:nvSpPr>
          <p:cNvPr id="9" name="TextBox 8"/>
          <p:cNvSpPr txBox="1"/>
          <p:nvPr/>
        </p:nvSpPr>
        <p:spPr>
          <a:xfrm>
            <a:off x="777240" y="2167128"/>
            <a:ext cx="658368" cy="201168"/>
          </a:xfrm>
          <a:prstGeom prst="rect">
            <a:avLst/>
          </a:prstGeom>
          <a:noFill/>
        </p:spPr>
        <p:txBody>
          <a:bodyPr wrap="square" lIns="36576" tIns="36576" rIns="36576" bIns="36576" anchor="t">
            <a:spAutoFit/>
          </a:bodyPr>
          <a:lstStyle/>
          <a:p>
            <a:pPr algn="l"/>
            <a:r>
              <a:rPr sz="819" b="1" i="0">
                <a:solidFill>
                  <a:srgbClr val="22C55E"/>
                </a:solidFill>
                <a:latin typeface="Aptos"/>
              </a:rPr>
              <a:t>WHAT IT TELLS</a:t>
            </a:r>
          </a:p>
        </p:txBody>
      </p:sp>
      <p:sp>
        <p:nvSpPr>
          <p:cNvPr id="10" name="TextBox 9"/>
          <p:cNvSpPr txBox="1"/>
          <p:nvPr/>
        </p:nvSpPr>
        <p:spPr>
          <a:xfrm>
            <a:off x="777240" y="2368296"/>
            <a:ext cx="5129784" cy="658368"/>
          </a:xfrm>
          <a:prstGeom prst="rect">
            <a:avLst/>
          </a:prstGeom>
          <a:noFill/>
        </p:spPr>
        <p:txBody>
          <a:bodyPr wrap="square" lIns="36576" tIns="36576" rIns="36576" bIns="36576" anchor="t">
            <a:spAutoFit/>
          </a:bodyPr>
          <a:lstStyle/>
          <a:p>
            <a:pPr algn="l"/>
            <a:r>
              <a:rPr sz="1050" b="0" i="0">
                <a:solidFill>
                  <a:srgbClr val="111827"/>
                </a:solidFill>
                <a:latin typeface="Aptos"/>
              </a:rPr>
              <a:t>Self-RAG lets the model adaptively retrieve information and reflect on retrieved passages and its own generations. The goal is better factuality and citation accuracy rather than blindly using a fixed number of passages.</a:t>
            </a:r>
          </a:p>
        </p:txBody>
      </p:sp>
      <p:sp>
        <p:nvSpPr>
          <p:cNvPr id="11" name="TextBox 10"/>
          <p:cNvSpPr txBox="1"/>
          <p:nvPr/>
        </p:nvSpPr>
        <p:spPr>
          <a:xfrm>
            <a:off x="777240" y="3090672"/>
            <a:ext cx="658368" cy="201168"/>
          </a:xfrm>
          <a:prstGeom prst="rect">
            <a:avLst/>
          </a:prstGeom>
          <a:noFill/>
        </p:spPr>
        <p:txBody>
          <a:bodyPr wrap="square" lIns="36576" tIns="36576" rIns="36576" bIns="36576" anchor="t">
            <a:spAutoFit/>
          </a:bodyPr>
          <a:lstStyle/>
          <a:p>
            <a:pPr algn="l"/>
            <a:r>
              <a:rPr sz="819" b="1" i="0">
                <a:solidFill>
                  <a:srgbClr val="12B8A6"/>
                </a:solidFill>
                <a:latin typeface="Aptos"/>
              </a:rPr>
              <a:t>WHY WE USE IT</a:t>
            </a:r>
          </a:p>
        </p:txBody>
      </p:sp>
      <p:sp>
        <p:nvSpPr>
          <p:cNvPr id="12" name="TextBox 11"/>
          <p:cNvSpPr txBox="1"/>
          <p:nvPr/>
        </p:nvSpPr>
        <p:spPr>
          <a:xfrm>
            <a:off x="777240" y="3291839"/>
            <a:ext cx="5129784" cy="612648"/>
          </a:xfrm>
          <a:prstGeom prst="rect">
            <a:avLst/>
          </a:prstGeom>
          <a:noFill/>
        </p:spPr>
        <p:txBody>
          <a:bodyPr wrap="square" lIns="36576" tIns="36576" rIns="36576" bIns="36576" anchor="t">
            <a:spAutoFit/>
          </a:bodyPr>
          <a:lstStyle/>
          <a:p>
            <a:pPr algn="l"/>
            <a:r>
              <a:rPr sz="1019" b="0" i="0">
                <a:solidFill>
                  <a:srgbClr val="111827"/>
                </a:solidFill>
                <a:latin typeface="Aptos"/>
              </a:rPr>
              <a:t>For our first version we will keep retrieval simple; Self-RAG becomes a future enhancement for adaptive retrieval and self-checking.</a:t>
            </a:r>
          </a:p>
        </p:txBody>
      </p:sp>
      <p:sp>
        <p:nvSpPr>
          <p:cNvPr id="13" name="TextBox 12"/>
          <p:cNvSpPr txBox="1"/>
          <p:nvPr/>
        </p:nvSpPr>
        <p:spPr>
          <a:xfrm>
            <a:off x="777240" y="5413248"/>
            <a:ext cx="5129784" cy="164592"/>
          </a:xfrm>
          <a:prstGeom prst="rect">
            <a:avLst/>
          </a:prstGeom>
          <a:noFill/>
        </p:spPr>
        <p:txBody>
          <a:bodyPr wrap="square" lIns="36576" tIns="36576" rIns="36576" bIns="36576" anchor="t">
            <a:spAutoFit/>
          </a:bodyPr>
          <a:lstStyle/>
          <a:p>
            <a:pPr algn="l"/>
            <a:r>
              <a:rPr sz="740" b="0" i="0">
                <a:solidFill>
                  <a:srgbClr val="667085"/>
                </a:solidFill>
                <a:latin typeface="Aptos"/>
              </a:rPr>
              <a:t>Akari Asai et al. • Self-RAG</a:t>
            </a:r>
          </a:p>
        </p:txBody>
      </p:sp>
      <p:sp>
        <p:nvSpPr>
          <p:cNvPr id="14" name="TextBox 13"/>
          <p:cNvSpPr txBox="1"/>
          <p:nvPr/>
        </p:nvSpPr>
        <p:spPr>
          <a:xfrm>
            <a:off x="832104" y="5195317"/>
            <a:ext cx="5129784" cy="164592"/>
          </a:xfrm>
          <a:prstGeom prst="rect">
            <a:avLst/>
          </a:prstGeom>
          <a:noFill/>
        </p:spPr>
        <p:txBody>
          <a:bodyPr wrap="none" lIns="0" rIns="0">
            <a:spAutoFit/>
          </a:bodyPr>
          <a:lstStyle/>
          <a:p>
            <a:pPr>
              <a:defRPr sz="740">
                <a:solidFill>
                  <a:srgbClr val="3155F6"/>
                </a:solidFill>
                <a:latin typeface="Aptos"/>
              </a:defRPr>
            </a:pPr>
            <a:r>
              <a:rPr sz="740">
                <a:solidFill>
                  <a:srgbClr val="3155F6"/>
                </a:solidFill>
                <a:latin typeface="Aptos"/>
                <a:hlinkClick r:id="rId2"/>
              </a:rPr>
              <a:t>Open paper</a:t>
            </a:r>
          </a:p>
        </p:txBody>
      </p:sp>
      <p:sp>
        <p:nvSpPr>
          <p:cNvPr id="15" name="Rounded Rectangle 14"/>
          <p:cNvSpPr/>
          <p:nvPr/>
        </p:nvSpPr>
        <p:spPr>
          <a:xfrm>
            <a:off x="6144768" y="1325880"/>
            <a:ext cx="5440680" cy="452628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91072" y="1463039"/>
            <a:ext cx="457200" cy="256032"/>
          </a:xfrm>
          <a:prstGeom prst="roundRect">
            <a:avLst/>
          </a:prstGeom>
          <a:solidFill>
            <a:srgbClr val="EF4444"/>
          </a:solidFill>
          <a:ln w="1016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18504" y="1504187"/>
            <a:ext cx="402336" cy="164592"/>
          </a:xfrm>
          <a:prstGeom prst="rect">
            <a:avLst/>
          </a:prstGeom>
          <a:noFill/>
        </p:spPr>
        <p:txBody>
          <a:bodyPr wrap="square" lIns="36576" tIns="36576" rIns="36576" bIns="36576" anchor="t">
            <a:spAutoFit/>
          </a:bodyPr>
          <a:lstStyle/>
          <a:p>
            <a:pPr algn="ctr"/>
            <a:r>
              <a:rPr sz="750" b="1" i="0">
                <a:solidFill>
                  <a:srgbClr val="FFFFFF"/>
                </a:solidFill>
                <a:latin typeface="Aptos"/>
              </a:rPr>
              <a:t>P6</a:t>
            </a:r>
          </a:p>
        </p:txBody>
      </p:sp>
      <p:sp>
        <p:nvSpPr>
          <p:cNvPr id="18" name="TextBox 17"/>
          <p:cNvSpPr txBox="1"/>
          <p:nvPr/>
        </p:nvSpPr>
        <p:spPr>
          <a:xfrm>
            <a:off x="6839712" y="1444752"/>
            <a:ext cx="4599432" cy="347472"/>
          </a:xfrm>
          <a:prstGeom prst="rect">
            <a:avLst/>
          </a:prstGeom>
          <a:noFill/>
        </p:spPr>
        <p:txBody>
          <a:bodyPr wrap="square" lIns="36576" tIns="36576" rIns="36576" bIns="36576" anchor="t">
            <a:spAutoFit/>
          </a:bodyPr>
          <a:lstStyle/>
          <a:p>
            <a:pPr algn="l"/>
            <a:r>
              <a:rPr sz="1400" b="1" i="0">
                <a:solidFill>
                  <a:srgbClr val="111827"/>
                </a:solidFill>
                <a:latin typeface="Aptos Display"/>
              </a:rPr>
              <a:t>Corrective Retrieval-Augmented Generation (CRAG)</a:t>
            </a:r>
          </a:p>
        </p:txBody>
      </p:sp>
      <p:sp>
        <p:nvSpPr>
          <p:cNvPr id="19" name="TextBox 18"/>
          <p:cNvSpPr txBox="1"/>
          <p:nvPr/>
        </p:nvSpPr>
        <p:spPr>
          <a:xfrm>
            <a:off x="6300216" y="1828800"/>
            <a:ext cx="5129784" cy="274320"/>
          </a:xfrm>
          <a:prstGeom prst="rect">
            <a:avLst/>
          </a:prstGeom>
          <a:noFill/>
        </p:spPr>
        <p:txBody>
          <a:bodyPr wrap="square" lIns="36576" tIns="36576" rIns="36576" bIns="36576" anchor="t">
            <a:spAutoFit/>
          </a:bodyPr>
          <a:lstStyle/>
          <a:p>
            <a:pPr algn="l"/>
            <a:r>
              <a:rPr sz="840" b="0" i="0">
                <a:solidFill>
                  <a:srgbClr val="667085"/>
                </a:solidFill>
                <a:latin typeface="Aptos"/>
              </a:rPr>
              <a:t>Yan et al. • 2024 • arXiv 2401.15884</a:t>
            </a:r>
          </a:p>
        </p:txBody>
      </p:sp>
      <p:sp>
        <p:nvSpPr>
          <p:cNvPr id="20" name="TextBox 19"/>
          <p:cNvSpPr txBox="1"/>
          <p:nvPr/>
        </p:nvSpPr>
        <p:spPr>
          <a:xfrm>
            <a:off x="6300216" y="2167128"/>
            <a:ext cx="658368" cy="201168"/>
          </a:xfrm>
          <a:prstGeom prst="rect">
            <a:avLst/>
          </a:prstGeom>
          <a:noFill/>
        </p:spPr>
        <p:txBody>
          <a:bodyPr wrap="square" lIns="36576" tIns="36576" rIns="36576" bIns="36576" anchor="t">
            <a:spAutoFit/>
          </a:bodyPr>
          <a:lstStyle/>
          <a:p>
            <a:pPr algn="l"/>
            <a:r>
              <a:rPr sz="819" b="1" i="0">
                <a:solidFill>
                  <a:srgbClr val="EF4444"/>
                </a:solidFill>
                <a:latin typeface="Aptos"/>
              </a:rPr>
              <a:t>WHAT IT TELLS</a:t>
            </a:r>
          </a:p>
        </p:txBody>
      </p:sp>
      <p:sp>
        <p:nvSpPr>
          <p:cNvPr id="21" name="TextBox 20"/>
          <p:cNvSpPr txBox="1"/>
          <p:nvPr/>
        </p:nvSpPr>
        <p:spPr>
          <a:xfrm>
            <a:off x="6300216" y="2368296"/>
            <a:ext cx="5129784" cy="658368"/>
          </a:xfrm>
          <a:prstGeom prst="rect">
            <a:avLst/>
          </a:prstGeom>
          <a:noFill/>
        </p:spPr>
        <p:txBody>
          <a:bodyPr wrap="square" lIns="36576" tIns="36576" rIns="36576" bIns="36576" anchor="t">
            <a:spAutoFit/>
          </a:bodyPr>
          <a:lstStyle/>
          <a:p>
            <a:pPr algn="l"/>
            <a:r>
              <a:rPr sz="1050" b="0" i="0">
                <a:solidFill>
                  <a:srgbClr val="111827"/>
                </a:solidFill>
                <a:latin typeface="Aptos"/>
              </a:rPr>
              <a:t>CRAG adds a retrieval evaluator that judges the quality of retrieved documents and triggers corrective actions when retrieval is weak. It addresses the problem that RAG can still fail when the retriever brings poor evidence.</a:t>
            </a:r>
          </a:p>
        </p:txBody>
      </p:sp>
      <p:sp>
        <p:nvSpPr>
          <p:cNvPr id="22" name="TextBox 21"/>
          <p:cNvSpPr txBox="1"/>
          <p:nvPr/>
        </p:nvSpPr>
        <p:spPr>
          <a:xfrm>
            <a:off x="6300216" y="3090672"/>
            <a:ext cx="658368" cy="201168"/>
          </a:xfrm>
          <a:prstGeom prst="rect">
            <a:avLst/>
          </a:prstGeom>
          <a:noFill/>
        </p:spPr>
        <p:txBody>
          <a:bodyPr wrap="square" lIns="36576" tIns="36576" rIns="36576" bIns="36576" anchor="t">
            <a:spAutoFit/>
          </a:bodyPr>
          <a:lstStyle/>
          <a:p>
            <a:pPr algn="l"/>
            <a:r>
              <a:rPr sz="819" b="1" i="0">
                <a:solidFill>
                  <a:srgbClr val="12B8A6"/>
                </a:solidFill>
                <a:latin typeface="Aptos"/>
              </a:rPr>
              <a:t>WHY WE USE IT</a:t>
            </a:r>
          </a:p>
        </p:txBody>
      </p:sp>
      <p:sp>
        <p:nvSpPr>
          <p:cNvPr id="23" name="TextBox 22"/>
          <p:cNvSpPr txBox="1"/>
          <p:nvPr/>
        </p:nvSpPr>
        <p:spPr>
          <a:xfrm>
            <a:off x="6300216" y="3291839"/>
            <a:ext cx="5129784" cy="612648"/>
          </a:xfrm>
          <a:prstGeom prst="rect">
            <a:avLst/>
          </a:prstGeom>
          <a:noFill/>
        </p:spPr>
        <p:txBody>
          <a:bodyPr wrap="square" lIns="36576" tIns="36576" rIns="36576" bIns="36576" anchor="t">
            <a:spAutoFit/>
          </a:bodyPr>
          <a:lstStyle/>
          <a:p>
            <a:pPr algn="l"/>
            <a:r>
              <a:rPr sz="1019" b="0" i="0">
                <a:solidFill>
                  <a:srgbClr val="111827"/>
                </a:solidFill>
                <a:latin typeface="Aptos"/>
              </a:rPr>
              <a:t>It suggests a future module in our assistant: score retrieved chunks first, then answer only when the evidence is sufficiently relevant.</a:t>
            </a:r>
          </a:p>
        </p:txBody>
      </p:sp>
      <p:sp>
        <p:nvSpPr>
          <p:cNvPr id="24" name="TextBox 23"/>
          <p:cNvSpPr txBox="1"/>
          <p:nvPr/>
        </p:nvSpPr>
        <p:spPr>
          <a:xfrm>
            <a:off x="6300216" y="5413248"/>
            <a:ext cx="5129784" cy="164592"/>
          </a:xfrm>
          <a:prstGeom prst="rect">
            <a:avLst/>
          </a:prstGeom>
          <a:noFill/>
        </p:spPr>
        <p:txBody>
          <a:bodyPr wrap="square" lIns="36576" tIns="36576" rIns="36576" bIns="36576" anchor="t">
            <a:spAutoFit/>
          </a:bodyPr>
          <a:lstStyle/>
          <a:p>
            <a:pPr algn="l"/>
            <a:r>
              <a:rPr sz="740" b="0" i="0">
                <a:solidFill>
                  <a:srgbClr val="667085"/>
                </a:solidFill>
                <a:latin typeface="Aptos"/>
              </a:rPr>
              <a:t>Shi-Qi Yan et al. • CRAG</a:t>
            </a:r>
          </a:p>
        </p:txBody>
      </p:sp>
      <p:sp>
        <p:nvSpPr>
          <p:cNvPr id="25" name="TextBox 24"/>
          <p:cNvSpPr txBox="1"/>
          <p:nvPr/>
        </p:nvSpPr>
        <p:spPr>
          <a:xfrm>
            <a:off x="6382512" y="5254752"/>
            <a:ext cx="5129784" cy="164592"/>
          </a:xfrm>
          <a:prstGeom prst="rect">
            <a:avLst/>
          </a:prstGeom>
          <a:noFill/>
        </p:spPr>
        <p:txBody>
          <a:bodyPr wrap="none" lIns="0" rIns="0">
            <a:spAutoFit/>
          </a:bodyPr>
          <a:lstStyle/>
          <a:p>
            <a:pPr>
              <a:defRPr sz="740">
                <a:solidFill>
                  <a:srgbClr val="3155F6"/>
                </a:solidFill>
                <a:latin typeface="Aptos"/>
              </a:defRPr>
            </a:pPr>
            <a:r>
              <a:rPr sz="740">
                <a:solidFill>
                  <a:srgbClr val="3155F6"/>
                </a:solidFill>
                <a:latin typeface="Aptos"/>
                <a:hlinkClick r:id="rId3"/>
              </a:rPr>
              <a:t>Open paper</a:t>
            </a:r>
          </a:p>
        </p:txBody>
      </p:sp>
      <p:sp>
        <p:nvSpPr>
          <p:cNvPr id="26" name="Rectangle 25"/>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28" name="TextBox 27"/>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789920" cy="438912"/>
          </a:xfrm>
          <a:prstGeom prst="rect">
            <a:avLst/>
          </a:prstGeom>
          <a:noFill/>
        </p:spPr>
        <p:txBody>
          <a:bodyPr wrap="square" lIns="36576" tIns="36576" rIns="36576" bIns="36576" anchor="t">
            <a:spAutoFit/>
          </a:bodyPr>
          <a:lstStyle/>
          <a:p>
            <a:pPr algn="l"/>
            <a:r>
              <a:rPr sz="2200" b="1" i="0">
                <a:solidFill>
                  <a:srgbClr val="111827"/>
                </a:solidFill>
                <a:latin typeface="Aptos Display"/>
              </a:rPr>
              <a:t>Week 2D. How will we know whether our RAG system works?</a:t>
            </a:r>
          </a:p>
        </p:txBody>
      </p:sp>
      <p:sp>
        <p:nvSpPr>
          <p:cNvPr id="3" name="TextBox 2"/>
          <p:cNvSpPr txBox="1"/>
          <p:nvPr/>
        </p:nvSpPr>
        <p:spPr>
          <a:xfrm>
            <a:off x="612648" y="841248"/>
            <a:ext cx="10698480" cy="292608"/>
          </a:xfrm>
          <a:prstGeom prst="rect">
            <a:avLst/>
          </a:prstGeom>
          <a:noFill/>
        </p:spPr>
        <p:txBody>
          <a:bodyPr wrap="square" lIns="36576" tIns="36576" rIns="36576" bIns="36576" anchor="t">
            <a:spAutoFit/>
          </a:bodyPr>
          <a:lstStyle/>
          <a:p>
            <a:pPr algn="l"/>
            <a:r>
              <a:rPr sz="950" b="0" i="0">
                <a:solidFill>
                  <a:srgbClr val="667085"/>
                </a:solidFill>
                <a:latin typeface="Aptos"/>
              </a:rPr>
              <a:t>A project is stronger when it measures retrieval and answer quality instead of only demonstrating a chatbot UI.</a:t>
            </a:r>
          </a:p>
        </p:txBody>
      </p:sp>
      <p:sp>
        <p:nvSpPr>
          <p:cNvPr id="4" name="Rounded Rectangle 3"/>
          <p:cNvSpPr/>
          <p:nvPr/>
        </p:nvSpPr>
        <p:spPr>
          <a:xfrm>
            <a:off x="621792" y="1325880"/>
            <a:ext cx="5440680" cy="452628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68096" y="1463039"/>
            <a:ext cx="457200" cy="256032"/>
          </a:xfrm>
          <a:prstGeom prst="roundRect">
            <a:avLst/>
          </a:prstGeom>
          <a:solidFill>
            <a:srgbClr val="3155F6"/>
          </a:solidFill>
          <a:ln w="10160">
            <a:solidFill>
              <a:srgbClr val="3155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504187"/>
            <a:ext cx="402336" cy="164592"/>
          </a:xfrm>
          <a:prstGeom prst="rect">
            <a:avLst/>
          </a:prstGeom>
          <a:noFill/>
        </p:spPr>
        <p:txBody>
          <a:bodyPr wrap="square" lIns="36576" tIns="36576" rIns="36576" bIns="36576" anchor="t">
            <a:spAutoFit/>
          </a:bodyPr>
          <a:lstStyle/>
          <a:p>
            <a:pPr algn="ctr"/>
            <a:r>
              <a:rPr sz="750" b="1" i="0">
                <a:solidFill>
                  <a:srgbClr val="FFFFFF"/>
                </a:solidFill>
                <a:latin typeface="Aptos"/>
              </a:rPr>
              <a:t>P7</a:t>
            </a:r>
          </a:p>
        </p:txBody>
      </p:sp>
      <p:sp>
        <p:nvSpPr>
          <p:cNvPr id="7" name="TextBox 6"/>
          <p:cNvSpPr txBox="1"/>
          <p:nvPr/>
        </p:nvSpPr>
        <p:spPr>
          <a:xfrm>
            <a:off x="1316736" y="1444752"/>
            <a:ext cx="4599432" cy="347472"/>
          </a:xfrm>
          <a:prstGeom prst="rect">
            <a:avLst/>
          </a:prstGeom>
          <a:noFill/>
        </p:spPr>
        <p:txBody>
          <a:bodyPr wrap="square" lIns="36576" tIns="36576" rIns="36576" bIns="36576" anchor="t">
            <a:spAutoFit/>
          </a:bodyPr>
          <a:lstStyle/>
          <a:p>
            <a:pPr algn="l"/>
            <a:r>
              <a:rPr sz="1400" b="1" i="0">
                <a:solidFill>
                  <a:srgbClr val="111827"/>
                </a:solidFill>
                <a:latin typeface="Aptos Display"/>
              </a:rPr>
              <a:t>RAGAS: Automated Evaluation of RAG</a:t>
            </a:r>
          </a:p>
        </p:txBody>
      </p:sp>
      <p:sp>
        <p:nvSpPr>
          <p:cNvPr id="8" name="TextBox 7"/>
          <p:cNvSpPr txBox="1"/>
          <p:nvPr/>
        </p:nvSpPr>
        <p:spPr>
          <a:xfrm>
            <a:off x="777240" y="1828800"/>
            <a:ext cx="5129784" cy="274320"/>
          </a:xfrm>
          <a:prstGeom prst="rect">
            <a:avLst/>
          </a:prstGeom>
          <a:noFill/>
        </p:spPr>
        <p:txBody>
          <a:bodyPr wrap="square" lIns="36576" tIns="36576" rIns="36576" bIns="36576" anchor="t">
            <a:spAutoFit/>
          </a:bodyPr>
          <a:lstStyle/>
          <a:p>
            <a:pPr algn="l"/>
            <a:r>
              <a:rPr sz="840" b="0" i="0">
                <a:solidFill>
                  <a:srgbClr val="667085"/>
                </a:solidFill>
                <a:latin typeface="Aptos"/>
              </a:rPr>
              <a:t>Es et al. • 2023 preprint / EACL 2024 demo</a:t>
            </a:r>
          </a:p>
        </p:txBody>
      </p:sp>
      <p:sp>
        <p:nvSpPr>
          <p:cNvPr id="9" name="TextBox 8"/>
          <p:cNvSpPr txBox="1"/>
          <p:nvPr/>
        </p:nvSpPr>
        <p:spPr>
          <a:xfrm>
            <a:off x="777240" y="2167128"/>
            <a:ext cx="658368" cy="201168"/>
          </a:xfrm>
          <a:prstGeom prst="rect">
            <a:avLst/>
          </a:prstGeom>
          <a:noFill/>
        </p:spPr>
        <p:txBody>
          <a:bodyPr wrap="square" lIns="36576" tIns="36576" rIns="36576" bIns="36576" anchor="t">
            <a:spAutoFit/>
          </a:bodyPr>
          <a:lstStyle/>
          <a:p>
            <a:pPr algn="l"/>
            <a:r>
              <a:rPr sz="819" b="1" i="0">
                <a:solidFill>
                  <a:srgbClr val="3155F6"/>
                </a:solidFill>
                <a:latin typeface="Aptos"/>
              </a:rPr>
              <a:t>WHAT IT TELLS</a:t>
            </a:r>
          </a:p>
        </p:txBody>
      </p:sp>
      <p:sp>
        <p:nvSpPr>
          <p:cNvPr id="10" name="TextBox 9"/>
          <p:cNvSpPr txBox="1"/>
          <p:nvPr/>
        </p:nvSpPr>
        <p:spPr>
          <a:xfrm>
            <a:off x="777240" y="2368296"/>
            <a:ext cx="5129784" cy="658368"/>
          </a:xfrm>
          <a:prstGeom prst="rect">
            <a:avLst/>
          </a:prstGeom>
          <a:noFill/>
        </p:spPr>
        <p:txBody>
          <a:bodyPr wrap="square" lIns="36576" tIns="36576" rIns="36576" bIns="36576" anchor="t">
            <a:spAutoFit/>
          </a:bodyPr>
          <a:lstStyle/>
          <a:p>
            <a:pPr algn="l"/>
            <a:r>
              <a:rPr sz="1050" b="0" i="0">
                <a:solidFill>
                  <a:srgbClr val="111827"/>
                </a:solidFill>
                <a:latin typeface="Aptos"/>
              </a:rPr>
              <a:t>RAGAS provides a reference-free way to evaluate multiple dimensions of a RAG pipeline, including whether the retriever finds relevant context and whether the LLM uses that context faithfully.</a:t>
            </a:r>
          </a:p>
        </p:txBody>
      </p:sp>
      <p:sp>
        <p:nvSpPr>
          <p:cNvPr id="11" name="TextBox 10"/>
          <p:cNvSpPr txBox="1"/>
          <p:nvPr/>
        </p:nvSpPr>
        <p:spPr>
          <a:xfrm>
            <a:off x="777240" y="3090672"/>
            <a:ext cx="658368" cy="201168"/>
          </a:xfrm>
          <a:prstGeom prst="rect">
            <a:avLst/>
          </a:prstGeom>
          <a:noFill/>
        </p:spPr>
        <p:txBody>
          <a:bodyPr wrap="square" lIns="36576" tIns="36576" rIns="36576" bIns="36576" anchor="t">
            <a:spAutoFit/>
          </a:bodyPr>
          <a:lstStyle/>
          <a:p>
            <a:pPr algn="l"/>
            <a:r>
              <a:rPr sz="819" b="1" i="0">
                <a:solidFill>
                  <a:srgbClr val="12B8A6"/>
                </a:solidFill>
                <a:latin typeface="Aptos"/>
              </a:rPr>
              <a:t>WHY WE USE IT</a:t>
            </a:r>
          </a:p>
        </p:txBody>
      </p:sp>
      <p:sp>
        <p:nvSpPr>
          <p:cNvPr id="12" name="TextBox 11"/>
          <p:cNvSpPr txBox="1"/>
          <p:nvPr/>
        </p:nvSpPr>
        <p:spPr>
          <a:xfrm>
            <a:off x="777240" y="3291839"/>
            <a:ext cx="5129784" cy="612648"/>
          </a:xfrm>
          <a:prstGeom prst="rect">
            <a:avLst/>
          </a:prstGeom>
          <a:noFill/>
        </p:spPr>
        <p:txBody>
          <a:bodyPr wrap="square" lIns="36576" tIns="36576" rIns="36576" bIns="36576" anchor="t">
            <a:spAutoFit/>
          </a:bodyPr>
          <a:lstStyle/>
          <a:p>
            <a:pPr algn="l"/>
            <a:r>
              <a:rPr sz="1019" b="0" i="0">
                <a:solidFill>
                  <a:srgbClr val="111827"/>
                </a:solidFill>
                <a:latin typeface="Aptos"/>
              </a:rPr>
              <a:t>We can use these ideas to define evaluation criteria for our prototype instead of relying only on subjective demo feedback.</a:t>
            </a:r>
          </a:p>
        </p:txBody>
      </p:sp>
      <p:sp>
        <p:nvSpPr>
          <p:cNvPr id="13" name="TextBox 12"/>
          <p:cNvSpPr txBox="1"/>
          <p:nvPr/>
        </p:nvSpPr>
        <p:spPr>
          <a:xfrm>
            <a:off x="777240" y="5413248"/>
            <a:ext cx="5129784" cy="164592"/>
          </a:xfrm>
          <a:prstGeom prst="rect">
            <a:avLst/>
          </a:prstGeom>
          <a:noFill/>
        </p:spPr>
        <p:txBody>
          <a:bodyPr wrap="square" lIns="36576" tIns="36576" rIns="36576" bIns="36576" anchor="t">
            <a:spAutoFit/>
          </a:bodyPr>
          <a:lstStyle/>
          <a:p>
            <a:pPr algn="l"/>
            <a:r>
              <a:rPr sz="740" b="0" i="0">
                <a:solidFill>
                  <a:srgbClr val="667085"/>
                </a:solidFill>
                <a:latin typeface="Aptos"/>
              </a:rPr>
              <a:t>Shahul Es et al. • RAGAS</a:t>
            </a:r>
          </a:p>
        </p:txBody>
      </p:sp>
      <p:sp>
        <p:nvSpPr>
          <p:cNvPr id="14" name="TextBox 13"/>
          <p:cNvSpPr txBox="1"/>
          <p:nvPr/>
        </p:nvSpPr>
        <p:spPr>
          <a:xfrm>
            <a:off x="832104" y="5195317"/>
            <a:ext cx="5129784" cy="164592"/>
          </a:xfrm>
          <a:prstGeom prst="rect">
            <a:avLst/>
          </a:prstGeom>
          <a:noFill/>
        </p:spPr>
        <p:txBody>
          <a:bodyPr wrap="none" lIns="0" rIns="0">
            <a:spAutoFit/>
          </a:bodyPr>
          <a:lstStyle/>
          <a:p>
            <a:pPr>
              <a:defRPr sz="740">
                <a:solidFill>
                  <a:srgbClr val="3155F6"/>
                </a:solidFill>
                <a:latin typeface="Aptos"/>
              </a:defRPr>
            </a:pPr>
            <a:r>
              <a:rPr sz="740">
                <a:solidFill>
                  <a:srgbClr val="3155F6"/>
                </a:solidFill>
                <a:latin typeface="Aptos"/>
                <a:hlinkClick r:id="rId2"/>
              </a:rPr>
              <a:t>Open paper</a:t>
            </a:r>
          </a:p>
        </p:txBody>
      </p:sp>
      <p:sp>
        <p:nvSpPr>
          <p:cNvPr id="15" name="Rounded Rectangle 14"/>
          <p:cNvSpPr/>
          <p:nvPr/>
        </p:nvSpPr>
        <p:spPr>
          <a:xfrm>
            <a:off x="6144768" y="1325880"/>
            <a:ext cx="5440680" cy="452628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27648" y="1508760"/>
            <a:ext cx="1463040" cy="256032"/>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549907"/>
            <a:ext cx="1408176" cy="164592"/>
          </a:xfrm>
          <a:prstGeom prst="rect">
            <a:avLst/>
          </a:prstGeom>
          <a:noFill/>
        </p:spPr>
        <p:txBody>
          <a:bodyPr wrap="square" lIns="36576" tIns="36576" rIns="36576" bIns="36576" anchor="t">
            <a:spAutoFit/>
          </a:bodyPr>
          <a:lstStyle/>
          <a:p>
            <a:pPr algn="ctr"/>
            <a:r>
              <a:rPr sz="750" b="1" i="0">
                <a:solidFill>
                  <a:srgbClr val="FFFFFF"/>
                </a:solidFill>
                <a:latin typeface="Aptos"/>
              </a:rPr>
              <a:t>COLLECTIVE TAKEAWAY</a:t>
            </a:r>
          </a:p>
        </p:txBody>
      </p:sp>
      <p:sp>
        <p:nvSpPr>
          <p:cNvPr id="18" name="TextBox 17"/>
          <p:cNvSpPr txBox="1"/>
          <p:nvPr/>
        </p:nvSpPr>
        <p:spPr>
          <a:xfrm>
            <a:off x="6327648" y="1901952"/>
            <a:ext cx="4983480" cy="329184"/>
          </a:xfrm>
          <a:prstGeom prst="rect">
            <a:avLst/>
          </a:prstGeom>
          <a:noFill/>
        </p:spPr>
        <p:txBody>
          <a:bodyPr wrap="square" lIns="36576" tIns="36576" rIns="36576" bIns="36576" anchor="t">
            <a:spAutoFit/>
          </a:bodyPr>
          <a:lstStyle/>
          <a:p>
            <a:pPr algn="l"/>
            <a:r>
              <a:rPr sz="1500" b="1" i="0">
                <a:solidFill>
                  <a:srgbClr val="111827"/>
                </a:solidFill>
                <a:latin typeface="Aptos Display"/>
              </a:rPr>
              <a:t>The papers point to five design principles</a:t>
            </a:r>
          </a:p>
        </p:txBody>
      </p:sp>
      <p:sp>
        <p:nvSpPr>
          <p:cNvPr id="19" name="Rounded Rectangle 18"/>
          <p:cNvSpPr/>
          <p:nvPr/>
        </p:nvSpPr>
        <p:spPr>
          <a:xfrm>
            <a:off x="6355080" y="2423160"/>
            <a:ext cx="347472" cy="256032"/>
          </a:xfrm>
          <a:prstGeom prst="roundRect">
            <a:avLst/>
          </a:prstGeom>
          <a:solidFill>
            <a:srgbClr val="3155F6"/>
          </a:solidFill>
          <a:ln w="10160">
            <a:solidFill>
              <a:srgbClr val="3155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2512" y="2464308"/>
            <a:ext cx="292608" cy="164592"/>
          </a:xfrm>
          <a:prstGeom prst="rect">
            <a:avLst/>
          </a:prstGeom>
          <a:noFill/>
        </p:spPr>
        <p:txBody>
          <a:bodyPr wrap="square" lIns="36576" tIns="36576" rIns="36576" bIns="36576" anchor="t">
            <a:spAutoFit/>
          </a:bodyPr>
          <a:lstStyle/>
          <a:p>
            <a:pPr algn="ctr"/>
            <a:r>
              <a:rPr sz="750" b="1" i="0">
                <a:solidFill>
                  <a:srgbClr val="FFFFFF"/>
                </a:solidFill>
                <a:latin typeface="Aptos"/>
              </a:rPr>
              <a:t>1</a:t>
            </a:r>
          </a:p>
        </p:txBody>
      </p:sp>
      <p:sp>
        <p:nvSpPr>
          <p:cNvPr id="21" name="TextBox 20"/>
          <p:cNvSpPr txBox="1"/>
          <p:nvPr/>
        </p:nvSpPr>
        <p:spPr>
          <a:xfrm>
            <a:off x="6793992" y="2404872"/>
            <a:ext cx="1298448" cy="228600"/>
          </a:xfrm>
          <a:prstGeom prst="rect">
            <a:avLst/>
          </a:prstGeom>
          <a:noFill/>
        </p:spPr>
        <p:txBody>
          <a:bodyPr wrap="square" lIns="36576" tIns="36576" rIns="36576" bIns="36576" anchor="t">
            <a:spAutoFit/>
          </a:bodyPr>
          <a:lstStyle/>
          <a:p>
            <a:pPr algn="l"/>
            <a:r>
              <a:rPr sz="1050" b="1" i="0">
                <a:solidFill>
                  <a:srgbClr val="111827"/>
                </a:solidFill>
                <a:latin typeface="Aptos"/>
              </a:rPr>
              <a:t>External knowledge</a:t>
            </a:r>
          </a:p>
        </p:txBody>
      </p:sp>
      <p:sp>
        <p:nvSpPr>
          <p:cNvPr id="22" name="TextBox 21"/>
          <p:cNvSpPr txBox="1"/>
          <p:nvPr/>
        </p:nvSpPr>
        <p:spPr>
          <a:xfrm>
            <a:off x="8065008" y="2404872"/>
            <a:ext cx="3227832" cy="384048"/>
          </a:xfrm>
          <a:prstGeom prst="rect">
            <a:avLst/>
          </a:prstGeom>
          <a:noFill/>
        </p:spPr>
        <p:txBody>
          <a:bodyPr wrap="square" lIns="36576" tIns="36576" rIns="36576" bIns="36576" anchor="t">
            <a:spAutoFit/>
          </a:bodyPr>
          <a:lstStyle/>
          <a:p>
            <a:pPr algn="l"/>
            <a:r>
              <a:rPr sz="910" b="0" i="0">
                <a:solidFill>
                  <a:srgbClr val="667085"/>
                </a:solidFill>
                <a:latin typeface="Aptos"/>
              </a:rPr>
              <a:t>Keep enterprise documents outside the LLM and retrieve them when needed.</a:t>
            </a:r>
          </a:p>
        </p:txBody>
      </p:sp>
      <p:sp>
        <p:nvSpPr>
          <p:cNvPr id="23" name="Rounded Rectangle 22"/>
          <p:cNvSpPr/>
          <p:nvPr/>
        </p:nvSpPr>
        <p:spPr>
          <a:xfrm>
            <a:off x="6355080" y="2999232"/>
            <a:ext cx="347472" cy="256032"/>
          </a:xfrm>
          <a:prstGeom prst="roundRect">
            <a:avLst/>
          </a:prstGeom>
          <a:solidFill>
            <a:srgbClr val="12B8A6"/>
          </a:solidFill>
          <a:ln w="10160">
            <a:solidFill>
              <a:srgbClr val="12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82512" y="3040379"/>
            <a:ext cx="292608" cy="164592"/>
          </a:xfrm>
          <a:prstGeom prst="rect">
            <a:avLst/>
          </a:prstGeom>
          <a:noFill/>
        </p:spPr>
        <p:txBody>
          <a:bodyPr wrap="square" lIns="36576" tIns="36576" rIns="36576" bIns="36576" anchor="t">
            <a:spAutoFit/>
          </a:bodyPr>
          <a:lstStyle/>
          <a:p>
            <a:pPr algn="ctr"/>
            <a:r>
              <a:rPr sz="750" b="1" i="0">
                <a:solidFill>
                  <a:srgbClr val="FFFFFF"/>
                </a:solidFill>
                <a:latin typeface="Aptos"/>
              </a:rPr>
              <a:t>2</a:t>
            </a:r>
          </a:p>
        </p:txBody>
      </p:sp>
      <p:sp>
        <p:nvSpPr>
          <p:cNvPr id="25" name="TextBox 24"/>
          <p:cNvSpPr txBox="1"/>
          <p:nvPr/>
        </p:nvSpPr>
        <p:spPr>
          <a:xfrm>
            <a:off x="6793992" y="2980944"/>
            <a:ext cx="1298448" cy="228600"/>
          </a:xfrm>
          <a:prstGeom prst="rect">
            <a:avLst/>
          </a:prstGeom>
          <a:noFill/>
        </p:spPr>
        <p:txBody>
          <a:bodyPr wrap="square" lIns="36576" tIns="36576" rIns="36576" bIns="36576" anchor="t">
            <a:spAutoFit/>
          </a:bodyPr>
          <a:lstStyle/>
          <a:p>
            <a:pPr algn="l"/>
            <a:r>
              <a:rPr sz="1050" b="1" i="0">
                <a:solidFill>
                  <a:srgbClr val="111827"/>
                </a:solidFill>
                <a:latin typeface="Aptos"/>
              </a:rPr>
              <a:t>Focused context</a:t>
            </a:r>
          </a:p>
        </p:txBody>
      </p:sp>
      <p:sp>
        <p:nvSpPr>
          <p:cNvPr id="26" name="TextBox 25"/>
          <p:cNvSpPr txBox="1"/>
          <p:nvPr/>
        </p:nvSpPr>
        <p:spPr>
          <a:xfrm>
            <a:off x="8065008" y="2980944"/>
            <a:ext cx="3227832" cy="384048"/>
          </a:xfrm>
          <a:prstGeom prst="rect">
            <a:avLst/>
          </a:prstGeom>
          <a:noFill/>
        </p:spPr>
        <p:txBody>
          <a:bodyPr wrap="square" lIns="36576" tIns="36576" rIns="36576" bIns="36576" anchor="t">
            <a:spAutoFit/>
          </a:bodyPr>
          <a:lstStyle/>
          <a:p>
            <a:pPr algn="l"/>
            <a:r>
              <a:rPr sz="910" b="0" i="0">
                <a:solidFill>
                  <a:srgbClr val="667085"/>
                </a:solidFill>
                <a:latin typeface="Aptos"/>
              </a:rPr>
              <a:t>Chunk and retrieve only the most relevant evidence.</a:t>
            </a:r>
          </a:p>
        </p:txBody>
      </p:sp>
      <p:sp>
        <p:nvSpPr>
          <p:cNvPr id="27" name="Rounded Rectangle 26"/>
          <p:cNvSpPr/>
          <p:nvPr/>
        </p:nvSpPr>
        <p:spPr>
          <a:xfrm>
            <a:off x="6355080" y="3575303"/>
            <a:ext cx="347472" cy="256032"/>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3616451"/>
            <a:ext cx="292608" cy="164592"/>
          </a:xfrm>
          <a:prstGeom prst="rect">
            <a:avLst/>
          </a:prstGeom>
          <a:noFill/>
        </p:spPr>
        <p:txBody>
          <a:bodyPr wrap="square" lIns="36576" tIns="36576" rIns="36576" bIns="36576" anchor="t">
            <a:spAutoFit/>
          </a:bodyPr>
          <a:lstStyle/>
          <a:p>
            <a:pPr algn="ctr"/>
            <a:r>
              <a:rPr sz="750" b="1" i="0">
                <a:solidFill>
                  <a:srgbClr val="FFFFFF"/>
                </a:solidFill>
                <a:latin typeface="Aptos"/>
              </a:rPr>
              <a:t>3</a:t>
            </a:r>
          </a:p>
        </p:txBody>
      </p:sp>
      <p:sp>
        <p:nvSpPr>
          <p:cNvPr id="29" name="TextBox 28"/>
          <p:cNvSpPr txBox="1"/>
          <p:nvPr/>
        </p:nvSpPr>
        <p:spPr>
          <a:xfrm>
            <a:off x="6793992" y="3557015"/>
            <a:ext cx="1298448" cy="228600"/>
          </a:xfrm>
          <a:prstGeom prst="rect">
            <a:avLst/>
          </a:prstGeom>
          <a:noFill/>
        </p:spPr>
        <p:txBody>
          <a:bodyPr wrap="square" lIns="36576" tIns="36576" rIns="36576" bIns="36576" anchor="t">
            <a:spAutoFit/>
          </a:bodyPr>
          <a:lstStyle/>
          <a:p>
            <a:pPr algn="l"/>
            <a:r>
              <a:rPr sz="1050" b="1" i="0">
                <a:solidFill>
                  <a:srgbClr val="111827"/>
                </a:solidFill>
                <a:latin typeface="Aptos"/>
              </a:rPr>
              <a:t>Grounded answers</a:t>
            </a:r>
          </a:p>
        </p:txBody>
      </p:sp>
      <p:sp>
        <p:nvSpPr>
          <p:cNvPr id="30" name="TextBox 29"/>
          <p:cNvSpPr txBox="1"/>
          <p:nvPr/>
        </p:nvSpPr>
        <p:spPr>
          <a:xfrm>
            <a:off x="8065008" y="3557015"/>
            <a:ext cx="3227832" cy="384048"/>
          </a:xfrm>
          <a:prstGeom prst="rect">
            <a:avLst/>
          </a:prstGeom>
          <a:noFill/>
        </p:spPr>
        <p:txBody>
          <a:bodyPr wrap="square" lIns="36576" tIns="36576" rIns="36576" bIns="36576" anchor="t">
            <a:spAutoFit/>
          </a:bodyPr>
          <a:lstStyle/>
          <a:p>
            <a:pPr algn="l"/>
            <a:r>
              <a:rPr sz="910" b="0" i="0">
                <a:solidFill>
                  <a:srgbClr val="667085"/>
                </a:solidFill>
                <a:latin typeface="Aptos"/>
              </a:rPr>
              <a:t>Generate from retrieved context and expose sources.</a:t>
            </a:r>
          </a:p>
        </p:txBody>
      </p:sp>
      <p:sp>
        <p:nvSpPr>
          <p:cNvPr id="31" name="Rounded Rectangle 30"/>
          <p:cNvSpPr/>
          <p:nvPr/>
        </p:nvSpPr>
        <p:spPr>
          <a:xfrm>
            <a:off x="6355080" y="4151376"/>
            <a:ext cx="347472" cy="256032"/>
          </a:xfrm>
          <a:prstGeom prst="roundRect">
            <a:avLst/>
          </a:prstGeom>
          <a:solidFill>
            <a:srgbClr val="F59E0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4192524"/>
            <a:ext cx="292608" cy="164592"/>
          </a:xfrm>
          <a:prstGeom prst="rect">
            <a:avLst/>
          </a:prstGeom>
          <a:noFill/>
        </p:spPr>
        <p:txBody>
          <a:bodyPr wrap="square" lIns="36576" tIns="36576" rIns="36576" bIns="36576" anchor="t">
            <a:spAutoFit/>
          </a:bodyPr>
          <a:lstStyle/>
          <a:p>
            <a:pPr algn="ctr"/>
            <a:r>
              <a:rPr sz="750" b="1" i="0">
                <a:solidFill>
                  <a:srgbClr val="FFFFFF"/>
                </a:solidFill>
                <a:latin typeface="Aptos"/>
              </a:rPr>
              <a:t>4</a:t>
            </a:r>
          </a:p>
        </p:txBody>
      </p:sp>
      <p:sp>
        <p:nvSpPr>
          <p:cNvPr id="33" name="TextBox 32"/>
          <p:cNvSpPr txBox="1"/>
          <p:nvPr/>
        </p:nvSpPr>
        <p:spPr>
          <a:xfrm>
            <a:off x="6793992" y="4133088"/>
            <a:ext cx="1298448" cy="228600"/>
          </a:xfrm>
          <a:prstGeom prst="rect">
            <a:avLst/>
          </a:prstGeom>
          <a:noFill/>
        </p:spPr>
        <p:txBody>
          <a:bodyPr wrap="square" lIns="36576" tIns="36576" rIns="36576" bIns="36576" anchor="t">
            <a:spAutoFit/>
          </a:bodyPr>
          <a:lstStyle/>
          <a:p>
            <a:pPr algn="l"/>
            <a:r>
              <a:rPr sz="1050" b="1" i="0">
                <a:solidFill>
                  <a:srgbClr val="111827"/>
                </a:solidFill>
                <a:latin typeface="Aptos"/>
              </a:rPr>
              <a:t>Robust retrieval</a:t>
            </a:r>
          </a:p>
        </p:txBody>
      </p:sp>
      <p:sp>
        <p:nvSpPr>
          <p:cNvPr id="34" name="TextBox 33"/>
          <p:cNvSpPr txBox="1"/>
          <p:nvPr/>
        </p:nvSpPr>
        <p:spPr>
          <a:xfrm>
            <a:off x="8065008" y="4133088"/>
            <a:ext cx="3227832" cy="384048"/>
          </a:xfrm>
          <a:prstGeom prst="rect">
            <a:avLst/>
          </a:prstGeom>
          <a:noFill/>
        </p:spPr>
        <p:txBody>
          <a:bodyPr wrap="square" lIns="36576" tIns="36576" rIns="36576" bIns="36576" anchor="t">
            <a:spAutoFit/>
          </a:bodyPr>
          <a:lstStyle/>
          <a:p>
            <a:pPr algn="l"/>
            <a:r>
              <a:rPr sz="910" b="0" i="0">
                <a:solidFill>
                  <a:srgbClr val="667085"/>
                </a:solidFill>
                <a:latin typeface="Aptos"/>
              </a:rPr>
              <a:t>Plan for bad retrieval and add quality checks over time.</a:t>
            </a:r>
          </a:p>
        </p:txBody>
      </p:sp>
      <p:sp>
        <p:nvSpPr>
          <p:cNvPr id="35" name="Rounded Rectangle 34"/>
          <p:cNvSpPr/>
          <p:nvPr/>
        </p:nvSpPr>
        <p:spPr>
          <a:xfrm>
            <a:off x="6355080" y="4727448"/>
            <a:ext cx="347472" cy="256032"/>
          </a:xfrm>
          <a:prstGeom prst="roundRect">
            <a:avLst/>
          </a:prstGeom>
          <a:solidFill>
            <a:srgbClr val="22C55E"/>
          </a:solidFill>
          <a:ln w="1016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82512" y="4768596"/>
            <a:ext cx="292608" cy="164592"/>
          </a:xfrm>
          <a:prstGeom prst="rect">
            <a:avLst/>
          </a:prstGeom>
          <a:noFill/>
        </p:spPr>
        <p:txBody>
          <a:bodyPr wrap="square" lIns="36576" tIns="36576" rIns="36576" bIns="36576" anchor="t">
            <a:spAutoFit/>
          </a:bodyPr>
          <a:lstStyle/>
          <a:p>
            <a:pPr algn="ctr"/>
            <a:r>
              <a:rPr sz="750" b="1" i="0">
                <a:solidFill>
                  <a:srgbClr val="FFFFFF"/>
                </a:solidFill>
                <a:latin typeface="Aptos"/>
              </a:rPr>
              <a:t>5</a:t>
            </a:r>
          </a:p>
        </p:txBody>
      </p:sp>
      <p:sp>
        <p:nvSpPr>
          <p:cNvPr id="37" name="TextBox 36"/>
          <p:cNvSpPr txBox="1"/>
          <p:nvPr/>
        </p:nvSpPr>
        <p:spPr>
          <a:xfrm>
            <a:off x="6793992" y="4709160"/>
            <a:ext cx="1298448" cy="228600"/>
          </a:xfrm>
          <a:prstGeom prst="rect">
            <a:avLst/>
          </a:prstGeom>
          <a:noFill/>
        </p:spPr>
        <p:txBody>
          <a:bodyPr wrap="square" lIns="36576" tIns="36576" rIns="36576" bIns="36576" anchor="t">
            <a:spAutoFit/>
          </a:bodyPr>
          <a:lstStyle/>
          <a:p>
            <a:pPr algn="l"/>
            <a:r>
              <a:rPr sz="1050" b="1" i="0">
                <a:solidFill>
                  <a:srgbClr val="111827"/>
                </a:solidFill>
                <a:latin typeface="Aptos"/>
              </a:rPr>
              <a:t>Measurable quality</a:t>
            </a:r>
          </a:p>
        </p:txBody>
      </p:sp>
      <p:sp>
        <p:nvSpPr>
          <p:cNvPr id="38" name="TextBox 37"/>
          <p:cNvSpPr txBox="1"/>
          <p:nvPr/>
        </p:nvSpPr>
        <p:spPr>
          <a:xfrm>
            <a:off x="8065008" y="4709160"/>
            <a:ext cx="3227832" cy="384048"/>
          </a:xfrm>
          <a:prstGeom prst="rect">
            <a:avLst/>
          </a:prstGeom>
          <a:noFill/>
        </p:spPr>
        <p:txBody>
          <a:bodyPr wrap="square" lIns="36576" tIns="36576" rIns="36576" bIns="36576" anchor="t">
            <a:spAutoFit/>
          </a:bodyPr>
          <a:lstStyle/>
          <a:p>
            <a:pPr algn="l"/>
            <a:r>
              <a:rPr sz="910" b="0" i="0">
                <a:solidFill>
                  <a:srgbClr val="667085"/>
                </a:solidFill>
                <a:latin typeface="Aptos"/>
              </a:rPr>
              <a:t>Evaluate retrieval, faithfulness and answer quality.</a:t>
            </a:r>
          </a:p>
        </p:txBody>
      </p:sp>
      <p:sp>
        <p:nvSpPr>
          <p:cNvPr id="39" name="Rectangle 38"/>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41" name="TextBox 40"/>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789920" cy="438912"/>
          </a:xfrm>
          <a:prstGeom prst="rect">
            <a:avLst/>
          </a:prstGeom>
          <a:noFill/>
        </p:spPr>
        <p:txBody>
          <a:bodyPr wrap="square" lIns="36576" tIns="36576" rIns="36576" bIns="36576" anchor="t">
            <a:spAutoFit/>
          </a:bodyPr>
          <a:lstStyle/>
          <a:p>
            <a:pPr algn="l"/>
            <a:r>
              <a:rPr sz="2200" b="1" i="0">
                <a:solidFill>
                  <a:srgbClr val="111827"/>
                </a:solidFill>
                <a:latin typeface="Aptos Display"/>
              </a:rPr>
              <a:t>Week 2E. From literature → our system design</a:t>
            </a:r>
          </a:p>
        </p:txBody>
      </p:sp>
      <p:sp>
        <p:nvSpPr>
          <p:cNvPr id="3" name="TextBox 2"/>
          <p:cNvSpPr txBox="1"/>
          <p:nvPr/>
        </p:nvSpPr>
        <p:spPr>
          <a:xfrm>
            <a:off x="612648" y="841248"/>
            <a:ext cx="10698480" cy="292608"/>
          </a:xfrm>
          <a:prstGeom prst="rect">
            <a:avLst/>
          </a:prstGeom>
          <a:noFill/>
        </p:spPr>
        <p:txBody>
          <a:bodyPr wrap="square" lIns="36576" tIns="36576" rIns="36576" bIns="36576" anchor="t">
            <a:spAutoFit/>
          </a:bodyPr>
          <a:lstStyle/>
          <a:p>
            <a:pPr algn="l"/>
            <a:r>
              <a:rPr sz="950" b="0" i="0">
                <a:solidFill>
                  <a:srgbClr val="667085"/>
                </a:solidFill>
                <a:latin typeface="Aptos"/>
              </a:rPr>
              <a:t>This slide connects each research insight to a concrete component we plan to build.</a:t>
            </a:r>
          </a:p>
        </p:txBody>
      </p:sp>
      <p:sp>
        <p:nvSpPr>
          <p:cNvPr id="4" name="Rounded Rectangle 3"/>
          <p:cNvSpPr/>
          <p:nvPr/>
        </p:nvSpPr>
        <p:spPr>
          <a:xfrm>
            <a:off x="621792" y="1417320"/>
            <a:ext cx="3703320" cy="60350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49808" y="1581912"/>
            <a:ext cx="1097280" cy="256032"/>
          </a:xfrm>
          <a:prstGeom prst="roundRect">
            <a:avLst/>
          </a:prstGeom>
          <a:solidFill>
            <a:srgbClr val="3155F6"/>
          </a:solidFill>
          <a:ln w="10160">
            <a:solidFill>
              <a:srgbClr val="3155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23060"/>
            <a:ext cx="1042415" cy="164592"/>
          </a:xfrm>
          <a:prstGeom prst="rect">
            <a:avLst/>
          </a:prstGeom>
          <a:noFill/>
        </p:spPr>
        <p:txBody>
          <a:bodyPr wrap="square" lIns="36576" tIns="36576" rIns="36576" bIns="36576" anchor="t">
            <a:spAutoFit/>
          </a:bodyPr>
          <a:lstStyle/>
          <a:p>
            <a:pPr algn="ctr"/>
            <a:r>
              <a:rPr sz="750" b="1" i="0">
                <a:solidFill>
                  <a:srgbClr val="FFFFFF"/>
                </a:solidFill>
                <a:latin typeface="Aptos"/>
              </a:rPr>
              <a:t>Lewis</a:t>
            </a:r>
          </a:p>
        </p:txBody>
      </p:sp>
      <p:sp>
        <p:nvSpPr>
          <p:cNvPr id="7" name="TextBox 6"/>
          <p:cNvSpPr txBox="1"/>
          <p:nvPr/>
        </p:nvSpPr>
        <p:spPr>
          <a:xfrm>
            <a:off x="1965960" y="1527048"/>
            <a:ext cx="2148840" cy="402336"/>
          </a:xfrm>
          <a:prstGeom prst="rect">
            <a:avLst/>
          </a:prstGeom>
          <a:noFill/>
        </p:spPr>
        <p:txBody>
          <a:bodyPr wrap="square" lIns="36576" tIns="36576" rIns="36576" bIns="36576" anchor="t">
            <a:spAutoFit/>
          </a:bodyPr>
          <a:lstStyle/>
          <a:p>
            <a:pPr algn="l"/>
            <a:r>
              <a:rPr sz="919" b="1" i="0">
                <a:solidFill>
                  <a:srgbClr val="111827"/>
                </a:solidFill>
                <a:latin typeface="Aptos"/>
              </a:rPr>
              <a:t>Retrieve external knowledge before generation</a:t>
            </a:r>
          </a:p>
        </p:txBody>
      </p:sp>
      <p:sp>
        <p:nvSpPr>
          <p:cNvPr id="8" name="Rounded Rectangle 7"/>
          <p:cNvSpPr/>
          <p:nvPr/>
        </p:nvSpPr>
        <p:spPr>
          <a:xfrm>
            <a:off x="621792" y="2194560"/>
            <a:ext cx="3703320" cy="60350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49808" y="2359152"/>
            <a:ext cx="1097280" cy="256032"/>
          </a:xfrm>
          <a:prstGeom prst="roundRect">
            <a:avLst/>
          </a:prstGeom>
          <a:solidFill>
            <a:srgbClr val="12B8A6"/>
          </a:solidFill>
          <a:ln w="10160">
            <a:solidFill>
              <a:srgbClr val="12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400300"/>
            <a:ext cx="1042415" cy="164592"/>
          </a:xfrm>
          <a:prstGeom prst="rect">
            <a:avLst/>
          </a:prstGeom>
          <a:noFill/>
        </p:spPr>
        <p:txBody>
          <a:bodyPr wrap="square" lIns="36576" tIns="36576" rIns="36576" bIns="36576" anchor="t">
            <a:spAutoFit/>
          </a:bodyPr>
          <a:lstStyle/>
          <a:p>
            <a:pPr algn="ctr"/>
            <a:r>
              <a:rPr sz="750" b="1" i="0">
                <a:solidFill>
                  <a:srgbClr val="FFFFFF"/>
                </a:solidFill>
                <a:latin typeface="Aptos"/>
              </a:rPr>
              <a:t>REALM</a:t>
            </a:r>
          </a:p>
        </p:txBody>
      </p:sp>
      <p:sp>
        <p:nvSpPr>
          <p:cNvPr id="11" name="TextBox 10"/>
          <p:cNvSpPr txBox="1"/>
          <p:nvPr/>
        </p:nvSpPr>
        <p:spPr>
          <a:xfrm>
            <a:off x="1965960" y="2304288"/>
            <a:ext cx="2148840" cy="402336"/>
          </a:xfrm>
          <a:prstGeom prst="rect">
            <a:avLst/>
          </a:prstGeom>
          <a:noFill/>
        </p:spPr>
        <p:txBody>
          <a:bodyPr wrap="square" lIns="36576" tIns="36576" rIns="36576" bIns="36576" anchor="t">
            <a:spAutoFit/>
          </a:bodyPr>
          <a:lstStyle/>
          <a:p>
            <a:pPr algn="l"/>
            <a:r>
              <a:rPr sz="919" b="1" i="0">
                <a:solidFill>
                  <a:srgbClr val="111827"/>
                </a:solidFill>
                <a:latin typeface="Aptos"/>
              </a:rPr>
              <a:t>Keep knowledge modular and externally indexed</a:t>
            </a:r>
          </a:p>
        </p:txBody>
      </p:sp>
      <p:sp>
        <p:nvSpPr>
          <p:cNvPr id="12" name="Rounded Rectangle 11"/>
          <p:cNvSpPr/>
          <p:nvPr/>
        </p:nvSpPr>
        <p:spPr>
          <a:xfrm>
            <a:off x="621792" y="2971800"/>
            <a:ext cx="3703320" cy="60350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49808" y="3136392"/>
            <a:ext cx="1097280" cy="256032"/>
          </a:xfrm>
          <a:prstGeom prst="roundRect">
            <a:avLst/>
          </a:prstGeom>
          <a:solidFill>
            <a:srgbClr val="F59E0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177540"/>
            <a:ext cx="1042415" cy="164592"/>
          </a:xfrm>
          <a:prstGeom prst="rect">
            <a:avLst/>
          </a:prstGeom>
          <a:noFill/>
        </p:spPr>
        <p:txBody>
          <a:bodyPr wrap="square" lIns="36576" tIns="36576" rIns="36576" bIns="36576" anchor="t">
            <a:spAutoFit/>
          </a:bodyPr>
          <a:lstStyle/>
          <a:p>
            <a:pPr algn="ctr"/>
            <a:r>
              <a:rPr sz="750" b="1" i="0">
                <a:solidFill>
                  <a:srgbClr val="FFFFFF"/>
                </a:solidFill>
                <a:latin typeface="Aptos"/>
              </a:rPr>
              <a:t>Lost</a:t>
            </a:r>
          </a:p>
        </p:txBody>
      </p:sp>
      <p:sp>
        <p:nvSpPr>
          <p:cNvPr id="15" name="TextBox 14"/>
          <p:cNvSpPr txBox="1"/>
          <p:nvPr/>
        </p:nvSpPr>
        <p:spPr>
          <a:xfrm>
            <a:off x="1965960" y="3081528"/>
            <a:ext cx="2148840" cy="402336"/>
          </a:xfrm>
          <a:prstGeom prst="rect">
            <a:avLst/>
          </a:prstGeom>
          <a:noFill/>
        </p:spPr>
        <p:txBody>
          <a:bodyPr wrap="square" lIns="36576" tIns="36576" rIns="36576" bIns="36576" anchor="t">
            <a:spAutoFit/>
          </a:bodyPr>
          <a:lstStyle/>
          <a:p>
            <a:pPr algn="l"/>
            <a:r>
              <a:rPr sz="919" b="1" i="0">
                <a:solidFill>
                  <a:srgbClr val="111827"/>
                </a:solidFill>
                <a:latin typeface="Aptos"/>
              </a:rPr>
              <a:t>Avoid overloading the model with long, noisy context</a:t>
            </a:r>
          </a:p>
        </p:txBody>
      </p:sp>
      <p:sp>
        <p:nvSpPr>
          <p:cNvPr id="16" name="Rounded Rectangle 15"/>
          <p:cNvSpPr/>
          <p:nvPr/>
        </p:nvSpPr>
        <p:spPr>
          <a:xfrm>
            <a:off x="621792" y="3749039"/>
            <a:ext cx="3703320" cy="60350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49808" y="3913631"/>
            <a:ext cx="1097280" cy="256032"/>
          </a:xfrm>
          <a:prstGeom prst="roundRect">
            <a:avLst/>
          </a:prstGeom>
          <a:solidFill>
            <a:srgbClr val="22C55E"/>
          </a:solidFill>
          <a:ln w="1016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954779"/>
            <a:ext cx="1042415" cy="164592"/>
          </a:xfrm>
          <a:prstGeom prst="rect">
            <a:avLst/>
          </a:prstGeom>
          <a:noFill/>
        </p:spPr>
        <p:txBody>
          <a:bodyPr wrap="square" lIns="36576" tIns="36576" rIns="36576" bIns="36576" anchor="t">
            <a:spAutoFit/>
          </a:bodyPr>
          <a:lstStyle/>
          <a:p>
            <a:pPr algn="ctr"/>
            <a:r>
              <a:rPr sz="750" b="1" i="0">
                <a:solidFill>
                  <a:srgbClr val="FFFFFF"/>
                </a:solidFill>
                <a:latin typeface="Aptos"/>
              </a:rPr>
              <a:t>Self-RAG</a:t>
            </a:r>
          </a:p>
        </p:txBody>
      </p:sp>
      <p:sp>
        <p:nvSpPr>
          <p:cNvPr id="19" name="TextBox 18"/>
          <p:cNvSpPr txBox="1"/>
          <p:nvPr/>
        </p:nvSpPr>
        <p:spPr>
          <a:xfrm>
            <a:off x="1965960" y="3858768"/>
            <a:ext cx="2148840" cy="402336"/>
          </a:xfrm>
          <a:prstGeom prst="rect">
            <a:avLst/>
          </a:prstGeom>
          <a:noFill/>
        </p:spPr>
        <p:txBody>
          <a:bodyPr wrap="square" lIns="36576" tIns="36576" rIns="36576" bIns="36576" anchor="t">
            <a:spAutoFit/>
          </a:bodyPr>
          <a:lstStyle/>
          <a:p>
            <a:pPr algn="l"/>
            <a:r>
              <a:rPr sz="919" b="1" i="0">
                <a:solidFill>
                  <a:srgbClr val="111827"/>
                </a:solidFill>
                <a:latin typeface="Aptos"/>
              </a:rPr>
              <a:t>Improve retrieval robustness in later versions</a:t>
            </a:r>
          </a:p>
        </p:txBody>
      </p:sp>
      <p:sp>
        <p:nvSpPr>
          <p:cNvPr id="20" name="Rounded Rectangle 19"/>
          <p:cNvSpPr/>
          <p:nvPr/>
        </p:nvSpPr>
        <p:spPr>
          <a:xfrm>
            <a:off x="621792" y="4526280"/>
            <a:ext cx="3703320" cy="60350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49808" y="4690872"/>
            <a:ext cx="1097280" cy="256032"/>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732020"/>
            <a:ext cx="1042415" cy="164592"/>
          </a:xfrm>
          <a:prstGeom prst="rect">
            <a:avLst/>
          </a:prstGeom>
          <a:noFill/>
        </p:spPr>
        <p:txBody>
          <a:bodyPr wrap="square" lIns="36576" tIns="36576" rIns="36576" bIns="36576" anchor="t">
            <a:spAutoFit/>
          </a:bodyPr>
          <a:lstStyle/>
          <a:p>
            <a:pPr algn="ctr"/>
            <a:r>
              <a:rPr sz="750" b="1" i="0">
                <a:solidFill>
                  <a:srgbClr val="FFFFFF"/>
                </a:solidFill>
                <a:latin typeface="Aptos"/>
              </a:rPr>
              <a:t>RAGAS</a:t>
            </a:r>
          </a:p>
        </p:txBody>
      </p:sp>
      <p:sp>
        <p:nvSpPr>
          <p:cNvPr id="23" name="TextBox 22"/>
          <p:cNvSpPr txBox="1"/>
          <p:nvPr/>
        </p:nvSpPr>
        <p:spPr>
          <a:xfrm>
            <a:off x="1965960" y="4636008"/>
            <a:ext cx="2148840" cy="402336"/>
          </a:xfrm>
          <a:prstGeom prst="rect">
            <a:avLst/>
          </a:prstGeom>
          <a:noFill/>
        </p:spPr>
        <p:txBody>
          <a:bodyPr wrap="square" lIns="36576" tIns="36576" rIns="36576" bIns="36576" anchor="t">
            <a:spAutoFit/>
          </a:bodyPr>
          <a:lstStyle/>
          <a:p>
            <a:pPr algn="l"/>
            <a:r>
              <a:rPr sz="919" b="1" i="0">
                <a:solidFill>
                  <a:srgbClr val="111827"/>
                </a:solidFill>
                <a:latin typeface="Aptos"/>
              </a:rPr>
              <a:t>Define measurable evaluation criteria</a:t>
            </a:r>
          </a:p>
        </p:txBody>
      </p:sp>
      <p:sp>
        <p:nvSpPr>
          <p:cNvPr id="24" name="TextBox 23"/>
          <p:cNvSpPr txBox="1"/>
          <p:nvPr/>
        </p:nvSpPr>
        <p:spPr>
          <a:xfrm>
            <a:off x="4498848" y="2697480"/>
            <a:ext cx="475488" cy="411480"/>
          </a:xfrm>
          <a:prstGeom prst="rect">
            <a:avLst/>
          </a:prstGeom>
          <a:noFill/>
        </p:spPr>
        <p:txBody>
          <a:bodyPr wrap="square" lIns="36576" tIns="36576" rIns="36576" bIns="36576" anchor="t">
            <a:spAutoFit/>
          </a:bodyPr>
          <a:lstStyle/>
          <a:p>
            <a:pPr algn="ctr"/>
            <a:r>
              <a:rPr sz="2400" b="1" i="0">
                <a:solidFill>
                  <a:srgbClr val="667085"/>
                </a:solidFill>
                <a:latin typeface="Aptos"/>
              </a:rPr>
              <a:t>→</a:t>
            </a:r>
          </a:p>
        </p:txBody>
      </p:sp>
      <p:sp>
        <p:nvSpPr>
          <p:cNvPr id="25" name="Rounded Rectangle 24"/>
          <p:cNvSpPr/>
          <p:nvPr/>
        </p:nvSpPr>
        <p:spPr>
          <a:xfrm>
            <a:off x="5047488" y="1353312"/>
            <a:ext cx="2788920" cy="4069080"/>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85232" y="1664208"/>
            <a:ext cx="2313432" cy="329184"/>
          </a:xfrm>
          <a:prstGeom prst="rect">
            <a:avLst/>
          </a:prstGeom>
          <a:noFill/>
        </p:spPr>
        <p:txBody>
          <a:bodyPr wrap="square" lIns="36576" tIns="36576" rIns="36576" bIns="36576" anchor="t">
            <a:spAutoFit/>
          </a:bodyPr>
          <a:lstStyle/>
          <a:p>
            <a:pPr algn="ctr"/>
            <a:r>
              <a:rPr sz="1100" b="1" i="0">
                <a:solidFill>
                  <a:srgbClr val="FFFFFF"/>
                </a:solidFill>
                <a:latin typeface="Aptos"/>
              </a:rPr>
              <a:t>PROPOSED PROTOTYPE</a:t>
            </a:r>
          </a:p>
        </p:txBody>
      </p:sp>
      <p:sp>
        <p:nvSpPr>
          <p:cNvPr id="27" name="Rounded Rectangle 26"/>
          <p:cNvSpPr/>
          <p:nvPr/>
        </p:nvSpPr>
        <p:spPr>
          <a:xfrm>
            <a:off x="5349240" y="2212848"/>
            <a:ext cx="2176272" cy="256032"/>
          </a:xfrm>
          <a:prstGeom prst="roundRect">
            <a:avLst/>
          </a:prstGeom>
          <a:solidFill>
            <a:srgbClr val="12B8A6"/>
          </a:solidFill>
          <a:ln w="10160">
            <a:solidFill>
              <a:srgbClr val="12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76672" y="2253996"/>
            <a:ext cx="2121408" cy="164592"/>
          </a:xfrm>
          <a:prstGeom prst="rect">
            <a:avLst/>
          </a:prstGeom>
          <a:noFill/>
        </p:spPr>
        <p:txBody>
          <a:bodyPr wrap="square" lIns="36576" tIns="36576" rIns="36576" bIns="36576" anchor="t">
            <a:spAutoFit/>
          </a:bodyPr>
          <a:lstStyle/>
          <a:p>
            <a:pPr algn="ctr"/>
            <a:r>
              <a:rPr sz="750" b="1" i="0">
                <a:solidFill>
                  <a:srgbClr val="FFFFFF"/>
                </a:solidFill>
                <a:latin typeface="Aptos"/>
              </a:rPr>
              <a:t>Document ingestion</a:t>
            </a:r>
          </a:p>
        </p:txBody>
      </p:sp>
      <p:sp>
        <p:nvSpPr>
          <p:cNvPr id="29" name="Rounded Rectangle 28"/>
          <p:cNvSpPr/>
          <p:nvPr/>
        </p:nvSpPr>
        <p:spPr>
          <a:xfrm>
            <a:off x="5349240" y="2642615"/>
            <a:ext cx="2176272" cy="256032"/>
          </a:xfrm>
          <a:prstGeom prst="roundRect">
            <a:avLst/>
          </a:prstGeom>
          <a:solidFill>
            <a:srgbClr val="3155F6"/>
          </a:solidFill>
          <a:ln w="10160">
            <a:solidFill>
              <a:srgbClr val="3155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76672" y="2683763"/>
            <a:ext cx="2121408" cy="164592"/>
          </a:xfrm>
          <a:prstGeom prst="rect">
            <a:avLst/>
          </a:prstGeom>
          <a:noFill/>
        </p:spPr>
        <p:txBody>
          <a:bodyPr wrap="square" lIns="36576" tIns="36576" rIns="36576" bIns="36576" anchor="t">
            <a:spAutoFit/>
          </a:bodyPr>
          <a:lstStyle/>
          <a:p>
            <a:pPr algn="ctr"/>
            <a:r>
              <a:rPr sz="750" b="1" i="0">
                <a:solidFill>
                  <a:srgbClr val="FFFFFF"/>
                </a:solidFill>
                <a:latin typeface="Aptos"/>
              </a:rPr>
              <a:t>Semantic retrieval</a:t>
            </a:r>
          </a:p>
        </p:txBody>
      </p:sp>
      <p:sp>
        <p:nvSpPr>
          <p:cNvPr id="31" name="Rounded Rectangle 30"/>
          <p:cNvSpPr/>
          <p:nvPr/>
        </p:nvSpPr>
        <p:spPr>
          <a:xfrm>
            <a:off x="5349240" y="3072383"/>
            <a:ext cx="2176272" cy="256032"/>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76672" y="3113531"/>
            <a:ext cx="2121408" cy="164592"/>
          </a:xfrm>
          <a:prstGeom prst="rect">
            <a:avLst/>
          </a:prstGeom>
          <a:noFill/>
        </p:spPr>
        <p:txBody>
          <a:bodyPr wrap="square" lIns="36576" tIns="36576" rIns="36576" bIns="36576" anchor="t">
            <a:spAutoFit/>
          </a:bodyPr>
          <a:lstStyle/>
          <a:p>
            <a:pPr algn="ctr"/>
            <a:r>
              <a:rPr sz="750" b="1" i="0">
                <a:solidFill>
                  <a:srgbClr val="FFFFFF"/>
                </a:solidFill>
                <a:latin typeface="Aptos"/>
              </a:rPr>
              <a:t>LLM generation</a:t>
            </a:r>
          </a:p>
        </p:txBody>
      </p:sp>
      <p:sp>
        <p:nvSpPr>
          <p:cNvPr id="33" name="Rounded Rectangle 32"/>
          <p:cNvSpPr/>
          <p:nvPr/>
        </p:nvSpPr>
        <p:spPr>
          <a:xfrm>
            <a:off x="5349240" y="3502151"/>
            <a:ext cx="2176272" cy="256032"/>
          </a:xfrm>
          <a:prstGeom prst="roundRect">
            <a:avLst/>
          </a:prstGeom>
          <a:solidFill>
            <a:srgbClr val="F59E0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76672" y="3543299"/>
            <a:ext cx="2121408" cy="164592"/>
          </a:xfrm>
          <a:prstGeom prst="rect">
            <a:avLst/>
          </a:prstGeom>
          <a:noFill/>
        </p:spPr>
        <p:txBody>
          <a:bodyPr wrap="square" lIns="36576" tIns="36576" rIns="36576" bIns="36576" anchor="t">
            <a:spAutoFit/>
          </a:bodyPr>
          <a:lstStyle/>
          <a:p>
            <a:pPr algn="ctr"/>
            <a:r>
              <a:rPr sz="750" b="1" i="0">
                <a:solidFill>
                  <a:srgbClr val="FFFFFF"/>
                </a:solidFill>
                <a:latin typeface="Aptos"/>
              </a:rPr>
              <a:t>Source citations</a:t>
            </a:r>
          </a:p>
        </p:txBody>
      </p:sp>
      <p:sp>
        <p:nvSpPr>
          <p:cNvPr id="35" name="Rounded Rectangle 34"/>
          <p:cNvSpPr/>
          <p:nvPr/>
        </p:nvSpPr>
        <p:spPr>
          <a:xfrm>
            <a:off x="5349240" y="3931919"/>
            <a:ext cx="2176272" cy="256032"/>
          </a:xfrm>
          <a:prstGeom prst="roundRect">
            <a:avLst/>
          </a:prstGeom>
          <a:solidFill>
            <a:srgbClr val="22C55E"/>
          </a:solidFill>
          <a:ln w="1016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76672" y="3973067"/>
            <a:ext cx="2121408" cy="164592"/>
          </a:xfrm>
          <a:prstGeom prst="rect">
            <a:avLst/>
          </a:prstGeom>
          <a:noFill/>
        </p:spPr>
        <p:txBody>
          <a:bodyPr wrap="square" lIns="36576" tIns="36576" rIns="36576" bIns="36576" anchor="t">
            <a:spAutoFit/>
          </a:bodyPr>
          <a:lstStyle/>
          <a:p>
            <a:pPr algn="ctr"/>
            <a:r>
              <a:rPr sz="750" b="1" i="0">
                <a:solidFill>
                  <a:srgbClr val="FFFFFF"/>
                </a:solidFill>
                <a:latin typeface="Aptos"/>
              </a:rPr>
              <a:t>Access control</a:t>
            </a:r>
          </a:p>
        </p:txBody>
      </p:sp>
      <p:sp>
        <p:nvSpPr>
          <p:cNvPr id="37" name="Rounded Rectangle 36"/>
          <p:cNvSpPr/>
          <p:nvPr/>
        </p:nvSpPr>
        <p:spPr>
          <a:xfrm>
            <a:off x="5349240" y="4361687"/>
            <a:ext cx="2176272" cy="256032"/>
          </a:xfrm>
          <a:prstGeom prst="roundRect">
            <a:avLst/>
          </a:prstGeom>
          <a:solidFill>
            <a:srgbClr val="F1F4F9"/>
          </a:solidFill>
          <a:ln w="10160">
            <a:solidFill>
              <a:srgbClr val="F1F4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76672" y="4402835"/>
            <a:ext cx="2121408" cy="164592"/>
          </a:xfrm>
          <a:prstGeom prst="rect">
            <a:avLst/>
          </a:prstGeom>
          <a:noFill/>
        </p:spPr>
        <p:txBody>
          <a:bodyPr wrap="square" lIns="36576" tIns="36576" rIns="36576" bIns="36576" anchor="t">
            <a:spAutoFit/>
          </a:bodyPr>
          <a:lstStyle/>
          <a:p>
            <a:pPr algn="ctr"/>
            <a:r>
              <a:rPr sz="750" b="1" i="0">
                <a:solidFill>
                  <a:srgbClr val="0C1427"/>
                </a:solidFill>
                <a:latin typeface="Aptos"/>
              </a:rPr>
              <a:t>Evaluation</a:t>
            </a:r>
          </a:p>
        </p:txBody>
      </p:sp>
      <p:sp>
        <p:nvSpPr>
          <p:cNvPr id="39" name="Rounded Rectangle 38"/>
          <p:cNvSpPr/>
          <p:nvPr/>
        </p:nvSpPr>
        <p:spPr>
          <a:xfrm>
            <a:off x="8183879" y="1353312"/>
            <a:ext cx="3383280" cy="406908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8394192" y="1572768"/>
            <a:ext cx="1353312" cy="256032"/>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21624" y="1613916"/>
            <a:ext cx="1298448" cy="164592"/>
          </a:xfrm>
          <a:prstGeom prst="rect">
            <a:avLst/>
          </a:prstGeom>
          <a:noFill/>
        </p:spPr>
        <p:txBody>
          <a:bodyPr wrap="square" lIns="36576" tIns="36576" rIns="36576" bIns="36576" anchor="t">
            <a:spAutoFit/>
          </a:bodyPr>
          <a:lstStyle/>
          <a:p>
            <a:pPr algn="ctr"/>
            <a:r>
              <a:rPr sz="750" b="1" i="0">
                <a:solidFill>
                  <a:srgbClr val="FFFFFF"/>
                </a:solidFill>
                <a:latin typeface="Aptos"/>
              </a:rPr>
              <a:t>EXPECTED OUTPUT</a:t>
            </a:r>
          </a:p>
        </p:txBody>
      </p:sp>
      <p:sp>
        <p:nvSpPr>
          <p:cNvPr id="42" name="TextBox 41"/>
          <p:cNvSpPr txBox="1"/>
          <p:nvPr/>
        </p:nvSpPr>
        <p:spPr>
          <a:xfrm>
            <a:off x="8394192" y="1965960"/>
            <a:ext cx="2880360" cy="502920"/>
          </a:xfrm>
          <a:prstGeom prst="rect">
            <a:avLst/>
          </a:prstGeom>
          <a:noFill/>
        </p:spPr>
        <p:txBody>
          <a:bodyPr wrap="square" lIns="36576" tIns="36576" rIns="36576" bIns="36576" anchor="t">
            <a:spAutoFit/>
          </a:bodyPr>
          <a:lstStyle/>
          <a:p>
            <a:pPr algn="l"/>
            <a:r>
              <a:rPr sz="1400" b="1" i="0">
                <a:solidFill>
                  <a:srgbClr val="111827"/>
                </a:solidFill>
                <a:latin typeface="Aptos Display"/>
              </a:rPr>
              <a:t>A secure assistant that can answer from company documents with evidence.</a:t>
            </a:r>
          </a:p>
        </p:txBody>
      </p:sp>
      <p:sp>
        <p:nvSpPr>
          <p:cNvPr id="43" name="TextBox 42"/>
          <p:cNvSpPr txBox="1"/>
          <p:nvPr/>
        </p:nvSpPr>
        <p:spPr>
          <a:xfrm>
            <a:off x="8394192" y="2679192"/>
            <a:ext cx="2788920" cy="2057400"/>
          </a:xfrm>
          <a:prstGeom prst="rect">
            <a:avLst/>
          </a:prstGeom>
          <a:noFill/>
        </p:spPr>
        <p:txBody>
          <a:bodyPr wrap="square" lIns="18288" tIns="18288" rIns="18288" bIns="18288">
            <a:spAutoFit/>
          </a:bodyPr>
          <a:lstStyle/>
          <a:p>
            <a:pPr>
              <a:spcAft>
                <a:spcPts val="300"/>
              </a:spcAft>
              <a:defRPr sz="969">
                <a:solidFill>
                  <a:srgbClr val="111827"/>
                </a:solidFill>
                <a:latin typeface="Aptos"/>
              </a:defRPr>
            </a:pPr>
            <a:r>
              <a:t>Relevant chunks are retrieved</a:t>
            </a:r>
          </a:p>
          <a:p>
            <a:pPr>
              <a:spcAft>
                <a:spcPts val="300"/>
              </a:spcAft>
              <a:defRPr sz="969">
                <a:solidFill>
                  <a:srgbClr val="111827"/>
                </a:solidFill>
                <a:latin typeface="Aptos"/>
              </a:defRPr>
            </a:pPr>
            <a:r>
              <a:t>Answer is grounded in context</a:t>
            </a:r>
          </a:p>
          <a:p>
            <a:pPr>
              <a:spcAft>
                <a:spcPts val="300"/>
              </a:spcAft>
              <a:defRPr sz="969">
                <a:solidFill>
                  <a:srgbClr val="111827"/>
                </a:solidFill>
                <a:latin typeface="Aptos"/>
              </a:defRPr>
            </a:pPr>
            <a:r>
              <a:t>Sources are visible to the employee</a:t>
            </a:r>
          </a:p>
          <a:p>
            <a:pPr>
              <a:spcAft>
                <a:spcPts val="300"/>
              </a:spcAft>
              <a:defRPr sz="969">
                <a:solidFill>
                  <a:srgbClr val="111827"/>
                </a:solidFill>
                <a:latin typeface="Aptos"/>
              </a:defRPr>
            </a:pPr>
            <a:r>
              <a:t>Unauthorized documents stay out of retrieval</a:t>
            </a:r>
          </a:p>
          <a:p>
            <a:pPr>
              <a:spcAft>
                <a:spcPts val="300"/>
              </a:spcAft>
              <a:defRPr sz="969">
                <a:solidFill>
                  <a:srgbClr val="111827"/>
                </a:solidFill>
                <a:latin typeface="Aptos"/>
              </a:defRPr>
            </a:pPr>
            <a:r>
              <a:t>Quality can be measured and improved</a:t>
            </a:r>
          </a:p>
        </p:txBody>
      </p:sp>
      <p:sp>
        <p:nvSpPr>
          <p:cNvPr id="44" name="TextBox 43"/>
          <p:cNvSpPr txBox="1"/>
          <p:nvPr/>
        </p:nvSpPr>
        <p:spPr>
          <a:xfrm>
            <a:off x="8394192" y="4901184"/>
            <a:ext cx="2788920" cy="292608"/>
          </a:xfrm>
          <a:prstGeom prst="rect">
            <a:avLst/>
          </a:prstGeom>
          <a:noFill/>
        </p:spPr>
        <p:txBody>
          <a:bodyPr wrap="square" lIns="36576" tIns="36576" rIns="36576" bIns="36576" anchor="t">
            <a:spAutoFit/>
          </a:bodyPr>
          <a:lstStyle/>
          <a:p>
            <a:pPr algn="l"/>
            <a:r>
              <a:rPr sz="850" b="0" i="1">
                <a:solidFill>
                  <a:srgbClr val="667085"/>
                </a:solidFill>
                <a:latin typeface="Aptos"/>
              </a:rPr>
              <a:t>This is the link between our literature survey and Week 3 requirements.</a:t>
            </a:r>
          </a:p>
        </p:txBody>
      </p:sp>
      <p:sp>
        <p:nvSpPr>
          <p:cNvPr id="45" name="Rectangle 44"/>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47" name="TextBox 46"/>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789920" cy="438912"/>
          </a:xfrm>
          <a:prstGeom prst="rect">
            <a:avLst/>
          </a:prstGeom>
          <a:noFill/>
        </p:spPr>
        <p:txBody>
          <a:bodyPr wrap="square" lIns="36576" tIns="36576" rIns="36576" bIns="36576" anchor="t">
            <a:spAutoFit/>
          </a:bodyPr>
          <a:lstStyle/>
          <a:p>
            <a:pPr algn="l"/>
            <a:r>
              <a:rPr sz="2200" b="1" i="0">
                <a:solidFill>
                  <a:srgbClr val="111827"/>
                </a:solidFill>
                <a:latin typeface="Aptos Display"/>
              </a:rPr>
              <a:t>Week 2F. Research gap and proposed contribution</a:t>
            </a:r>
          </a:p>
        </p:txBody>
      </p:sp>
      <p:sp>
        <p:nvSpPr>
          <p:cNvPr id="3" name="TextBox 2"/>
          <p:cNvSpPr txBox="1"/>
          <p:nvPr/>
        </p:nvSpPr>
        <p:spPr>
          <a:xfrm>
            <a:off x="612648" y="841248"/>
            <a:ext cx="10698480" cy="292608"/>
          </a:xfrm>
          <a:prstGeom prst="rect">
            <a:avLst/>
          </a:prstGeom>
          <a:noFill/>
        </p:spPr>
        <p:txBody>
          <a:bodyPr wrap="square" lIns="36576" tIns="36576" rIns="36576" bIns="36576" anchor="t">
            <a:spAutoFit/>
          </a:bodyPr>
          <a:lstStyle/>
          <a:p>
            <a:pPr algn="l"/>
            <a:r>
              <a:rPr sz="950" b="0" i="0">
                <a:solidFill>
                  <a:srgbClr val="667085"/>
                </a:solidFill>
                <a:latin typeface="Aptos"/>
              </a:rPr>
              <a:t>We do not claim the market lacks these products; we define a focused academic implementation and evaluation gap.</a:t>
            </a:r>
          </a:p>
        </p:txBody>
      </p:sp>
      <p:sp>
        <p:nvSpPr>
          <p:cNvPr id="4" name="Rounded Rectangle 3"/>
          <p:cNvSpPr/>
          <p:nvPr/>
        </p:nvSpPr>
        <p:spPr>
          <a:xfrm>
            <a:off x="621792" y="1325880"/>
            <a:ext cx="5394960" cy="443484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41248" y="1554480"/>
            <a:ext cx="1417320" cy="256032"/>
          </a:xfrm>
          <a:prstGeom prst="roundRect">
            <a:avLst/>
          </a:prstGeom>
          <a:solidFill>
            <a:srgbClr val="667085"/>
          </a:solidFill>
          <a:ln w="10160">
            <a:solidFill>
              <a:srgbClr val="667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595628"/>
            <a:ext cx="1362456" cy="164592"/>
          </a:xfrm>
          <a:prstGeom prst="rect">
            <a:avLst/>
          </a:prstGeom>
          <a:noFill/>
        </p:spPr>
        <p:txBody>
          <a:bodyPr wrap="square" lIns="36576" tIns="36576" rIns="36576" bIns="36576" anchor="t">
            <a:spAutoFit/>
          </a:bodyPr>
          <a:lstStyle/>
          <a:p>
            <a:pPr algn="ctr"/>
            <a:r>
              <a:rPr sz="750" b="1" i="0">
                <a:solidFill>
                  <a:srgbClr val="FFFFFF"/>
                </a:solidFill>
                <a:latin typeface="Aptos"/>
              </a:rPr>
              <a:t>WHAT ALREADY EXISTS</a:t>
            </a:r>
          </a:p>
        </p:txBody>
      </p:sp>
      <p:sp>
        <p:nvSpPr>
          <p:cNvPr id="7" name="TextBox 6"/>
          <p:cNvSpPr txBox="1"/>
          <p:nvPr/>
        </p:nvSpPr>
        <p:spPr>
          <a:xfrm>
            <a:off x="868680" y="2029968"/>
            <a:ext cx="4709160" cy="2148840"/>
          </a:xfrm>
          <a:prstGeom prst="rect">
            <a:avLst/>
          </a:prstGeom>
          <a:noFill/>
        </p:spPr>
        <p:txBody>
          <a:bodyPr wrap="square" lIns="18288" tIns="18288" rIns="18288" bIns="18288">
            <a:spAutoFit/>
          </a:bodyPr>
          <a:lstStyle/>
          <a:p>
            <a:pPr>
              <a:spcAft>
                <a:spcPts val="300"/>
              </a:spcAft>
              <a:defRPr sz="1019">
                <a:solidFill>
                  <a:srgbClr val="111827"/>
                </a:solidFill>
                <a:latin typeface="Aptos"/>
              </a:defRPr>
            </a:pPr>
            <a:r>
              <a:t>RAG research already demonstrates retrieval + generation for knowledge-intensive tasks.</a:t>
            </a:r>
          </a:p>
          <a:p>
            <a:pPr>
              <a:spcAft>
                <a:spcPts val="300"/>
              </a:spcAft>
              <a:defRPr sz="1019">
                <a:solidFill>
                  <a:srgbClr val="111827"/>
                </a:solidFill>
                <a:latin typeface="Aptos"/>
              </a:defRPr>
            </a:pPr>
            <a:r>
              <a:t>Commercial enterprise assistants already combine search, AI answers, citations and permissions.</a:t>
            </a:r>
          </a:p>
          <a:p>
            <a:pPr>
              <a:spcAft>
                <a:spcPts val="300"/>
              </a:spcAft>
              <a:defRPr sz="1019">
                <a:solidFill>
                  <a:srgbClr val="111827"/>
                </a:solidFill>
                <a:latin typeface="Aptos"/>
              </a:defRPr>
            </a:pPr>
            <a:r>
              <a:t>Advanced research studies retrieval quality, self-reflection and automated evaluation.</a:t>
            </a:r>
          </a:p>
        </p:txBody>
      </p:sp>
      <p:sp>
        <p:nvSpPr>
          <p:cNvPr id="8" name="Rounded Rectangle 7"/>
          <p:cNvSpPr/>
          <p:nvPr/>
        </p:nvSpPr>
        <p:spPr>
          <a:xfrm>
            <a:off x="868680" y="4370832"/>
            <a:ext cx="4709160" cy="1024128"/>
          </a:xfrm>
          <a:prstGeom prst="roundRect">
            <a:avLst/>
          </a:prstGeom>
          <a:solidFill>
            <a:srgbClr val="FFF8EA"/>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4572000"/>
            <a:ext cx="4297680" cy="274320"/>
          </a:xfrm>
          <a:prstGeom prst="rect">
            <a:avLst/>
          </a:prstGeom>
          <a:noFill/>
        </p:spPr>
        <p:txBody>
          <a:bodyPr wrap="square" lIns="36576" tIns="36576" rIns="36576" bIns="36576" anchor="t">
            <a:spAutoFit/>
          </a:bodyPr>
          <a:lstStyle/>
          <a:p>
            <a:pPr algn="l"/>
            <a:r>
              <a:rPr sz="1080" b="1" i="0">
                <a:solidFill>
                  <a:srgbClr val="111827"/>
                </a:solidFill>
                <a:latin typeface="Aptos"/>
              </a:rPr>
              <a:t>Therefore: novelty is not “inventing enterprise AI search.”</a:t>
            </a:r>
          </a:p>
        </p:txBody>
      </p:sp>
      <p:sp>
        <p:nvSpPr>
          <p:cNvPr id="10" name="TextBox 9"/>
          <p:cNvSpPr txBox="1"/>
          <p:nvPr/>
        </p:nvSpPr>
        <p:spPr>
          <a:xfrm>
            <a:off x="1051560" y="4892040"/>
            <a:ext cx="4297680" cy="274320"/>
          </a:xfrm>
          <a:prstGeom prst="rect">
            <a:avLst/>
          </a:prstGeom>
          <a:noFill/>
        </p:spPr>
        <p:txBody>
          <a:bodyPr wrap="square" lIns="36576" tIns="36576" rIns="36576" bIns="36576" anchor="t">
            <a:spAutoFit/>
          </a:bodyPr>
          <a:lstStyle/>
          <a:p>
            <a:pPr algn="l"/>
            <a:r>
              <a:rPr sz="1010" b="1" i="0">
                <a:solidFill>
                  <a:srgbClr val="F59E0B"/>
                </a:solidFill>
                <a:latin typeface="Aptos"/>
              </a:rPr>
              <a:t>The value is in our transparent prototype + focused evaluation.</a:t>
            </a:r>
          </a:p>
        </p:txBody>
      </p:sp>
      <p:sp>
        <p:nvSpPr>
          <p:cNvPr id="11" name="Rounded Rectangle 10"/>
          <p:cNvSpPr/>
          <p:nvPr/>
        </p:nvSpPr>
        <p:spPr>
          <a:xfrm>
            <a:off x="6144768" y="1325880"/>
            <a:ext cx="5440680" cy="4434840"/>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00800" y="1554480"/>
            <a:ext cx="1417320" cy="256032"/>
          </a:xfrm>
          <a:prstGeom prst="roundRect">
            <a:avLst/>
          </a:prstGeom>
          <a:solidFill>
            <a:srgbClr val="12B8A6"/>
          </a:solidFill>
          <a:ln w="10160">
            <a:solidFill>
              <a:srgbClr val="12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28232" y="1595628"/>
            <a:ext cx="1362456" cy="164592"/>
          </a:xfrm>
          <a:prstGeom prst="rect">
            <a:avLst/>
          </a:prstGeom>
          <a:noFill/>
        </p:spPr>
        <p:txBody>
          <a:bodyPr wrap="square" lIns="36576" tIns="36576" rIns="36576" bIns="36576" anchor="t">
            <a:spAutoFit/>
          </a:bodyPr>
          <a:lstStyle/>
          <a:p>
            <a:pPr algn="ctr"/>
            <a:r>
              <a:rPr sz="750" b="1" i="0">
                <a:solidFill>
                  <a:srgbClr val="FFFFFF"/>
                </a:solidFill>
                <a:latin typeface="Aptos"/>
              </a:rPr>
              <a:t>OUR GAP / FOCUS</a:t>
            </a:r>
          </a:p>
        </p:txBody>
      </p:sp>
      <p:sp>
        <p:nvSpPr>
          <p:cNvPr id="14" name="TextBox 13"/>
          <p:cNvSpPr txBox="1"/>
          <p:nvPr/>
        </p:nvSpPr>
        <p:spPr>
          <a:xfrm>
            <a:off x="6400800" y="1965960"/>
            <a:ext cx="4709160" cy="530352"/>
          </a:xfrm>
          <a:prstGeom prst="rect">
            <a:avLst/>
          </a:prstGeom>
          <a:noFill/>
        </p:spPr>
        <p:txBody>
          <a:bodyPr wrap="square" lIns="36576" tIns="36576" rIns="36576" bIns="36576" anchor="t">
            <a:spAutoFit/>
          </a:bodyPr>
          <a:lstStyle/>
          <a:p>
            <a:pPr algn="l"/>
            <a:r>
              <a:rPr sz="1600" b="1" i="0">
                <a:solidFill>
                  <a:srgbClr val="FFFFFF"/>
                </a:solidFill>
                <a:latin typeface="Aptos Display"/>
              </a:rPr>
              <a:t>Build and evaluate a small-scale enterprise RAG assistant that combines:</a:t>
            </a:r>
          </a:p>
        </p:txBody>
      </p:sp>
      <p:sp>
        <p:nvSpPr>
          <p:cNvPr id="15" name="Rounded Rectangle 14"/>
          <p:cNvSpPr/>
          <p:nvPr/>
        </p:nvSpPr>
        <p:spPr>
          <a:xfrm>
            <a:off x="6419088" y="2724912"/>
            <a:ext cx="1463040" cy="256032"/>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2766060"/>
            <a:ext cx="1408176" cy="164592"/>
          </a:xfrm>
          <a:prstGeom prst="rect">
            <a:avLst/>
          </a:prstGeom>
          <a:noFill/>
        </p:spPr>
        <p:txBody>
          <a:bodyPr wrap="square" lIns="36576" tIns="36576" rIns="36576" bIns="36576" anchor="t">
            <a:spAutoFit/>
          </a:bodyPr>
          <a:lstStyle/>
          <a:p>
            <a:pPr algn="ctr"/>
            <a:r>
              <a:rPr sz="750" b="1" i="0">
                <a:solidFill>
                  <a:srgbClr val="0C1427"/>
                </a:solidFill>
                <a:latin typeface="Aptos"/>
              </a:rPr>
              <a:t>Document ingestion</a:t>
            </a:r>
          </a:p>
        </p:txBody>
      </p:sp>
      <p:sp>
        <p:nvSpPr>
          <p:cNvPr id="17" name="TextBox 16"/>
          <p:cNvSpPr txBox="1"/>
          <p:nvPr/>
        </p:nvSpPr>
        <p:spPr>
          <a:xfrm>
            <a:off x="8010144" y="2743200"/>
            <a:ext cx="3127248" cy="292608"/>
          </a:xfrm>
          <a:prstGeom prst="rect">
            <a:avLst/>
          </a:prstGeom>
          <a:noFill/>
        </p:spPr>
        <p:txBody>
          <a:bodyPr wrap="square" lIns="36576" tIns="36576" rIns="36576" bIns="36576" anchor="t">
            <a:spAutoFit/>
          </a:bodyPr>
          <a:lstStyle/>
          <a:p>
            <a:pPr algn="l"/>
            <a:r>
              <a:rPr sz="960" b="1" i="0">
                <a:solidFill>
                  <a:srgbClr val="FFFFFF"/>
                </a:solidFill>
                <a:latin typeface="Aptos"/>
              </a:rPr>
              <a:t>PDF → chunks → embeddings</a:t>
            </a:r>
          </a:p>
        </p:txBody>
      </p:sp>
      <p:sp>
        <p:nvSpPr>
          <p:cNvPr id="18" name="Rounded Rectangle 17"/>
          <p:cNvSpPr/>
          <p:nvPr/>
        </p:nvSpPr>
        <p:spPr>
          <a:xfrm>
            <a:off x="6419088" y="3282696"/>
            <a:ext cx="1463040" cy="256032"/>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3323844"/>
            <a:ext cx="1408176" cy="164592"/>
          </a:xfrm>
          <a:prstGeom prst="rect">
            <a:avLst/>
          </a:prstGeom>
          <a:noFill/>
        </p:spPr>
        <p:txBody>
          <a:bodyPr wrap="square" lIns="36576" tIns="36576" rIns="36576" bIns="36576" anchor="t">
            <a:spAutoFit/>
          </a:bodyPr>
          <a:lstStyle/>
          <a:p>
            <a:pPr algn="ctr"/>
            <a:r>
              <a:rPr sz="750" b="1" i="0">
                <a:solidFill>
                  <a:srgbClr val="0C1427"/>
                </a:solidFill>
                <a:latin typeface="Aptos"/>
              </a:rPr>
              <a:t>Permission-aware retrieval</a:t>
            </a:r>
          </a:p>
        </p:txBody>
      </p:sp>
      <p:sp>
        <p:nvSpPr>
          <p:cNvPr id="20" name="TextBox 19"/>
          <p:cNvSpPr txBox="1"/>
          <p:nvPr/>
        </p:nvSpPr>
        <p:spPr>
          <a:xfrm>
            <a:off x="8010144" y="3300984"/>
            <a:ext cx="3127248" cy="292608"/>
          </a:xfrm>
          <a:prstGeom prst="rect">
            <a:avLst/>
          </a:prstGeom>
          <a:noFill/>
        </p:spPr>
        <p:txBody>
          <a:bodyPr wrap="square" lIns="36576" tIns="36576" rIns="36576" bIns="36576" anchor="t">
            <a:spAutoFit/>
          </a:bodyPr>
          <a:lstStyle/>
          <a:p>
            <a:pPr algn="l"/>
            <a:r>
              <a:rPr sz="960" b="1" i="0">
                <a:solidFill>
                  <a:srgbClr val="FFFFFF"/>
                </a:solidFill>
                <a:latin typeface="Aptos"/>
              </a:rPr>
              <a:t>Only authorized documents enter search</a:t>
            </a:r>
          </a:p>
        </p:txBody>
      </p:sp>
      <p:sp>
        <p:nvSpPr>
          <p:cNvPr id="21" name="Rounded Rectangle 20"/>
          <p:cNvSpPr/>
          <p:nvPr/>
        </p:nvSpPr>
        <p:spPr>
          <a:xfrm>
            <a:off x="6419088" y="3840480"/>
            <a:ext cx="1463040" cy="256032"/>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3881628"/>
            <a:ext cx="1408176" cy="164592"/>
          </a:xfrm>
          <a:prstGeom prst="rect">
            <a:avLst/>
          </a:prstGeom>
          <a:noFill/>
        </p:spPr>
        <p:txBody>
          <a:bodyPr wrap="square" lIns="36576" tIns="36576" rIns="36576" bIns="36576" anchor="t">
            <a:spAutoFit/>
          </a:bodyPr>
          <a:lstStyle/>
          <a:p>
            <a:pPr algn="ctr"/>
            <a:r>
              <a:rPr sz="750" b="1" i="0">
                <a:solidFill>
                  <a:srgbClr val="0C1427"/>
                </a:solidFill>
                <a:latin typeface="Aptos"/>
              </a:rPr>
              <a:t>Grounded response</a:t>
            </a:r>
          </a:p>
        </p:txBody>
      </p:sp>
      <p:sp>
        <p:nvSpPr>
          <p:cNvPr id="23" name="TextBox 22"/>
          <p:cNvSpPr txBox="1"/>
          <p:nvPr/>
        </p:nvSpPr>
        <p:spPr>
          <a:xfrm>
            <a:off x="8010144" y="3858768"/>
            <a:ext cx="3127248" cy="292608"/>
          </a:xfrm>
          <a:prstGeom prst="rect">
            <a:avLst/>
          </a:prstGeom>
          <a:noFill/>
        </p:spPr>
        <p:txBody>
          <a:bodyPr wrap="square" lIns="36576" tIns="36576" rIns="36576" bIns="36576" anchor="t">
            <a:spAutoFit/>
          </a:bodyPr>
          <a:lstStyle/>
          <a:p>
            <a:pPr algn="l"/>
            <a:r>
              <a:rPr sz="960" b="1" i="0">
                <a:solidFill>
                  <a:srgbClr val="FFFFFF"/>
                </a:solidFill>
                <a:latin typeface="Aptos"/>
              </a:rPr>
              <a:t>LLM answers from retrieved context</a:t>
            </a:r>
          </a:p>
        </p:txBody>
      </p:sp>
      <p:sp>
        <p:nvSpPr>
          <p:cNvPr id="24" name="Rounded Rectangle 23"/>
          <p:cNvSpPr/>
          <p:nvPr/>
        </p:nvSpPr>
        <p:spPr>
          <a:xfrm>
            <a:off x="6419088" y="4398264"/>
            <a:ext cx="1463040" cy="256032"/>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4439412"/>
            <a:ext cx="1408176" cy="164592"/>
          </a:xfrm>
          <a:prstGeom prst="rect">
            <a:avLst/>
          </a:prstGeom>
          <a:noFill/>
        </p:spPr>
        <p:txBody>
          <a:bodyPr wrap="square" lIns="36576" tIns="36576" rIns="36576" bIns="36576" anchor="t">
            <a:spAutoFit/>
          </a:bodyPr>
          <a:lstStyle/>
          <a:p>
            <a:pPr algn="ctr"/>
            <a:r>
              <a:rPr sz="750" b="1" i="0">
                <a:solidFill>
                  <a:srgbClr val="0C1427"/>
                </a:solidFill>
                <a:latin typeface="Aptos"/>
              </a:rPr>
              <a:t>Evidence</a:t>
            </a:r>
          </a:p>
        </p:txBody>
      </p:sp>
      <p:sp>
        <p:nvSpPr>
          <p:cNvPr id="26" name="TextBox 25"/>
          <p:cNvSpPr txBox="1"/>
          <p:nvPr/>
        </p:nvSpPr>
        <p:spPr>
          <a:xfrm>
            <a:off x="8010144" y="4416552"/>
            <a:ext cx="3127248" cy="292608"/>
          </a:xfrm>
          <a:prstGeom prst="rect">
            <a:avLst/>
          </a:prstGeom>
          <a:noFill/>
        </p:spPr>
        <p:txBody>
          <a:bodyPr wrap="square" lIns="36576" tIns="36576" rIns="36576" bIns="36576" anchor="t">
            <a:spAutoFit/>
          </a:bodyPr>
          <a:lstStyle/>
          <a:p>
            <a:pPr algn="l"/>
            <a:r>
              <a:rPr sz="960" b="1" i="0">
                <a:solidFill>
                  <a:srgbClr val="FFFFFF"/>
                </a:solidFill>
                <a:latin typeface="Aptos"/>
              </a:rPr>
              <a:t>Document/page citations</a:t>
            </a:r>
          </a:p>
        </p:txBody>
      </p:sp>
      <p:sp>
        <p:nvSpPr>
          <p:cNvPr id="27" name="Rounded Rectangle 26"/>
          <p:cNvSpPr/>
          <p:nvPr/>
        </p:nvSpPr>
        <p:spPr>
          <a:xfrm>
            <a:off x="6419088" y="4956048"/>
            <a:ext cx="1463040" cy="256032"/>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4997196"/>
            <a:ext cx="1408176" cy="164592"/>
          </a:xfrm>
          <a:prstGeom prst="rect">
            <a:avLst/>
          </a:prstGeom>
          <a:noFill/>
        </p:spPr>
        <p:txBody>
          <a:bodyPr wrap="square" lIns="36576" tIns="36576" rIns="36576" bIns="36576" anchor="t">
            <a:spAutoFit/>
          </a:bodyPr>
          <a:lstStyle/>
          <a:p>
            <a:pPr algn="ctr"/>
            <a:r>
              <a:rPr sz="750" b="1" i="0">
                <a:solidFill>
                  <a:srgbClr val="0C1427"/>
                </a:solidFill>
                <a:latin typeface="Aptos"/>
              </a:rPr>
              <a:t>Evaluation</a:t>
            </a:r>
          </a:p>
        </p:txBody>
      </p:sp>
      <p:sp>
        <p:nvSpPr>
          <p:cNvPr id="29" name="TextBox 28"/>
          <p:cNvSpPr txBox="1"/>
          <p:nvPr/>
        </p:nvSpPr>
        <p:spPr>
          <a:xfrm>
            <a:off x="8010144" y="4974336"/>
            <a:ext cx="3127248" cy="292608"/>
          </a:xfrm>
          <a:prstGeom prst="rect">
            <a:avLst/>
          </a:prstGeom>
          <a:noFill/>
        </p:spPr>
        <p:txBody>
          <a:bodyPr wrap="square" lIns="36576" tIns="36576" rIns="36576" bIns="36576" anchor="t">
            <a:spAutoFit/>
          </a:bodyPr>
          <a:lstStyle/>
          <a:p>
            <a:pPr algn="l"/>
            <a:r>
              <a:rPr sz="960" b="1" i="0">
                <a:solidFill>
                  <a:srgbClr val="FFFFFF"/>
                </a:solidFill>
                <a:latin typeface="Aptos"/>
              </a:rPr>
              <a:t>Retrieval + faithfulness + answer quality</a:t>
            </a:r>
          </a:p>
        </p:txBody>
      </p:sp>
      <p:sp>
        <p:nvSpPr>
          <p:cNvPr id="30" name="Rectangle 29"/>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32" name="TextBox 31"/>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19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789920" cy="438912"/>
          </a:xfrm>
          <a:prstGeom prst="rect">
            <a:avLst/>
          </a:prstGeom>
          <a:noFill/>
        </p:spPr>
        <p:txBody>
          <a:bodyPr wrap="square" lIns="36576" tIns="36576" rIns="36576" bIns="36576" anchor="t">
            <a:spAutoFit/>
          </a:bodyPr>
          <a:lstStyle/>
          <a:p>
            <a:pPr algn="l"/>
            <a:r>
              <a:rPr sz="2200" b="1" i="0">
                <a:solidFill>
                  <a:srgbClr val="111827"/>
                </a:solidFill>
                <a:latin typeface="Aptos Display"/>
              </a:rPr>
              <a:t>Week 2G. Industry validation: similar products already exist</a:t>
            </a:r>
          </a:p>
        </p:txBody>
      </p:sp>
      <p:sp>
        <p:nvSpPr>
          <p:cNvPr id="3" name="TextBox 2"/>
          <p:cNvSpPr txBox="1"/>
          <p:nvPr/>
        </p:nvSpPr>
        <p:spPr>
          <a:xfrm>
            <a:off x="612648" y="841248"/>
            <a:ext cx="10698480" cy="292608"/>
          </a:xfrm>
          <a:prstGeom prst="rect">
            <a:avLst/>
          </a:prstGeom>
          <a:noFill/>
        </p:spPr>
        <p:txBody>
          <a:bodyPr wrap="square" lIns="36576" tIns="36576" rIns="36576" bIns="36576" anchor="t">
            <a:spAutoFit/>
          </a:bodyPr>
          <a:lstStyle/>
          <a:p>
            <a:pPr algn="l"/>
            <a:r>
              <a:rPr sz="950" b="0" i="0">
                <a:solidFill>
                  <a:srgbClr val="667085"/>
                </a:solidFill>
                <a:latin typeface="Aptos"/>
              </a:rPr>
              <a:t>This makes the project more realistic. Our academic goal is to reproduce the core ideas in a controlled, inspectable prototype.</a:t>
            </a:r>
          </a:p>
        </p:txBody>
      </p:sp>
      <p:sp>
        <p:nvSpPr>
          <p:cNvPr id="4" name="Rounded Rectangle 3"/>
          <p:cNvSpPr/>
          <p:nvPr/>
        </p:nvSpPr>
        <p:spPr>
          <a:xfrm>
            <a:off x="621792" y="1463040"/>
            <a:ext cx="3401568" cy="3310128"/>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1700784"/>
            <a:ext cx="1143000" cy="256032"/>
          </a:xfrm>
          <a:prstGeom prst="roundRect">
            <a:avLst/>
          </a:prstGeom>
          <a:solidFill>
            <a:srgbClr val="3155F6"/>
          </a:solidFill>
          <a:ln w="10160">
            <a:solidFill>
              <a:srgbClr val="3155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741932"/>
            <a:ext cx="1088136" cy="164592"/>
          </a:xfrm>
          <a:prstGeom prst="rect">
            <a:avLst/>
          </a:prstGeom>
          <a:noFill/>
        </p:spPr>
        <p:txBody>
          <a:bodyPr wrap="square" lIns="36576" tIns="36576" rIns="36576" bIns="36576" anchor="t">
            <a:spAutoFit/>
          </a:bodyPr>
          <a:lstStyle/>
          <a:p>
            <a:pPr algn="ctr"/>
            <a:r>
              <a:rPr sz="750" b="1" i="0">
                <a:solidFill>
                  <a:srgbClr val="FFFFFF"/>
                </a:solidFill>
                <a:latin typeface="Aptos"/>
              </a:rPr>
              <a:t>Glean</a:t>
            </a:r>
          </a:p>
        </p:txBody>
      </p:sp>
      <p:sp>
        <p:nvSpPr>
          <p:cNvPr id="7" name="TextBox 6"/>
          <p:cNvSpPr txBox="1"/>
          <p:nvPr/>
        </p:nvSpPr>
        <p:spPr>
          <a:xfrm>
            <a:off x="822960" y="2112264"/>
            <a:ext cx="2971800" cy="411480"/>
          </a:xfrm>
          <a:prstGeom prst="rect">
            <a:avLst/>
          </a:prstGeom>
          <a:noFill/>
        </p:spPr>
        <p:txBody>
          <a:bodyPr wrap="square" lIns="36576" tIns="36576" rIns="36576" bIns="36576" anchor="t">
            <a:spAutoFit/>
          </a:bodyPr>
          <a:lstStyle/>
          <a:p>
            <a:pPr algn="l"/>
            <a:r>
              <a:rPr sz="1400" b="1" i="0">
                <a:solidFill>
                  <a:srgbClr val="111827"/>
                </a:solidFill>
                <a:latin typeface="Aptos Display"/>
              </a:rPr>
              <a:t>Enterprise search + AI answers</a:t>
            </a:r>
          </a:p>
        </p:txBody>
      </p:sp>
      <p:sp>
        <p:nvSpPr>
          <p:cNvPr id="8" name="TextBox 7"/>
          <p:cNvSpPr txBox="1"/>
          <p:nvPr/>
        </p:nvSpPr>
        <p:spPr>
          <a:xfrm>
            <a:off x="822960" y="2651760"/>
            <a:ext cx="2907792" cy="914400"/>
          </a:xfrm>
          <a:prstGeom prst="rect">
            <a:avLst/>
          </a:prstGeom>
          <a:noFill/>
        </p:spPr>
        <p:txBody>
          <a:bodyPr wrap="square" lIns="36576" tIns="36576" rIns="36576" bIns="36576" anchor="t">
            <a:spAutoFit/>
          </a:bodyPr>
          <a:lstStyle/>
          <a:p>
            <a:pPr algn="l"/>
            <a:r>
              <a:rPr sz="1000" b="0" i="0">
                <a:solidFill>
                  <a:srgbClr val="111827"/>
                </a:solidFill>
                <a:latin typeface="Aptos"/>
              </a:rPr>
              <a:t>Uses company-access data and respects source permissions.</a:t>
            </a:r>
          </a:p>
        </p:txBody>
      </p:sp>
      <p:sp>
        <p:nvSpPr>
          <p:cNvPr id="9" name="TextBox 8"/>
          <p:cNvSpPr txBox="1"/>
          <p:nvPr/>
        </p:nvSpPr>
        <p:spPr>
          <a:xfrm>
            <a:off x="822960" y="3794760"/>
            <a:ext cx="2880360" cy="320040"/>
          </a:xfrm>
          <a:prstGeom prst="rect">
            <a:avLst/>
          </a:prstGeom>
          <a:noFill/>
        </p:spPr>
        <p:txBody>
          <a:bodyPr wrap="square" lIns="36576" tIns="36576" rIns="36576" bIns="36576" anchor="t">
            <a:spAutoFit/>
          </a:bodyPr>
          <a:lstStyle/>
          <a:p>
            <a:pPr algn="l"/>
            <a:r>
              <a:rPr sz="840" b="1" i="0">
                <a:solidFill>
                  <a:srgbClr val="667085"/>
                </a:solidFill>
                <a:latin typeface="Aptos"/>
              </a:rPr>
              <a:t>Why this matters to us</a:t>
            </a:r>
          </a:p>
        </p:txBody>
      </p:sp>
      <p:sp>
        <p:nvSpPr>
          <p:cNvPr id="10" name="TextBox 9"/>
          <p:cNvSpPr txBox="1"/>
          <p:nvPr/>
        </p:nvSpPr>
        <p:spPr>
          <a:xfrm>
            <a:off x="822960" y="4096512"/>
            <a:ext cx="2880360" cy="475488"/>
          </a:xfrm>
          <a:prstGeom prst="rect">
            <a:avLst/>
          </a:prstGeom>
          <a:noFill/>
        </p:spPr>
        <p:txBody>
          <a:bodyPr wrap="square" lIns="36576" tIns="36576" rIns="36576" bIns="36576" anchor="t">
            <a:spAutoFit/>
          </a:bodyPr>
          <a:lstStyle/>
          <a:p>
            <a:pPr algn="l"/>
            <a:r>
              <a:rPr sz="969" b="1" i="0">
                <a:solidFill>
                  <a:srgbClr val="3155F6"/>
                </a:solidFill>
                <a:latin typeface="Aptos"/>
              </a:rPr>
              <a:t>Benchmark features; do not claim market uniqueness.</a:t>
            </a:r>
          </a:p>
        </p:txBody>
      </p:sp>
      <p:sp>
        <p:nvSpPr>
          <p:cNvPr id="11" name="TextBox 10"/>
          <p:cNvSpPr txBox="1"/>
          <p:nvPr/>
        </p:nvSpPr>
        <p:spPr>
          <a:xfrm>
            <a:off x="822960" y="4645152"/>
            <a:ext cx="2880360" cy="164592"/>
          </a:xfrm>
          <a:prstGeom prst="rect">
            <a:avLst/>
          </a:prstGeom>
          <a:noFill/>
        </p:spPr>
        <p:txBody>
          <a:bodyPr wrap="none">
            <a:spAutoFit/>
          </a:bodyPr>
          <a:lstStyle/>
          <a:p>
            <a:r>
              <a:rPr sz="760">
                <a:solidFill>
                  <a:srgbClr val="3155F6"/>
                </a:solidFill>
                <a:latin typeface="Aptos"/>
                <a:hlinkClick r:id="rId2"/>
              </a:rPr>
              <a:t>Official source</a:t>
            </a:r>
          </a:p>
        </p:txBody>
      </p:sp>
      <p:sp>
        <p:nvSpPr>
          <p:cNvPr id="12" name="Rounded Rectangle 11"/>
          <p:cNvSpPr/>
          <p:nvPr/>
        </p:nvSpPr>
        <p:spPr>
          <a:xfrm>
            <a:off x="4325112" y="1463040"/>
            <a:ext cx="3401568" cy="3310128"/>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26279" y="1700784"/>
            <a:ext cx="1143000" cy="256032"/>
          </a:xfrm>
          <a:prstGeom prst="roundRect">
            <a:avLst/>
          </a:prstGeom>
          <a:solidFill>
            <a:srgbClr val="F59E0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3712" y="1741932"/>
            <a:ext cx="1088136" cy="164592"/>
          </a:xfrm>
          <a:prstGeom prst="rect">
            <a:avLst/>
          </a:prstGeom>
          <a:noFill/>
        </p:spPr>
        <p:txBody>
          <a:bodyPr wrap="square" lIns="36576" tIns="36576" rIns="36576" bIns="36576" anchor="t">
            <a:spAutoFit/>
          </a:bodyPr>
          <a:lstStyle/>
          <a:p>
            <a:pPr algn="ctr"/>
            <a:r>
              <a:rPr sz="750" b="1" i="0">
                <a:solidFill>
                  <a:srgbClr val="FFFFFF"/>
                </a:solidFill>
                <a:latin typeface="Aptos"/>
              </a:rPr>
              <a:t>Amazon Q Business</a:t>
            </a:r>
          </a:p>
        </p:txBody>
      </p:sp>
      <p:sp>
        <p:nvSpPr>
          <p:cNvPr id="15" name="TextBox 14"/>
          <p:cNvSpPr txBox="1"/>
          <p:nvPr/>
        </p:nvSpPr>
        <p:spPr>
          <a:xfrm>
            <a:off x="4526279" y="2112264"/>
            <a:ext cx="2971800" cy="411480"/>
          </a:xfrm>
          <a:prstGeom prst="rect">
            <a:avLst/>
          </a:prstGeom>
          <a:noFill/>
        </p:spPr>
        <p:txBody>
          <a:bodyPr wrap="square" lIns="36576" tIns="36576" rIns="36576" bIns="36576" anchor="t">
            <a:spAutoFit/>
          </a:bodyPr>
          <a:lstStyle/>
          <a:p>
            <a:pPr algn="l"/>
            <a:r>
              <a:rPr sz="1400" b="1" i="0">
                <a:solidFill>
                  <a:srgbClr val="111827"/>
                </a:solidFill>
                <a:latin typeface="Aptos Display"/>
              </a:rPr>
              <a:t>Enterprise Q&amp;A + citations</a:t>
            </a:r>
          </a:p>
        </p:txBody>
      </p:sp>
      <p:sp>
        <p:nvSpPr>
          <p:cNvPr id="16" name="TextBox 15"/>
          <p:cNvSpPr txBox="1"/>
          <p:nvPr/>
        </p:nvSpPr>
        <p:spPr>
          <a:xfrm>
            <a:off x="4526279" y="2651760"/>
            <a:ext cx="2907792" cy="914400"/>
          </a:xfrm>
          <a:prstGeom prst="rect">
            <a:avLst/>
          </a:prstGeom>
          <a:noFill/>
        </p:spPr>
        <p:txBody>
          <a:bodyPr wrap="square" lIns="36576" tIns="36576" rIns="36576" bIns="36576" anchor="t">
            <a:spAutoFit/>
          </a:bodyPr>
          <a:lstStyle/>
          <a:p>
            <a:pPr algn="l"/>
            <a:r>
              <a:rPr sz="1000" b="0" i="0">
                <a:solidFill>
                  <a:srgbClr val="111827"/>
                </a:solidFill>
                <a:latin typeface="Aptos"/>
              </a:rPr>
              <a:t>Provides in-text source citations and a source list for answers grounded in organizational data.</a:t>
            </a:r>
          </a:p>
        </p:txBody>
      </p:sp>
      <p:sp>
        <p:nvSpPr>
          <p:cNvPr id="17" name="TextBox 16"/>
          <p:cNvSpPr txBox="1"/>
          <p:nvPr/>
        </p:nvSpPr>
        <p:spPr>
          <a:xfrm>
            <a:off x="4526279" y="3794760"/>
            <a:ext cx="2880360" cy="320040"/>
          </a:xfrm>
          <a:prstGeom prst="rect">
            <a:avLst/>
          </a:prstGeom>
          <a:noFill/>
        </p:spPr>
        <p:txBody>
          <a:bodyPr wrap="square" lIns="36576" tIns="36576" rIns="36576" bIns="36576" anchor="t">
            <a:spAutoFit/>
          </a:bodyPr>
          <a:lstStyle/>
          <a:p>
            <a:pPr algn="l"/>
            <a:r>
              <a:rPr sz="840" b="1" i="0">
                <a:solidFill>
                  <a:srgbClr val="667085"/>
                </a:solidFill>
                <a:latin typeface="Aptos"/>
              </a:rPr>
              <a:t>Why this matters to us</a:t>
            </a:r>
          </a:p>
        </p:txBody>
      </p:sp>
      <p:sp>
        <p:nvSpPr>
          <p:cNvPr id="18" name="TextBox 17"/>
          <p:cNvSpPr txBox="1"/>
          <p:nvPr/>
        </p:nvSpPr>
        <p:spPr>
          <a:xfrm>
            <a:off x="4526279" y="4096512"/>
            <a:ext cx="2880360" cy="475488"/>
          </a:xfrm>
          <a:prstGeom prst="rect">
            <a:avLst/>
          </a:prstGeom>
          <a:noFill/>
        </p:spPr>
        <p:txBody>
          <a:bodyPr wrap="square" lIns="36576" tIns="36576" rIns="36576" bIns="36576" anchor="t">
            <a:spAutoFit/>
          </a:bodyPr>
          <a:lstStyle/>
          <a:p>
            <a:pPr algn="l"/>
            <a:r>
              <a:rPr sz="969" b="1" i="0">
                <a:solidFill>
                  <a:srgbClr val="F59E0B"/>
                </a:solidFill>
                <a:latin typeface="Aptos"/>
              </a:rPr>
              <a:t>Benchmark features; do not claim market uniqueness.</a:t>
            </a:r>
          </a:p>
        </p:txBody>
      </p:sp>
      <p:sp>
        <p:nvSpPr>
          <p:cNvPr id="19" name="TextBox 18"/>
          <p:cNvSpPr txBox="1"/>
          <p:nvPr/>
        </p:nvSpPr>
        <p:spPr>
          <a:xfrm>
            <a:off x="4526279" y="4645152"/>
            <a:ext cx="2880360" cy="164592"/>
          </a:xfrm>
          <a:prstGeom prst="rect">
            <a:avLst/>
          </a:prstGeom>
          <a:noFill/>
        </p:spPr>
        <p:txBody>
          <a:bodyPr wrap="none">
            <a:spAutoFit/>
          </a:bodyPr>
          <a:lstStyle/>
          <a:p>
            <a:r>
              <a:rPr sz="760">
                <a:solidFill>
                  <a:srgbClr val="3155F6"/>
                </a:solidFill>
                <a:latin typeface="Aptos"/>
                <a:hlinkClick r:id="rId3"/>
              </a:rPr>
              <a:t>Official source</a:t>
            </a:r>
          </a:p>
        </p:txBody>
      </p:sp>
      <p:sp>
        <p:nvSpPr>
          <p:cNvPr id="20" name="Rounded Rectangle 19"/>
          <p:cNvSpPr/>
          <p:nvPr/>
        </p:nvSpPr>
        <p:spPr>
          <a:xfrm>
            <a:off x="8028431" y="1463040"/>
            <a:ext cx="3401568" cy="3310128"/>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229600" y="1700784"/>
            <a:ext cx="1143000" cy="256032"/>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7031" y="1741932"/>
            <a:ext cx="1088136" cy="164592"/>
          </a:xfrm>
          <a:prstGeom prst="rect">
            <a:avLst/>
          </a:prstGeom>
          <a:noFill/>
        </p:spPr>
        <p:txBody>
          <a:bodyPr wrap="square" lIns="36576" tIns="36576" rIns="36576" bIns="36576" anchor="t">
            <a:spAutoFit/>
          </a:bodyPr>
          <a:lstStyle/>
          <a:p>
            <a:pPr algn="ctr"/>
            <a:r>
              <a:rPr sz="750" b="1" i="0">
                <a:solidFill>
                  <a:srgbClr val="FFFFFF"/>
                </a:solidFill>
                <a:latin typeface="Aptos"/>
              </a:rPr>
              <a:t>Atlassian Rovo</a:t>
            </a:r>
          </a:p>
        </p:txBody>
      </p:sp>
      <p:sp>
        <p:nvSpPr>
          <p:cNvPr id="23" name="TextBox 22"/>
          <p:cNvSpPr txBox="1"/>
          <p:nvPr/>
        </p:nvSpPr>
        <p:spPr>
          <a:xfrm>
            <a:off x="8229600" y="2112264"/>
            <a:ext cx="2971800" cy="411480"/>
          </a:xfrm>
          <a:prstGeom prst="rect">
            <a:avLst/>
          </a:prstGeom>
          <a:noFill/>
        </p:spPr>
        <p:txBody>
          <a:bodyPr wrap="square" lIns="36576" tIns="36576" rIns="36576" bIns="36576" anchor="t">
            <a:spAutoFit/>
          </a:bodyPr>
          <a:lstStyle/>
          <a:p>
            <a:pPr algn="l"/>
            <a:r>
              <a:rPr sz="1400" b="1" i="0">
                <a:solidFill>
                  <a:srgbClr val="111827"/>
                </a:solidFill>
                <a:latin typeface="Aptos Display"/>
              </a:rPr>
              <a:t>Search + answers + permissions</a:t>
            </a:r>
          </a:p>
        </p:txBody>
      </p:sp>
      <p:sp>
        <p:nvSpPr>
          <p:cNvPr id="24" name="TextBox 23"/>
          <p:cNvSpPr txBox="1"/>
          <p:nvPr/>
        </p:nvSpPr>
        <p:spPr>
          <a:xfrm>
            <a:off x="8229600" y="2651760"/>
            <a:ext cx="2907792" cy="914400"/>
          </a:xfrm>
          <a:prstGeom prst="rect">
            <a:avLst/>
          </a:prstGeom>
          <a:noFill/>
        </p:spPr>
        <p:txBody>
          <a:bodyPr wrap="square" lIns="36576" tIns="36576" rIns="36576" bIns="36576" anchor="t">
            <a:spAutoFit/>
          </a:bodyPr>
          <a:lstStyle/>
          <a:p>
            <a:pPr algn="l"/>
            <a:r>
              <a:rPr sz="1000" b="0" i="0">
                <a:solidFill>
                  <a:srgbClr val="111827"/>
                </a:solidFill>
                <a:latin typeface="Aptos"/>
              </a:rPr>
              <a:t>Search answers use content the current user has access to and can show source links/references.</a:t>
            </a:r>
          </a:p>
        </p:txBody>
      </p:sp>
      <p:sp>
        <p:nvSpPr>
          <p:cNvPr id="25" name="TextBox 24"/>
          <p:cNvSpPr txBox="1"/>
          <p:nvPr/>
        </p:nvSpPr>
        <p:spPr>
          <a:xfrm>
            <a:off x="8229600" y="3794760"/>
            <a:ext cx="2880360" cy="320040"/>
          </a:xfrm>
          <a:prstGeom prst="rect">
            <a:avLst/>
          </a:prstGeom>
          <a:noFill/>
        </p:spPr>
        <p:txBody>
          <a:bodyPr wrap="square" lIns="36576" tIns="36576" rIns="36576" bIns="36576" anchor="t">
            <a:spAutoFit/>
          </a:bodyPr>
          <a:lstStyle/>
          <a:p>
            <a:pPr algn="l"/>
            <a:r>
              <a:rPr sz="840" b="1" i="0">
                <a:solidFill>
                  <a:srgbClr val="667085"/>
                </a:solidFill>
                <a:latin typeface="Aptos"/>
              </a:rPr>
              <a:t>Why this matters to us</a:t>
            </a:r>
          </a:p>
        </p:txBody>
      </p:sp>
      <p:sp>
        <p:nvSpPr>
          <p:cNvPr id="26" name="TextBox 25"/>
          <p:cNvSpPr txBox="1"/>
          <p:nvPr/>
        </p:nvSpPr>
        <p:spPr>
          <a:xfrm>
            <a:off x="8229600" y="4096512"/>
            <a:ext cx="2880360" cy="475488"/>
          </a:xfrm>
          <a:prstGeom prst="rect">
            <a:avLst/>
          </a:prstGeom>
          <a:noFill/>
        </p:spPr>
        <p:txBody>
          <a:bodyPr wrap="square" lIns="36576" tIns="36576" rIns="36576" bIns="36576" anchor="t">
            <a:spAutoFit/>
          </a:bodyPr>
          <a:lstStyle/>
          <a:p>
            <a:pPr algn="l"/>
            <a:r>
              <a:rPr sz="969" b="1" i="0">
                <a:solidFill>
                  <a:srgbClr val="8B5CF6"/>
                </a:solidFill>
                <a:latin typeface="Aptos"/>
              </a:rPr>
              <a:t>Benchmark features; do not claim market uniqueness.</a:t>
            </a:r>
          </a:p>
        </p:txBody>
      </p:sp>
      <p:sp>
        <p:nvSpPr>
          <p:cNvPr id="27" name="TextBox 26"/>
          <p:cNvSpPr txBox="1"/>
          <p:nvPr/>
        </p:nvSpPr>
        <p:spPr>
          <a:xfrm>
            <a:off x="8229600" y="4645152"/>
            <a:ext cx="2880360" cy="164592"/>
          </a:xfrm>
          <a:prstGeom prst="rect">
            <a:avLst/>
          </a:prstGeom>
          <a:noFill/>
        </p:spPr>
        <p:txBody>
          <a:bodyPr wrap="none">
            <a:spAutoFit/>
          </a:bodyPr>
          <a:lstStyle/>
          <a:p>
            <a:r>
              <a:rPr sz="760">
                <a:solidFill>
                  <a:srgbClr val="3155F6"/>
                </a:solidFill>
                <a:latin typeface="Aptos"/>
                <a:hlinkClick r:id="rId4"/>
              </a:rPr>
              <a:t>Official source</a:t>
            </a:r>
          </a:p>
        </p:txBody>
      </p:sp>
      <p:sp>
        <p:nvSpPr>
          <p:cNvPr id="28" name="Rounded Rectangle 27"/>
          <p:cNvSpPr/>
          <p:nvPr/>
        </p:nvSpPr>
        <p:spPr>
          <a:xfrm>
            <a:off x="822960" y="5166360"/>
            <a:ext cx="10561320" cy="566928"/>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51560" y="5330952"/>
            <a:ext cx="10104120" cy="256032"/>
          </a:xfrm>
          <a:prstGeom prst="rect">
            <a:avLst/>
          </a:prstGeom>
          <a:noFill/>
        </p:spPr>
        <p:txBody>
          <a:bodyPr wrap="square" lIns="36576" tIns="36576" rIns="36576" bIns="36576" anchor="t">
            <a:spAutoFit/>
          </a:bodyPr>
          <a:lstStyle/>
          <a:p>
            <a:pPr algn="ctr"/>
            <a:r>
              <a:rPr sz="1120" b="1" i="0">
                <a:solidFill>
                  <a:srgbClr val="FFFFFF"/>
                </a:solidFill>
                <a:latin typeface="Aptos"/>
              </a:rPr>
              <a:t>Project positioning: academic prototype + transparent implementation + measurable evaluation, rather than a claim that similar products do not exist.</a:t>
            </a:r>
          </a:p>
        </p:txBody>
      </p:sp>
      <p:sp>
        <p:nvSpPr>
          <p:cNvPr id="30" name="Rectangle 29"/>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32" name="TextBox 31"/>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789920" cy="438912"/>
          </a:xfrm>
          <a:prstGeom prst="rect">
            <a:avLst/>
          </a:prstGeom>
          <a:noFill/>
        </p:spPr>
        <p:txBody>
          <a:bodyPr wrap="square" lIns="36576" tIns="36576" rIns="36576" bIns="36576" anchor="t">
            <a:spAutoFit/>
          </a:bodyPr>
          <a:lstStyle/>
          <a:p>
            <a:pPr algn="l"/>
            <a:r>
              <a:rPr sz="2200" b="1" i="0">
                <a:solidFill>
                  <a:srgbClr val="111827"/>
                </a:solidFill>
                <a:latin typeface="Aptos Display"/>
              </a:rPr>
              <a:t>Week 2H. Literature survey — quick comparison</a:t>
            </a:r>
          </a:p>
        </p:txBody>
      </p:sp>
      <p:sp>
        <p:nvSpPr>
          <p:cNvPr id="3" name="TextBox 2"/>
          <p:cNvSpPr txBox="1"/>
          <p:nvPr/>
        </p:nvSpPr>
        <p:spPr>
          <a:xfrm>
            <a:off x="612648" y="841248"/>
            <a:ext cx="10698480" cy="292608"/>
          </a:xfrm>
          <a:prstGeom prst="rect">
            <a:avLst/>
          </a:prstGeom>
          <a:noFill/>
        </p:spPr>
        <p:txBody>
          <a:bodyPr wrap="square" lIns="36576" tIns="36576" rIns="36576" bIns="36576" anchor="t">
            <a:spAutoFit/>
          </a:bodyPr>
          <a:lstStyle/>
          <a:p>
            <a:pPr algn="l"/>
            <a:r>
              <a:rPr sz="950" b="0" i="0">
                <a:solidFill>
                  <a:srgbClr val="667085"/>
                </a:solidFill>
                <a:latin typeface="Aptos"/>
              </a:rPr>
              <a:t>A one-slide summary you can show your guide during the Week 2 check.</a:t>
            </a:r>
          </a:p>
        </p:txBody>
      </p:sp>
      <p:sp>
        <p:nvSpPr>
          <p:cNvPr id="4" name="Rounded Rectangle 3"/>
          <p:cNvSpPr/>
          <p:nvPr/>
        </p:nvSpPr>
        <p:spPr>
          <a:xfrm>
            <a:off x="621792" y="1325880"/>
            <a:ext cx="2057400" cy="457200"/>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1444752"/>
            <a:ext cx="1911095" cy="201168"/>
          </a:xfrm>
          <a:prstGeom prst="rect">
            <a:avLst/>
          </a:prstGeom>
          <a:noFill/>
        </p:spPr>
        <p:txBody>
          <a:bodyPr wrap="square" lIns="36576" tIns="36576" rIns="36576" bIns="36576" anchor="t">
            <a:spAutoFit/>
          </a:bodyPr>
          <a:lstStyle/>
          <a:p>
            <a:pPr algn="ctr"/>
            <a:r>
              <a:rPr sz="940" b="1" i="0">
                <a:solidFill>
                  <a:srgbClr val="FFFFFF"/>
                </a:solidFill>
                <a:latin typeface="Aptos"/>
              </a:rPr>
              <a:t>Source</a:t>
            </a:r>
          </a:p>
        </p:txBody>
      </p:sp>
      <p:sp>
        <p:nvSpPr>
          <p:cNvPr id="6" name="Rounded Rectangle 5"/>
          <p:cNvSpPr/>
          <p:nvPr/>
        </p:nvSpPr>
        <p:spPr>
          <a:xfrm>
            <a:off x="2834640" y="1325880"/>
            <a:ext cx="3703320" cy="457200"/>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07792" y="1444752"/>
            <a:ext cx="3557015" cy="201168"/>
          </a:xfrm>
          <a:prstGeom prst="rect">
            <a:avLst/>
          </a:prstGeom>
          <a:noFill/>
        </p:spPr>
        <p:txBody>
          <a:bodyPr wrap="square" lIns="36576" tIns="36576" rIns="36576" bIns="36576" anchor="t">
            <a:spAutoFit/>
          </a:bodyPr>
          <a:lstStyle/>
          <a:p>
            <a:pPr algn="ctr"/>
            <a:r>
              <a:rPr sz="940" b="1" i="0">
                <a:solidFill>
                  <a:srgbClr val="FFFFFF"/>
                </a:solidFill>
                <a:latin typeface="Aptos"/>
              </a:rPr>
              <a:t>Main idea</a:t>
            </a:r>
          </a:p>
        </p:txBody>
      </p:sp>
      <p:sp>
        <p:nvSpPr>
          <p:cNvPr id="8" name="Rounded Rectangle 7"/>
          <p:cNvSpPr/>
          <p:nvPr/>
        </p:nvSpPr>
        <p:spPr>
          <a:xfrm>
            <a:off x="6693408" y="1325880"/>
            <a:ext cx="4892040" cy="457200"/>
          </a:xfrm>
          <a:prstGeom prst="roundRect">
            <a:avLst/>
          </a:prstGeom>
          <a:solidFill>
            <a:srgbClr val="0C1427"/>
          </a:solidFill>
          <a:ln w="10160">
            <a:solidFill>
              <a:srgbClr val="0C1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0" y="1444752"/>
            <a:ext cx="4745736" cy="201168"/>
          </a:xfrm>
          <a:prstGeom prst="rect">
            <a:avLst/>
          </a:prstGeom>
          <a:noFill/>
        </p:spPr>
        <p:txBody>
          <a:bodyPr wrap="square" lIns="36576" tIns="36576" rIns="36576" bIns="36576" anchor="t">
            <a:spAutoFit/>
          </a:bodyPr>
          <a:lstStyle/>
          <a:p>
            <a:pPr algn="ctr"/>
            <a:r>
              <a:rPr sz="940" b="1" i="0">
                <a:solidFill>
                  <a:srgbClr val="FFFFFF"/>
                </a:solidFill>
                <a:latin typeface="Aptos"/>
              </a:rPr>
              <a:t>What we take into our project</a:t>
            </a:r>
          </a:p>
        </p:txBody>
      </p:sp>
      <p:sp>
        <p:nvSpPr>
          <p:cNvPr id="10" name="Rounded Rectangle 9"/>
          <p:cNvSpPr/>
          <p:nvPr/>
        </p:nvSpPr>
        <p:spPr>
          <a:xfrm>
            <a:off x="621792" y="1847088"/>
            <a:ext cx="205740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1947672"/>
            <a:ext cx="1874519" cy="301752"/>
          </a:xfrm>
          <a:prstGeom prst="rect">
            <a:avLst/>
          </a:prstGeom>
          <a:noFill/>
        </p:spPr>
        <p:txBody>
          <a:bodyPr wrap="square" lIns="36576" tIns="36576" rIns="36576" bIns="36576" anchor="t">
            <a:spAutoFit/>
          </a:bodyPr>
          <a:lstStyle/>
          <a:p>
            <a:pPr algn="l"/>
            <a:r>
              <a:rPr sz="890" b="1" i="0">
                <a:solidFill>
                  <a:srgbClr val="111827"/>
                </a:solidFill>
                <a:latin typeface="Aptos"/>
              </a:rPr>
              <a:t>Lewis / RAG</a:t>
            </a:r>
          </a:p>
        </p:txBody>
      </p:sp>
      <p:sp>
        <p:nvSpPr>
          <p:cNvPr id="12" name="Rounded Rectangle 11"/>
          <p:cNvSpPr/>
          <p:nvPr/>
        </p:nvSpPr>
        <p:spPr>
          <a:xfrm>
            <a:off x="2834640" y="1847088"/>
            <a:ext cx="370332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6080" y="1947672"/>
            <a:ext cx="3520439" cy="301752"/>
          </a:xfrm>
          <a:prstGeom prst="rect">
            <a:avLst/>
          </a:prstGeom>
          <a:noFill/>
        </p:spPr>
        <p:txBody>
          <a:bodyPr wrap="square" lIns="36576" tIns="36576" rIns="36576" bIns="36576" anchor="t">
            <a:spAutoFit/>
          </a:bodyPr>
          <a:lstStyle/>
          <a:p>
            <a:pPr algn="l"/>
            <a:r>
              <a:rPr sz="890" b="0" i="0">
                <a:solidFill>
                  <a:srgbClr val="111827"/>
                </a:solidFill>
                <a:latin typeface="Aptos"/>
              </a:rPr>
              <a:t>External retrieval + generation</a:t>
            </a:r>
          </a:p>
        </p:txBody>
      </p:sp>
      <p:sp>
        <p:nvSpPr>
          <p:cNvPr id="14" name="Rounded Rectangle 13"/>
          <p:cNvSpPr/>
          <p:nvPr/>
        </p:nvSpPr>
        <p:spPr>
          <a:xfrm>
            <a:off x="6693408" y="1847088"/>
            <a:ext cx="489204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84848" y="1947672"/>
            <a:ext cx="4709159" cy="301752"/>
          </a:xfrm>
          <a:prstGeom prst="rect">
            <a:avLst/>
          </a:prstGeom>
          <a:noFill/>
        </p:spPr>
        <p:txBody>
          <a:bodyPr wrap="square" lIns="36576" tIns="36576" rIns="36576" bIns="36576" anchor="t">
            <a:spAutoFit/>
          </a:bodyPr>
          <a:lstStyle/>
          <a:p>
            <a:pPr algn="l"/>
            <a:r>
              <a:rPr sz="890" b="1" i="0">
                <a:solidFill>
                  <a:srgbClr val="3155F6"/>
                </a:solidFill>
                <a:latin typeface="Aptos"/>
              </a:rPr>
              <a:t>Core RAG architecture</a:t>
            </a:r>
          </a:p>
        </p:txBody>
      </p:sp>
      <p:sp>
        <p:nvSpPr>
          <p:cNvPr id="16" name="Rounded Rectangle 15"/>
          <p:cNvSpPr/>
          <p:nvPr/>
        </p:nvSpPr>
        <p:spPr>
          <a:xfrm>
            <a:off x="621792" y="2432304"/>
            <a:ext cx="2057400" cy="502920"/>
          </a:xfrm>
          <a:prstGeom prst="roundRect">
            <a:avLst/>
          </a:prstGeom>
          <a:solidFill>
            <a:srgbClr val="F9FAFD"/>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2532888"/>
            <a:ext cx="1874519" cy="301752"/>
          </a:xfrm>
          <a:prstGeom prst="rect">
            <a:avLst/>
          </a:prstGeom>
          <a:noFill/>
        </p:spPr>
        <p:txBody>
          <a:bodyPr wrap="square" lIns="36576" tIns="36576" rIns="36576" bIns="36576" anchor="t">
            <a:spAutoFit/>
          </a:bodyPr>
          <a:lstStyle/>
          <a:p>
            <a:pPr algn="l"/>
            <a:r>
              <a:rPr sz="890" b="1" i="0">
                <a:solidFill>
                  <a:srgbClr val="111827"/>
                </a:solidFill>
                <a:latin typeface="Aptos"/>
              </a:rPr>
              <a:t>REALM</a:t>
            </a:r>
          </a:p>
        </p:txBody>
      </p:sp>
      <p:sp>
        <p:nvSpPr>
          <p:cNvPr id="18" name="Rounded Rectangle 17"/>
          <p:cNvSpPr/>
          <p:nvPr/>
        </p:nvSpPr>
        <p:spPr>
          <a:xfrm>
            <a:off x="2834640" y="2432304"/>
            <a:ext cx="3703320" cy="502920"/>
          </a:xfrm>
          <a:prstGeom prst="roundRect">
            <a:avLst/>
          </a:prstGeom>
          <a:solidFill>
            <a:srgbClr val="F9FAFD"/>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26080" y="2532888"/>
            <a:ext cx="3520439" cy="301752"/>
          </a:xfrm>
          <a:prstGeom prst="rect">
            <a:avLst/>
          </a:prstGeom>
          <a:noFill/>
        </p:spPr>
        <p:txBody>
          <a:bodyPr wrap="square" lIns="36576" tIns="36576" rIns="36576" bIns="36576" anchor="t">
            <a:spAutoFit/>
          </a:bodyPr>
          <a:lstStyle/>
          <a:p>
            <a:pPr algn="l"/>
            <a:r>
              <a:rPr sz="890" b="0" i="0">
                <a:solidFill>
                  <a:srgbClr val="111827"/>
                </a:solidFill>
                <a:latin typeface="Aptos"/>
              </a:rPr>
              <a:t>Modular external knowledge retrieval</a:t>
            </a:r>
          </a:p>
        </p:txBody>
      </p:sp>
      <p:sp>
        <p:nvSpPr>
          <p:cNvPr id="20" name="Rounded Rectangle 19"/>
          <p:cNvSpPr/>
          <p:nvPr/>
        </p:nvSpPr>
        <p:spPr>
          <a:xfrm>
            <a:off x="6693408" y="2432304"/>
            <a:ext cx="4892040" cy="502920"/>
          </a:xfrm>
          <a:prstGeom prst="roundRect">
            <a:avLst/>
          </a:prstGeom>
          <a:solidFill>
            <a:srgbClr val="F9FAFD"/>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84848" y="2532888"/>
            <a:ext cx="4709159" cy="301752"/>
          </a:xfrm>
          <a:prstGeom prst="rect">
            <a:avLst/>
          </a:prstGeom>
          <a:noFill/>
        </p:spPr>
        <p:txBody>
          <a:bodyPr wrap="square" lIns="36576" tIns="36576" rIns="36576" bIns="36576" anchor="t">
            <a:spAutoFit/>
          </a:bodyPr>
          <a:lstStyle/>
          <a:p>
            <a:pPr algn="l"/>
            <a:r>
              <a:rPr sz="890" b="1" i="0">
                <a:solidFill>
                  <a:srgbClr val="3155F6"/>
                </a:solidFill>
                <a:latin typeface="Aptos"/>
              </a:rPr>
              <a:t>External vector knowledge base</a:t>
            </a:r>
          </a:p>
        </p:txBody>
      </p:sp>
      <p:sp>
        <p:nvSpPr>
          <p:cNvPr id="22" name="Rounded Rectangle 21"/>
          <p:cNvSpPr/>
          <p:nvPr/>
        </p:nvSpPr>
        <p:spPr>
          <a:xfrm>
            <a:off x="621792" y="3017520"/>
            <a:ext cx="205740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2" y="3118103"/>
            <a:ext cx="1874519" cy="301752"/>
          </a:xfrm>
          <a:prstGeom prst="rect">
            <a:avLst/>
          </a:prstGeom>
          <a:noFill/>
        </p:spPr>
        <p:txBody>
          <a:bodyPr wrap="square" lIns="36576" tIns="36576" rIns="36576" bIns="36576" anchor="t">
            <a:spAutoFit/>
          </a:bodyPr>
          <a:lstStyle/>
          <a:p>
            <a:pPr algn="l"/>
            <a:r>
              <a:rPr sz="890" b="1" i="0">
                <a:solidFill>
                  <a:srgbClr val="111827"/>
                </a:solidFill>
                <a:latin typeface="Aptos"/>
              </a:rPr>
              <a:t>Gao survey</a:t>
            </a:r>
          </a:p>
        </p:txBody>
      </p:sp>
      <p:sp>
        <p:nvSpPr>
          <p:cNvPr id="24" name="Rounded Rectangle 23"/>
          <p:cNvSpPr/>
          <p:nvPr/>
        </p:nvSpPr>
        <p:spPr>
          <a:xfrm>
            <a:off x="2834640" y="3017520"/>
            <a:ext cx="370332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0" y="3118103"/>
            <a:ext cx="3520439" cy="301752"/>
          </a:xfrm>
          <a:prstGeom prst="rect">
            <a:avLst/>
          </a:prstGeom>
          <a:noFill/>
        </p:spPr>
        <p:txBody>
          <a:bodyPr wrap="square" lIns="36576" tIns="36576" rIns="36576" bIns="36576" anchor="t">
            <a:spAutoFit/>
          </a:bodyPr>
          <a:lstStyle/>
          <a:p>
            <a:pPr algn="l"/>
            <a:r>
              <a:rPr sz="890" b="0" i="0">
                <a:solidFill>
                  <a:srgbClr val="111827"/>
                </a:solidFill>
                <a:latin typeface="Aptos"/>
              </a:rPr>
              <a:t>RAG families + challenges</a:t>
            </a:r>
          </a:p>
        </p:txBody>
      </p:sp>
      <p:sp>
        <p:nvSpPr>
          <p:cNvPr id="26" name="Rounded Rectangle 25"/>
          <p:cNvSpPr/>
          <p:nvPr/>
        </p:nvSpPr>
        <p:spPr>
          <a:xfrm>
            <a:off x="6693408" y="3017520"/>
            <a:ext cx="489204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84848" y="3118103"/>
            <a:ext cx="4709159" cy="301752"/>
          </a:xfrm>
          <a:prstGeom prst="rect">
            <a:avLst/>
          </a:prstGeom>
          <a:noFill/>
        </p:spPr>
        <p:txBody>
          <a:bodyPr wrap="square" lIns="36576" tIns="36576" rIns="36576" bIns="36576" anchor="t">
            <a:spAutoFit/>
          </a:bodyPr>
          <a:lstStyle/>
          <a:p>
            <a:pPr algn="l"/>
            <a:r>
              <a:rPr sz="890" b="1" i="0">
                <a:solidFill>
                  <a:srgbClr val="3155F6"/>
                </a:solidFill>
                <a:latin typeface="Aptos"/>
              </a:rPr>
              <a:t>Design terminology + future scope</a:t>
            </a:r>
          </a:p>
        </p:txBody>
      </p:sp>
      <p:sp>
        <p:nvSpPr>
          <p:cNvPr id="28" name="Rounded Rectangle 27"/>
          <p:cNvSpPr/>
          <p:nvPr/>
        </p:nvSpPr>
        <p:spPr>
          <a:xfrm>
            <a:off x="621792" y="3602736"/>
            <a:ext cx="2057400" cy="502920"/>
          </a:xfrm>
          <a:prstGeom prst="roundRect">
            <a:avLst/>
          </a:prstGeom>
          <a:solidFill>
            <a:srgbClr val="F9FAFD"/>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3232" y="3703320"/>
            <a:ext cx="1874519" cy="301752"/>
          </a:xfrm>
          <a:prstGeom prst="rect">
            <a:avLst/>
          </a:prstGeom>
          <a:noFill/>
        </p:spPr>
        <p:txBody>
          <a:bodyPr wrap="square" lIns="36576" tIns="36576" rIns="36576" bIns="36576" anchor="t">
            <a:spAutoFit/>
          </a:bodyPr>
          <a:lstStyle/>
          <a:p>
            <a:pPr algn="l"/>
            <a:r>
              <a:rPr sz="890" b="1" i="0">
                <a:solidFill>
                  <a:srgbClr val="111827"/>
                </a:solidFill>
                <a:latin typeface="Aptos"/>
              </a:rPr>
              <a:t>Lost in Middle</a:t>
            </a:r>
          </a:p>
        </p:txBody>
      </p:sp>
      <p:sp>
        <p:nvSpPr>
          <p:cNvPr id="30" name="Rounded Rectangle 29"/>
          <p:cNvSpPr/>
          <p:nvPr/>
        </p:nvSpPr>
        <p:spPr>
          <a:xfrm>
            <a:off x="2834640" y="3602736"/>
            <a:ext cx="3703320" cy="502920"/>
          </a:xfrm>
          <a:prstGeom prst="roundRect">
            <a:avLst/>
          </a:prstGeom>
          <a:solidFill>
            <a:srgbClr val="F9FAFD"/>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926080" y="3703320"/>
            <a:ext cx="3520439" cy="301752"/>
          </a:xfrm>
          <a:prstGeom prst="rect">
            <a:avLst/>
          </a:prstGeom>
          <a:noFill/>
        </p:spPr>
        <p:txBody>
          <a:bodyPr wrap="square" lIns="36576" tIns="36576" rIns="36576" bIns="36576" anchor="t">
            <a:spAutoFit/>
          </a:bodyPr>
          <a:lstStyle/>
          <a:p>
            <a:pPr algn="l"/>
            <a:r>
              <a:rPr sz="890" b="0" i="0">
                <a:solidFill>
                  <a:srgbClr val="111827"/>
                </a:solidFill>
                <a:latin typeface="Aptos"/>
              </a:rPr>
              <a:t>Long context can hurt use of evidence</a:t>
            </a:r>
          </a:p>
        </p:txBody>
      </p:sp>
      <p:sp>
        <p:nvSpPr>
          <p:cNvPr id="32" name="Rounded Rectangle 31"/>
          <p:cNvSpPr/>
          <p:nvPr/>
        </p:nvSpPr>
        <p:spPr>
          <a:xfrm>
            <a:off x="6693408" y="3602736"/>
            <a:ext cx="4892040" cy="502920"/>
          </a:xfrm>
          <a:prstGeom prst="roundRect">
            <a:avLst/>
          </a:prstGeom>
          <a:solidFill>
            <a:srgbClr val="F9FAFD"/>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84848" y="3703320"/>
            <a:ext cx="4709159" cy="301752"/>
          </a:xfrm>
          <a:prstGeom prst="rect">
            <a:avLst/>
          </a:prstGeom>
          <a:noFill/>
        </p:spPr>
        <p:txBody>
          <a:bodyPr wrap="square" lIns="36576" tIns="36576" rIns="36576" bIns="36576" anchor="t">
            <a:spAutoFit/>
          </a:bodyPr>
          <a:lstStyle/>
          <a:p>
            <a:pPr algn="l"/>
            <a:r>
              <a:rPr sz="890" b="1" i="0">
                <a:solidFill>
                  <a:srgbClr val="3155F6"/>
                </a:solidFill>
                <a:latin typeface="Aptos"/>
              </a:rPr>
              <a:t>Focused chunk retrieval</a:t>
            </a:r>
          </a:p>
        </p:txBody>
      </p:sp>
      <p:sp>
        <p:nvSpPr>
          <p:cNvPr id="34" name="Rounded Rectangle 33"/>
          <p:cNvSpPr/>
          <p:nvPr/>
        </p:nvSpPr>
        <p:spPr>
          <a:xfrm>
            <a:off x="621792" y="4187952"/>
            <a:ext cx="205740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3232" y="4288536"/>
            <a:ext cx="1874519" cy="301752"/>
          </a:xfrm>
          <a:prstGeom prst="rect">
            <a:avLst/>
          </a:prstGeom>
          <a:noFill/>
        </p:spPr>
        <p:txBody>
          <a:bodyPr wrap="square" lIns="36576" tIns="36576" rIns="36576" bIns="36576" anchor="t">
            <a:spAutoFit/>
          </a:bodyPr>
          <a:lstStyle/>
          <a:p>
            <a:pPr algn="l"/>
            <a:r>
              <a:rPr sz="890" b="1" i="0">
                <a:solidFill>
                  <a:srgbClr val="111827"/>
                </a:solidFill>
                <a:latin typeface="Aptos"/>
              </a:rPr>
              <a:t>Self-RAG</a:t>
            </a:r>
          </a:p>
        </p:txBody>
      </p:sp>
      <p:sp>
        <p:nvSpPr>
          <p:cNvPr id="36" name="Rounded Rectangle 35"/>
          <p:cNvSpPr/>
          <p:nvPr/>
        </p:nvSpPr>
        <p:spPr>
          <a:xfrm>
            <a:off x="2834640" y="4187952"/>
            <a:ext cx="370332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926080" y="4288536"/>
            <a:ext cx="3520439" cy="301752"/>
          </a:xfrm>
          <a:prstGeom prst="rect">
            <a:avLst/>
          </a:prstGeom>
          <a:noFill/>
        </p:spPr>
        <p:txBody>
          <a:bodyPr wrap="square" lIns="36576" tIns="36576" rIns="36576" bIns="36576" anchor="t">
            <a:spAutoFit/>
          </a:bodyPr>
          <a:lstStyle/>
          <a:p>
            <a:pPr algn="l"/>
            <a:r>
              <a:rPr sz="890" b="0" i="0">
                <a:solidFill>
                  <a:srgbClr val="111827"/>
                </a:solidFill>
                <a:latin typeface="Aptos"/>
              </a:rPr>
              <a:t>Adaptive retrieval + self-reflection</a:t>
            </a:r>
          </a:p>
        </p:txBody>
      </p:sp>
      <p:sp>
        <p:nvSpPr>
          <p:cNvPr id="38" name="Rounded Rectangle 37"/>
          <p:cNvSpPr/>
          <p:nvPr/>
        </p:nvSpPr>
        <p:spPr>
          <a:xfrm>
            <a:off x="6693408" y="4187952"/>
            <a:ext cx="489204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784848" y="4288536"/>
            <a:ext cx="4709159" cy="301752"/>
          </a:xfrm>
          <a:prstGeom prst="rect">
            <a:avLst/>
          </a:prstGeom>
          <a:noFill/>
        </p:spPr>
        <p:txBody>
          <a:bodyPr wrap="square" lIns="36576" tIns="36576" rIns="36576" bIns="36576" anchor="t">
            <a:spAutoFit/>
          </a:bodyPr>
          <a:lstStyle/>
          <a:p>
            <a:pPr algn="l"/>
            <a:r>
              <a:rPr sz="890" b="1" i="0">
                <a:solidFill>
                  <a:srgbClr val="3155F6"/>
                </a:solidFill>
                <a:latin typeface="Aptos"/>
              </a:rPr>
              <a:t>Future robustness feature</a:t>
            </a:r>
          </a:p>
        </p:txBody>
      </p:sp>
      <p:sp>
        <p:nvSpPr>
          <p:cNvPr id="40" name="Rounded Rectangle 39"/>
          <p:cNvSpPr/>
          <p:nvPr/>
        </p:nvSpPr>
        <p:spPr>
          <a:xfrm>
            <a:off x="621792" y="4773168"/>
            <a:ext cx="2057400" cy="502920"/>
          </a:xfrm>
          <a:prstGeom prst="roundRect">
            <a:avLst/>
          </a:prstGeom>
          <a:solidFill>
            <a:srgbClr val="F9FAFD"/>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3232" y="4873752"/>
            <a:ext cx="1874519" cy="301752"/>
          </a:xfrm>
          <a:prstGeom prst="rect">
            <a:avLst/>
          </a:prstGeom>
          <a:noFill/>
        </p:spPr>
        <p:txBody>
          <a:bodyPr wrap="square" lIns="36576" tIns="36576" rIns="36576" bIns="36576" anchor="t">
            <a:spAutoFit/>
          </a:bodyPr>
          <a:lstStyle/>
          <a:p>
            <a:pPr algn="l"/>
            <a:r>
              <a:rPr sz="890" b="1" i="0">
                <a:solidFill>
                  <a:srgbClr val="111827"/>
                </a:solidFill>
                <a:latin typeface="Aptos"/>
              </a:rPr>
              <a:t>CRAG</a:t>
            </a:r>
          </a:p>
        </p:txBody>
      </p:sp>
      <p:sp>
        <p:nvSpPr>
          <p:cNvPr id="42" name="Rounded Rectangle 41"/>
          <p:cNvSpPr/>
          <p:nvPr/>
        </p:nvSpPr>
        <p:spPr>
          <a:xfrm>
            <a:off x="2834640" y="4773168"/>
            <a:ext cx="3703320" cy="502920"/>
          </a:xfrm>
          <a:prstGeom prst="roundRect">
            <a:avLst/>
          </a:prstGeom>
          <a:solidFill>
            <a:srgbClr val="F9FAFD"/>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926080" y="4873752"/>
            <a:ext cx="3520439" cy="301752"/>
          </a:xfrm>
          <a:prstGeom prst="rect">
            <a:avLst/>
          </a:prstGeom>
          <a:noFill/>
        </p:spPr>
        <p:txBody>
          <a:bodyPr wrap="square" lIns="36576" tIns="36576" rIns="36576" bIns="36576" anchor="t">
            <a:spAutoFit/>
          </a:bodyPr>
          <a:lstStyle/>
          <a:p>
            <a:pPr algn="l"/>
            <a:r>
              <a:rPr sz="890" b="0" i="0">
                <a:solidFill>
                  <a:srgbClr val="111827"/>
                </a:solidFill>
                <a:latin typeface="Aptos"/>
              </a:rPr>
              <a:t>Evaluate retrieved evidence and correct retrieval</a:t>
            </a:r>
          </a:p>
        </p:txBody>
      </p:sp>
      <p:sp>
        <p:nvSpPr>
          <p:cNvPr id="44" name="Rounded Rectangle 43"/>
          <p:cNvSpPr/>
          <p:nvPr/>
        </p:nvSpPr>
        <p:spPr>
          <a:xfrm>
            <a:off x="6693408" y="4773168"/>
            <a:ext cx="4892040" cy="502920"/>
          </a:xfrm>
          <a:prstGeom prst="roundRect">
            <a:avLst/>
          </a:prstGeom>
          <a:solidFill>
            <a:srgbClr val="F9FAFD"/>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784848" y="4873752"/>
            <a:ext cx="4709159" cy="301752"/>
          </a:xfrm>
          <a:prstGeom prst="rect">
            <a:avLst/>
          </a:prstGeom>
          <a:noFill/>
        </p:spPr>
        <p:txBody>
          <a:bodyPr wrap="square" lIns="36576" tIns="36576" rIns="36576" bIns="36576" anchor="t">
            <a:spAutoFit/>
          </a:bodyPr>
          <a:lstStyle/>
          <a:p>
            <a:pPr algn="l"/>
            <a:r>
              <a:rPr sz="890" b="1" i="0">
                <a:solidFill>
                  <a:srgbClr val="3155F6"/>
                </a:solidFill>
                <a:latin typeface="Aptos"/>
              </a:rPr>
              <a:t>Future retrieval-quality guard</a:t>
            </a:r>
          </a:p>
        </p:txBody>
      </p:sp>
      <p:sp>
        <p:nvSpPr>
          <p:cNvPr id="46" name="Rounded Rectangle 45"/>
          <p:cNvSpPr/>
          <p:nvPr/>
        </p:nvSpPr>
        <p:spPr>
          <a:xfrm>
            <a:off x="621792" y="5358383"/>
            <a:ext cx="205740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3232" y="5458968"/>
            <a:ext cx="1874519" cy="301752"/>
          </a:xfrm>
          <a:prstGeom prst="rect">
            <a:avLst/>
          </a:prstGeom>
          <a:noFill/>
        </p:spPr>
        <p:txBody>
          <a:bodyPr wrap="square" lIns="36576" tIns="36576" rIns="36576" bIns="36576" anchor="t">
            <a:spAutoFit/>
          </a:bodyPr>
          <a:lstStyle/>
          <a:p>
            <a:pPr algn="l"/>
            <a:r>
              <a:rPr sz="890" b="1" i="0">
                <a:solidFill>
                  <a:srgbClr val="111827"/>
                </a:solidFill>
                <a:latin typeface="Aptos"/>
              </a:rPr>
              <a:t>RAGAS</a:t>
            </a:r>
          </a:p>
        </p:txBody>
      </p:sp>
      <p:sp>
        <p:nvSpPr>
          <p:cNvPr id="48" name="Rounded Rectangle 47"/>
          <p:cNvSpPr/>
          <p:nvPr/>
        </p:nvSpPr>
        <p:spPr>
          <a:xfrm>
            <a:off x="2834640" y="5358383"/>
            <a:ext cx="370332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26080" y="5458968"/>
            <a:ext cx="3520439" cy="301752"/>
          </a:xfrm>
          <a:prstGeom prst="rect">
            <a:avLst/>
          </a:prstGeom>
          <a:noFill/>
        </p:spPr>
        <p:txBody>
          <a:bodyPr wrap="square" lIns="36576" tIns="36576" rIns="36576" bIns="36576" anchor="t">
            <a:spAutoFit/>
          </a:bodyPr>
          <a:lstStyle/>
          <a:p>
            <a:pPr algn="l"/>
            <a:r>
              <a:rPr sz="890" b="0" i="0">
                <a:solidFill>
                  <a:srgbClr val="111827"/>
                </a:solidFill>
                <a:latin typeface="Aptos"/>
              </a:rPr>
              <a:t>Reference-free RAG evaluation</a:t>
            </a:r>
          </a:p>
        </p:txBody>
      </p:sp>
      <p:sp>
        <p:nvSpPr>
          <p:cNvPr id="50" name="Rounded Rectangle 49"/>
          <p:cNvSpPr/>
          <p:nvPr/>
        </p:nvSpPr>
        <p:spPr>
          <a:xfrm>
            <a:off x="6693408" y="5358383"/>
            <a:ext cx="4892040" cy="502920"/>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784848" y="5458968"/>
            <a:ext cx="4709159" cy="301752"/>
          </a:xfrm>
          <a:prstGeom prst="rect">
            <a:avLst/>
          </a:prstGeom>
          <a:noFill/>
        </p:spPr>
        <p:txBody>
          <a:bodyPr wrap="square" lIns="36576" tIns="36576" rIns="36576" bIns="36576" anchor="t">
            <a:spAutoFit/>
          </a:bodyPr>
          <a:lstStyle/>
          <a:p>
            <a:pPr algn="l"/>
            <a:r>
              <a:rPr sz="890" b="1" i="0">
                <a:solidFill>
                  <a:srgbClr val="3155F6"/>
                </a:solidFill>
                <a:latin typeface="Aptos"/>
              </a:rPr>
              <a:t>Measure retrieval + faithfulness</a:t>
            </a:r>
          </a:p>
        </p:txBody>
      </p:sp>
      <p:sp>
        <p:nvSpPr>
          <p:cNvPr id="52" name="Rectangle 51"/>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54" name="TextBox 53"/>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21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789920" cy="438912"/>
          </a:xfrm>
          <a:prstGeom prst="rect">
            <a:avLst/>
          </a:prstGeom>
          <a:noFill/>
        </p:spPr>
        <p:txBody>
          <a:bodyPr wrap="square" lIns="36576" tIns="36576" rIns="36576" bIns="36576" anchor="t">
            <a:spAutoFit/>
          </a:bodyPr>
          <a:lstStyle/>
          <a:p>
            <a:pPr algn="l"/>
            <a:r>
              <a:rPr sz="2200" b="1" i="0">
                <a:solidFill>
                  <a:srgbClr val="111827"/>
                </a:solidFill>
                <a:latin typeface="Aptos Display"/>
              </a:rPr>
              <a:t>Week 2I. Research paper &amp; web references</a:t>
            </a:r>
          </a:p>
        </p:txBody>
      </p:sp>
      <p:sp>
        <p:nvSpPr>
          <p:cNvPr id="3" name="TextBox 2"/>
          <p:cNvSpPr txBox="1"/>
          <p:nvPr/>
        </p:nvSpPr>
        <p:spPr>
          <a:xfrm>
            <a:off x="612648" y="841248"/>
            <a:ext cx="10698480" cy="292608"/>
          </a:xfrm>
          <a:prstGeom prst="rect">
            <a:avLst/>
          </a:prstGeom>
          <a:noFill/>
        </p:spPr>
        <p:txBody>
          <a:bodyPr wrap="square" lIns="36576" tIns="36576" rIns="36576" bIns="36576" anchor="t">
            <a:spAutoFit/>
          </a:bodyPr>
          <a:lstStyle/>
          <a:p>
            <a:pPr algn="l"/>
            <a:r>
              <a:rPr sz="950" b="0" i="0">
                <a:solidFill>
                  <a:srgbClr val="667085"/>
                </a:solidFill>
                <a:latin typeface="Aptos"/>
              </a:rPr>
              <a:t>The links below are the sources used for the literature survey and can be opened from the presentation.</a:t>
            </a:r>
          </a:p>
        </p:txBody>
      </p:sp>
      <p:sp>
        <p:nvSpPr>
          <p:cNvPr id="4" name="Rounded Rectangle 3"/>
          <p:cNvSpPr/>
          <p:nvPr/>
        </p:nvSpPr>
        <p:spPr>
          <a:xfrm>
            <a:off x="621792" y="129844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8952" y="140817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1. Lewis et al. (2020)</a:t>
            </a:r>
          </a:p>
        </p:txBody>
      </p:sp>
      <p:sp>
        <p:nvSpPr>
          <p:cNvPr id="6" name="TextBox 5"/>
          <p:cNvSpPr txBox="1"/>
          <p:nvPr/>
        </p:nvSpPr>
        <p:spPr>
          <a:xfrm>
            <a:off x="2176272" y="1380744"/>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Retrieval-Augmented Generation for Knowledge-Intensive NLP Tasks</a:t>
            </a:r>
          </a:p>
        </p:txBody>
      </p:sp>
      <p:sp>
        <p:nvSpPr>
          <p:cNvPr id="7" name="TextBox 6"/>
          <p:cNvSpPr txBox="1"/>
          <p:nvPr/>
        </p:nvSpPr>
        <p:spPr>
          <a:xfrm>
            <a:off x="2176272" y="1737360"/>
            <a:ext cx="3474720" cy="182880"/>
          </a:xfrm>
          <a:prstGeom prst="rect">
            <a:avLst/>
          </a:prstGeom>
          <a:noFill/>
        </p:spPr>
        <p:txBody>
          <a:bodyPr wrap="none">
            <a:spAutoFit/>
          </a:bodyPr>
          <a:lstStyle/>
          <a:p>
            <a:r>
              <a:rPr sz="680" dirty="0">
                <a:solidFill>
                  <a:srgbClr val="3155F6"/>
                </a:solidFill>
                <a:latin typeface="Aptos"/>
                <a:hlinkClick r:id="rId2"/>
              </a:rPr>
              <a:t>arxiv.org/abs/2005.11401</a:t>
            </a:r>
          </a:p>
        </p:txBody>
      </p:sp>
      <p:sp>
        <p:nvSpPr>
          <p:cNvPr id="8" name="Rounded Rectangle 7"/>
          <p:cNvSpPr/>
          <p:nvPr/>
        </p:nvSpPr>
        <p:spPr>
          <a:xfrm>
            <a:off x="621792" y="225856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236829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2. Guu et al. (2020)</a:t>
            </a:r>
          </a:p>
        </p:txBody>
      </p:sp>
      <p:sp>
        <p:nvSpPr>
          <p:cNvPr id="10" name="TextBox 9"/>
          <p:cNvSpPr txBox="1"/>
          <p:nvPr/>
        </p:nvSpPr>
        <p:spPr>
          <a:xfrm>
            <a:off x="2176272" y="2340863"/>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REALM: Retrieval-Augmented Language Model Pre-Training</a:t>
            </a:r>
          </a:p>
        </p:txBody>
      </p:sp>
      <p:sp>
        <p:nvSpPr>
          <p:cNvPr id="11" name="TextBox 10"/>
          <p:cNvSpPr txBox="1"/>
          <p:nvPr/>
        </p:nvSpPr>
        <p:spPr>
          <a:xfrm>
            <a:off x="2176272" y="2697479"/>
            <a:ext cx="3474720" cy="182880"/>
          </a:xfrm>
          <a:prstGeom prst="rect">
            <a:avLst/>
          </a:prstGeom>
          <a:noFill/>
        </p:spPr>
        <p:txBody>
          <a:bodyPr wrap="none">
            <a:spAutoFit/>
          </a:bodyPr>
          <a:lstStyle/>
          <a:p>
            <a:r>
              <a:rPr sz="680">
                <a:solidFill>
                  <a:srgbClr val="3155F6"/>
                </a:solidFill>
                <a:latin typeface="Aptos"/>
                <a:hlinkClick r:id="rId3"/>
              </a:rPr>
              <a:t>proceedings.mlr.press/v119/guu20a.html</a:t>
            </a:r>
          </a:p>
        </p:txBody>
      </p:sp>
      <p:sp>
        <p:nvSpPr>
          <p:cNvPr id="12" name="Rounded Rectangle 11"/>
          <p:cNvSpPr/>
          <p:nvPr/>
        </p:nvSpPr>
        <p:spPr>
          <a:xfrm>
            <a:off x="621792" y="321868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332841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3. Gao et al. (2023/24)</a:t>
            </a:r>
          </a:p>
        </p:txBody>
      </p:sp>
      <p:sp>
        <p:nvSpPr>
          <p:cNvPr id="14" name="TextBox 13"/>
          <p:cNvSpPr txBox="1"/>
          <p:nvPr/>
        </p:nvSpPr>
        <p:spPr>
          <a:xfrm>
            <a:off x="2176272" y="3300984"/>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Retrieval-Augmented Generation for Large Language Models: A Survey</a:t>
            </a:r>
          </a:p>
        </p:txBody>
      </p:sp>
      <p:sp>
        <p:nvSpPr>
          <p:cNvPr id="15" name="TextBox 14"/>
          <p:cNvSpPr txBox="1"/>
          <p:nvPr/>
        </p:nvSpPr>
        <p:spPr>
          <a:xfrm>
            <a:off x="2176272" y="3657600"/>
            <a:ext cx="3474720" cy="182880"/>
          </a:xfrm>
          <a:prstGeom prst="rect">
            <a:avLst/>
          </a:prstGeom>
          <a:noFill/>
        </p:spPr>
        <p:txBody>
          <a:bodyPr wrap="none">
            <a:spAutoFit/>
          </a:bodyPr>
          <a:lstStyle/>
          <a:p>
            <a:r>
              <a:rPr sz="680">
                <a:solidFill>
                  <a:srgbClr val="3155F6"/>
                </a:solidFill>
                <a:latin typeface="Aptos"/>
                <a:hlinkClick r:id="rId4"/>
              </a:rPr>
              <a:t>arxiv.org/abs/2312.10997</a:t>
            </a:r>
          </a:p>
        </p:txBody>
      </p:sp>
      <p:sp>
        <p:nvSpPr>
          <p:cNvPr id="16" name="Rounded Rectangle 15"/>
          <p:cNvSpPr/>
          <p:nvPr/>
        </p:nvSpPr>
        <p:spPr>
          <a:xfrm>
            <a:off x="621792" y="417880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428853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4. Liu et al. (2023/24)</a:t>
            </a:r>
          </a:p>
        </p:txBody>
      </p:sp>
      <p:sp>
        <p:nvSpPr>
          <p:cNvPr id="18" name="TextBox 17"/>
          <p:cNvSpPr txBox="1"/>
          <p:nvPr/>
        </p:nvSpPr>
        <p:spPr>
          <a:xfrm>
            <a:off x="2176272" y="4261104"/>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Lost in the Middle: How Language Models Use Long Contexts</a:t>
            </a:r>
          </a:p>
        </p:txBody>
      </p:sp>
      <p:sp>
        <p:nvSpPr>
          <p:cNvPr id="19" name="TextBox 18"/>
          <p:cNvSpPr txBox="1"/>
          <p:nvPr/>
        </p:nvSpPr>
        <p:spPr>
          <a:xfrm>
            <a:off x="2176272" y="4617720"/>
            <a:ext cx="3474720" cy="182880"/>
          </a:xfrm>
          <a:prstGeom prst="rect">
            <a:avLst/>
          </a:prstGeom>
          <a:noFill/>
        </p:spPr>
        <p:txBody>
          <a:bodyPr wrap="none">
            <a:spAutoFit/>
          </a:bodyPr>
          <a:lstStyle/>
          <a:p>
            <a:r>
              <a:rPr sz="680">
                <a:solidFill>
                  <a:srgbClr val="3155F6"/>
                </a:solidFill>
                <a:latin typeface="Aptos"/>
                <a:hlinkClick r:id="rId5"/>
              </a:rPr>
              <a:t>aclanthology.org/2024.tacl-1.9/</a:t>
            </a:r>
          </a:p>
        </p:txBody>
      </p:sp>
      <p:sp>
        <p:nvSpPr>
          <p:cNvPr id="20" name="Rounded Rectangle 19"/>
          <p:cNvSpPr/>
          <p:nvPr/>
        </p:nvSpPr>
        <p:spPr>
          <a:xfrm>
            <a:off x="621792" y="513892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524865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5. Asai et al. (2023)</a:t>
            </a:r>
          </a:p>
        </p:txBody>
      </p:sp>
      <p:sp>
        <p:nvSpPr>
          <p:cNvPr id="22" name="TextBox 21"/>
          <p:cNvSpPr txBox="1"/>
          <p:nvPr/>
        </p:nvSpPr>
        <p:spPr>
          <a:xfrm>
            <a:off x="2176272" y="5221224"/>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Self-RAG: Learning to Retrieve, Generate, and Critique through Self-Reflection</a:t>
            </a:r>
          </a:p>
        </p:txBody>
      </p:sp>
      <p:sp>
        <p:nvSpPr>
          <p:cNvPr id="23" name="TextBox 22"/>
          <p:cNvSpPr txBox="1"/>
          <p:nvPr/>
        </p:nvSpPr>
        <p:spPr>
          <a:xfrm>
            <a:off x="2176272" y="5577840"/>
            <a:ext cx="3474720" cy="182880"/>
          </a:xfrm>
          <a:prstGeom prst="rect">
            <a:avLst/>
          </a:prstGeom>
          <a:noFill/>
        </p:spPr>
        <p:txBody>
          <a:bodyPr wrap="none">
            <a:spAutoFit/>
          </a:bodyPr>
          <a:lstStyle/>
          <a:p>
            <a:r>
              <a:rPr sz="680">
                <a:solidFill>
                  <a:srgbClr val="3155F6"/>
                </a:solidFill>
                <a:latin typeface="Aptos"/>
                <a:hlinkClick r:id="rId6"/>
              </a:rPr>
              <a:t>arxiv.org/abs/2310.11511</a:t>
            </a:r>
          </a:p>
        </p:txBody>
      </p:sp>
      <p:sp>
        <p:nvSpPr>
          <p:cNvPr id="24" name="Rounded Rectangle 23"/>
          <p:cNvSpPr/>
          <p:nvPr/>
        </p:nvSpPr>
        <p:spPr>
          <a:xfrm>
            <a:off x="6245352" y="129844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82512" y="140817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6. Yan et al. (2024)</a:t>
            </a:r>
          </a:p>
        </p:txBody>
      </p:sp>
      <p:sp>
        <p:nvSpPr>
          <p:cNvPr id="26" name="TextBox 25"/>
          <p:cNvSpPr txBox="1"/>
          <p:nvPr/>
        </p:nvSpPr>
        <p:spPr>
          <a:xfrm>
            <a:off x="7799831" y="1380744"/>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Corrective Retrieval Augmented Generation</a:t>
            </a:r>
          </a:p>
        </p:txBody>
      </p:sp>
      <p:sp>
        <p:nvSpPr>
          <p:cNvPr id="27" name="TextBox 26"/>
          <p:cNvSpPr txBox="1"/>
          <p:nvPr/>
        </p:nvSpPr>
        <p:spPr>
          <a:xfrm>
            <a:off x="7799831" y="1737360"/>
            <a:ext cx="3474720" cy="182880"/>
          </a:xfrm>
          <a:prstGeom prst="rect">
            <a:avLst/>
          </a:prstGeom>
          <a:noFill/>
        </p:spPr>
        <p:txBody>
          <a:bodyPr wrap="none">
            <a:spAutoFit/>
          </a:bodyPr>
          <a:lstStyle/>
          <a:p>
            <a:r>
              <a:rPr sz="680">
                <a:solidFill>
                  <a:srgbClr val="3155F6"/>
                </a:solidFill>
                <a:latin typeface="Aptos"/>
                <a:hlinkClick r:id="rId7"/>
              </a:rPr>
              <a:t>arxiv.org/abs/2401.15884</a:t>
            </a:r>
          </a:p>
        </p:txBody>
      </p:sp>
      <p:sp>
        <p:nvSpPr>
          <p:cNvPr id="28" name="Rounded Rectangle 27"/>
          <p:cNvSpPr/>
          <p:nvPr/>
        </p:nvSpPr>
        <p:spPr>
          <a:xfrm>
            <a:off x="6245352" y="225856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36829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7. Es et al. (2023/24)</a:t>
            </a:r>
          </a:p>
        </p:txBody>
      </p:sp>
      <p:sp>
        <p:nvSpPr>
          <p:cNvPr id="30" name="TextBox 29"/>
          <p:cNvSpPr txBox="1"/>
          <p:nvPr/>
        </p:nvSpPr>
        <p:spPr>
          <a:xfrm>
            <a:off x="7799831" y="2340863"/>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RAGAS: Automated Evaluation of Retrieval Augmented Generation</a:t>
            </a:r>
          </a:p>
        </p:txBody>
      </p:sp>
      <p:sp>
        <p:nvSpPr>
          <p:cNvPr id="31" name="TextBox 30"/>
          <p:cNvSpPr txBox="1"/>
          <p:nvPr/>
        </p:nvSpPr>
        <p:spPr>
          <a:xfrm>
            <a:off x="7799831" y="2697479"/>
            <a:ext cx="3474720" cy="182880"/>
          </a:xfrm>
          <a:prstGeom prst="rect">
            <a:avLst/>
          </a:prstGeom>
          <a:noFill/>
        </p:spPr>
        <p:txBody>
          <a:bodyPr wrap="none">
            <a:spAutoFit/>
          </a:bodyPr>
          <a:lstStyle/>
          <a:p>
            <a:r>
              <a:rPr sz="680">
                <a:solidFill>
                  <a:srgbClr val="3155F6"/>
                </a:solidFill>
                <a:latin typeface="Aptos"/>
                <a:hlinkClick r:id="rId8"/>
              </a:rPr>
              <a:t>aclanthology.org/2024.eacl-demo.16/</a:t>
            </a:r>
          </a:p>
        </p:txBody>
      </p:sp>
      <p:sp>
        <p:nvSpPr>
          <p:cNvPr id="32" name="Rounded Rectangle 31"/>
          <p:cNvSpPr/>
          <p:nvPr/>
        </p:nvSpPr>
        <p:spPr>
          <a:xfrm>
            <a:off x="6245352" y="321868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82512" y="332841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8. Glean</a:t>
            </a:r>
          </a:p>
        </p:txBody>
      </p:sp>
      <p:sp>
        <p:nvSpPr>
          <p:cNvPr id="34" name="TextBox 33"/>
          <p:cNvSpPr txBox="1"/>
          <p:nvPr/>
        </p:nvSpPr>
        <p:spPr>
          <a:xfrm>
            <a:off x="7799831" y="3300984"/>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Enterprise Search</a:t>
            </a:r>
          </a:p>
        </p:txBody>
      </p:sp>
      <p:sp>
        <p:nvSpPr>
          <p:cNvPr id="35" name="TextBox 34"/>
          <p:cNvSpPr txBox="1"/>
          <p:nvPr/>
        </p:nvSpPr>
        <p:spPr>
          <a:xfrm>
            <a:off x="7799831" y="3657600"/>
            <a:ext cx="3474720" cy="182880"/>
          </a:xfrm>
          <a:prstGeom prst="rect">
            <a:avLst/>
          </a:prstGeom>
          <a:noFill/>
        </p:spPr>
        <p:txBody>
          <a:bodyPr wrap="none">
            <a:spAutoFit/>
          </a:bodyPr>
          <a:lstStyle/>
          <a:p>
            <a:r>
              <a:rPr sz="680">
                <a:solidFill>
                  <a:srgbClr val="3155F6"/>
                </a:solidFill>
                <a:latin typeface="Aptos"/>
                <a:hlinkClick r:id="rId9"/>
              </a:rPr>
              <a:t>www.glean.com/enterprise-search</a:t>
            </a:r>
          </a:p>
        </p:txBody>
      </p:sp>
      <p:sp>
        <p:nvSpPr>
          <p:cNvPr id="36" name="Rounded Rectangle 35"/>
          <p:cNvSpPr/>
          <p:nvPr/>
        </p:nvSpPr>
        <p:spPr>
          <a:xfrm>
            <a:off x="6245352" y="417880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82512" y="428853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9. Amazon Q Business</a:t>
            </a:r>
          </a:p>
        </p:txBody>
      </p:sp>
      <p:sp>
        <p:nvSpPr>
          <p:cNvPr id="38" name="TextBox 37"/>
          <p:cNvSpPr txBox="1"/>
          <p:nvPr/>
        </p:nvSpPr>
        <p:spPr>
          <a:xfrm>
            <a:off x="7799831" y="4261104"/>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Source attribution with citations</a:t>
            </a:r>
          </a:p>
        </p:txBody>
      </p:sp>
      <p:sp>
        <p:nvSpPr>
          <p:cNvPr id="39" name="TextBox 38"/>
          <p:cNvSpPr txBox="1"/>
          <p:nvPr/>
        </p:nvSpPr>
        <p:spPr>
          <a:xfrm>
            <a:off x="7799831" y="4617720"/>
            <a:ext cx="3474720" cy="182880"/>
          </a:xfrm>
          <a:prstGeom prst="rect">
            <a:avLst/>
          </a:prstGeom>
          <a:noFill/>
        </p:spPr>
        <p:txBody>
          <a:bodyPr wrap="none">
            <a:spAutoFit/>
          </a:bodyPr>
          <a:lstStyle/>
          <a:p>
            <a:r>
              <a:rPr sz="680">
                <a:solidFill>
                  <a:srgbClr val="3155F6"/>
                </a:solidFill>
                <a:latin typeface="Aptos"/>
                <a:hlinkClick r:id="rId10"/>
              </a:rPr>
              <a:t>docs.aws.amazon.com/amazonq/latest/qbusiness-ug/source-attribution-citations.html</a:t>
            </a:r>
          </a:p>
        </p:txBody>
      </p:sp>
      <p:sp>
        <p:nvSpPr>
          <p:cNvPr id="40" name="Rounded Rectangle 39"/>
          <p:cNvSpPr/>
          <p:nvPr/>
        </p:nvSpPr>
        <p:spPr>
          <a:xfrm>
            <a:off x="6245352" y="5138928"/>
            <a:ext cx="5257800" cy="786384"/>
          </a:xfrm>
          <a:prstGeom prst="roundRect">
            <a:avLst/>
          </a:prstGeom>
          <a:solidFill>
            <a:srgbClr val="FFFFFF"/>
          </a:solidFill>
          <a:ln w="10160">
            <a:solidFill>
              <a:srgbClr val="E5E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82512" y="5248656"/>
            <a:ext cx="1508760" cy="237744"/>
          </a:xfrm>
          <a:prstGeom prst="rect">
            <a:avLst/>
          </a:prstGeom>
          <a:noFill/>
        </p:spPr>
        <p:txBody>
          <a:bodyPr wrap="square" lIns="36576" tIns="36576" rIns="36576" bIns="36576" anchor="t">
            <a:spAutoFit/>
          </a:bodyPr>
          <a:lstStyle/>
          <a:p>
            <a:pPr algn="l"/>
            <a:r>
              <a:rPr sz="860" b="1" i="0">
                <a:solidFill>
                  <a:srgbClr val="3155F6"/>
                </a:solidFill>
                <a:latin typeface="Aptos"/>
              </a:rPr>
              <a:t>10. Atlassian Rovo</a:t>
            </a:r>
          </a:p>
        </p:txBody>
      </p:sp>
      <p:sp>
        <p:nvSpPr>
          <p:cNvPr id="42" name="TextBox 41"/>
          <p:cNvSpPr txBox="1"/>
          <p:nvPr/>
        </p:nvSpPr>
        <p:spPr>
          <a:xfrm>
            <a:off x="7799831" y="5221224"/>
            <a:ext cx="3456432" cy="329184"/>
          </a:xfrm>
          <a:prstGeom prst="rect">
            <a:avLst/>
          </a:prstGeom>
          <a:noFill/>
        </p:spPr>
        <p:txBody>
          <a:bodyPr wrap="square" lIns="36576" tIns="36576" rIns="36576" bIns="36576" anchor="t">
            <a:spAutoFit/>
          </a:bodyPr>
          <a:lstStyle/>
          <a:p>
            <a:pPr algn="l"/>
            <a:r>
              <a:rPr sz="900" b="1" i="0">
                <a:solidFill>
                  <a:srgbClr val="111827"/>
                </a:solidFill>
                <a:latin typeface="Aptos"/>
              </a:rPr>
              <a:t>Search and permissions</a:t>
            </a:r>
          </a:p>
        </p:txBody>
      </p:sp>
      <p:sp>
        <p:nvSpPr>
          <p:cNvPr id="43" name="TextBox 42"/>
          <p:cNvSpPr txBox="1"/>
          <p:nvPr/>
        </p:nvSpPr>
        <p:spPr>
          <a:xfrm>
            <a:off x="7799831" y="5577840"/>
            <a:ext cx="3474720" cy="182880"/>
          </a:xfrm>
          <a:prstGeom prst="rect">
            <a:avLst/>
          </a:prstGeom>
          <a:noFill/>
        </p:spPr>
        <p:txBody>
          <a:bodyPr wrap="none">
            <a:spAutoFit/>
          </a:bodyPr>
          <a:lstStyle/>
          <a:p>
            <a:r>
              <a:rPr sz="680">
                <a:solidFill>
                  <a:srgbClr val="3155F6"/>
                </a:solidFill>
                <a:latin typeface="Aptos"/>
                <a:hlinkClick r:id="rId11"/>
              </a:rPr>
              <a:t>support.atlassian.com/rovo/docs/search/</a:t>
            </a:r>
          </a:p>
        </p:txBody>
      </p:sp>
      <p:sp>
        <p:nvSpPr>
          <p:cNvPr id="44" name="Rectangle 43"/>
          <p:cNvSpPr/>
          <p:nvPr/>
        </p:nvSpPr>
        <p:spPr>
          <a:xfrm>
            <a:off x="0" y="6611112"/>
            <a:ext cx="12188952" cy="246888"/>
          </a:xfrm>
          <a:prstGeom prst="rect">
            <a:avLst/>
          </a:prstGeom>
          <a:solidFill>
            <a:srgbClr val="0C1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6624828"/>
            <a:ext cx="6400800" cy="164592"/>
          </a:xfrm>
          <a:prstGeom prst="rect">
            <a:avLst/>
          </a:prstGeom>
          <a:noFill/>
        </p:spPr>
        <p:txBody>
          <a:bodyPr wrap="square" lIns="36576" tIns="36576" rIns="36576" bIns="36576" anchor="t">
            <a:spAutoFit/>
          </a:bodyPr>
          <a:lstStyle/>
          <a:p>
            <a:pPr algn="l"/>
            <a:r>
              <a:rPr sz="720" b="0" i="0">
                <a:solidFill>
                  <a:srgbClr val="FFFFFF"/>
                </a:solidFill>
                <a:latin typeface="Aptos"/>
              </a:rPr>
              <a:t>AI Enterprise Knowledge Assistant • Project Proposal</a:t>
            </a:r>
          </a:p>
        </p:txBody>
      </p:sp>
      <p:sp>
        <p:nvSpPr>
          <p:cNvPr id="46" name="TextBox 45"/>
          <p:cNvSpPr txBox="1"/>
          <p:nvPr/>
        </p:nvSpPr>
        <p:spPr>
          <a:xfrm>
            <a:off x="11475720" y="6624828"/>
            <a:ext cx="329184" cy="164592"/>
          </a:xfrm>
          <a:prstGeom prst="rect">
            <a:avLst/>
          </a:prstGeom>
          <a:noFill/>
        </p:spPr>
        <p:txBody>
          <a:bodyPr wrap="square" lIns="36576" tIns="36576" rIns="36576" bIns="36576" anchor="t">
            <a:spAutoFit/>
          </a:bodyPr>
          <a:lstStyle/>
          <a:p>
            <a:pPr algn="r"/>
            <a:r>
              <a:rPr sz="720" b="0" i="0">
                <a:solidFill>
                  <a:srgbClr val="FFFFFF"/>
                </a:solidFill>
                <a:latin typeface="Aptos"/>
              </a:rPr>
              <a:t>22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3394</Words>
  <Application>Microsoft Office PowerPoint</Application>
  <PresentationFormat>Widescreen</PresentationFormat>
  <Paragraphs>592</Paragraphs>
  <Slides>22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Enterprise Knowledge Assistant</dc:title>
  <dc:subject>AI Enterprise Knowledge Assistant project proposal</dc:subject>
  <dc:creator>OpenAI</dc:creator>
  <cp:lastModifiedBy>Piyush singh sisodia</cp:lastModifiedBy>
  <cp:revision>2</cp:revision>
  <dcterms:created xsi:type="dcterms:W3CDTF">2026-09-17T16:36:06Z</dcterms:created>
  <dcterms:modified xsi:type="dcterms:W3CDTF">2026-09-17T17:23:20Z</dcterms:modified>
</cp:coreProperties>
</file>